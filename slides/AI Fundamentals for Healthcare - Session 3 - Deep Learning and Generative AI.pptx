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98"/>
  </p:notesMasterIdLst>
  <p:sldIdLst>
    <p:sldId id="264" r:id="rId2"/>
    <p:sldId id="924" r:id="rId103"/>
    <p:sldId id="283" r:id="rId95"/>
    <p:sldId id="309" r:id="rId69"/>
    <p:sldId id="305" r:id="rId72"/>
    <p:sldId id="923" r:id="rId73"/>
    <p:sldId id="306" r:id="rId74"/>
    <p:sldId id="307" r:id="rId75"/>
    <p:sldId id="303" r:id="rId76"/>
    <p:sldId id="300" r:id="rId79"/>
    <p:sldId id="302" r:id="rId77"/>
    <p:sldId id="298" r:id="rId80"/>
    <p:sldId id="297" r:id="rId81"/>
    <p:sldId id="296" r:id="rId83"/>
    <p:sldId id="295" r:id="rId84"/>
    <p:sldId id="294" r:id="rId85"/>
    <p:sldId id="292" r:id="rId86"/>
    <p:sldId id="290" r:id="rId87"/>
    <p:sldId id="286" r:id="rId92"/>
    <p:sldId id="925" r:id="rId104"/>
    <p:sldId id="926" r:id="rId105"/>
    <p:sldId id="284" r:id="rId93"/>
    <p:sldId id="301" r:id="rId78"/>
    <p:sldId id="319" r:id="rId54"/>
    <p:sldId id="318" r:id="rId55"/>
    <p:sldId id="317" r:id="rId56"/>
    <p:sldId id="315" r:id="rId57"/>
    <p:sldId id="311" r:id="rId67"/>
    <p:sldId id="304" r:id="rId70"/>
    <p:sldId id="308" r:id="rId71"/>
    <p:sldId id="312" r:id="rId66"/>
    <p:sldId id="927" r:id="rId106"/>
    <p:sldId id="928" r:id="rId107"/>
    <p:sldId id="929" r:id="rId108"/>
    <p:sldId id="285" r:id="rId94"/>
    <p:sldId id="930" r:id="rId109"/>
    <p:sldId id="920"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B4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88844"/>
  </p:normalViewPr>
  <p:slideViewPr>
    <p:cSldViewPr snapToGrid="0">
      <p:cViewPr varScale="1">
        <p:scale>
          <a:sx n="113" d="100"/>
          <a:sy n="113" d="100"/>
        </p:scale>
        <p:origin x="952" y="176"/>
      </p:cViewPr>
      <p:guideLst>
        <p:guide orient="horz" pos="2160"/>
        <p:guide pos="3840"/>
      </p:guideLst>
    </p:cSldViewPr>
  </p:slideViewPr>
  <p:outlineViewPr>
    <p:cViewPr>
      <p:scale>
        <a:sx n="33" d="100"/>
        <a:sy n="33" d="100"/>
      </p:scale>
      <p:origin x="0" y="-728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5" Type="http://schemas.openxmlformats.org/officeDocument/2006/relationships/slide" Target="slides/slide37.xml"/><Relationship Id="rId54" Type="http://schemas.openxmlformats.org/officeDocument/2006/relationships/slide" Target="slides/slide24.xml"/><Relationship Id="rId55" Type="http://schemas.openxmlformats.org/officeDocument/2006/relationships/slide" Target="slides/slide25.xml"/><Relationship Id="rId56" Type="http://schemas.openxmlformats.org/officeDocument/2006/relationships/slide" Target="slides/slide26.xml"/><Relationship Id="rId57" Type="http://schemas.openxmlformats.org/officeDocument/2006/relationships/slide" Target="slides/slide27.xml"/><Relationship Id="rId66" Type="http://schemas.openxmlformats.org/officeDocument/2006/relationships/slide" Target="slides/slide31.xml"/><Relationship Id="rId67" Type="http://schemas.openxmlformats.org/officeDocument/2006/relationships/slide" Target="slides/slide28.xml"/><Relationship Id="rId69" Type="http://schemas.openxmlformats.org/officeDocument/2006/relationships/slide" Target="slides/slide4.xml"/><Relationship Id="rId70" Type="http://schemas.openxmlformats.org/officeDocument/2006/relationships/slide" Target="slides/slide29.xml"/><Relationship Id="rId71" Type="http://schemas.openxmlformats.org/officeDocument/2006/relationships/slide" Target="slides/slide30.xml"/><Relationship Id="rId72" Type="http://schemas.openxmlformats.org/officeDocument/2006/relationships/slide" Target="slides/slide5.xml"/><Relationship Id="rId73" Type="http://schemas.openxmlformats.org/officeDocument/2006/relationships/slide" Target="slides/slide6.xml"/><Relationship Id="rId74" Type="http://schemas.openxmlformats.org/officeDocument/2006/relationships/slide" Target="slides/slide7.xml"/><Relationship Id="rId75" Type="http://schemas.openxmlformats.org/officeDocument/2006/relationships/slide" Target="slides/slide8.xml"/><Relationship Id="rId76" Type="http://schemas.openxmlformats.org/officeDocument/2006/relationships/slide" Target="slides/slide9.xml"/><Relationship Id="rId77" Type="http://schemas.openxmlformats.org/officeDocument/2006/relationships/slide" Target="slides/slide11.xml"/><Relationship Id="rId78" Type="http://schemas.openxmlformats.org/officeDocument/2006/relationships/slide" Target="slides/slide23.xml"/><Relationship Id="rId79" Type="http://schemas.openxmlformats.org/officeDocument/2006/relationships/slide" Target="slides/slide10.xml"/><Relationship Id="rId80" Type="http://schemas.openxmlformats.org/officeDocument/2006/relationships/slide" Target="slides/slide12.xml"/><Relationship Id="rId81" Type="http://schemas.openxmlformats.org/officeDocument/2006/relationships/slide" Target="slides/slide13.xml"/><Relationship Id="rId83" Type="http://schemas.openxmlformats.org/officeDocument/2006/relationships/slide" Target="slides/slide14.xml"/><Relationship Id="rId84" Type="http://schemas.openxmlformats.org/officeDocument/2006/relationships/slide" Target="slides/slide15.xml"/><Relationship Id="rId85" Type="http://schemas.openxmlformats.org/officeDocument/2006/relationships/slide" Target="slides/slide16.xml"/><Relationship Id="rId86" Type="http://schemas.openxmlformats.org/officeDocument/2006/relationships/slide" Target="slides/slide17.xml"/><Relationship Id="rId87" Type="http://schemas.openxmlformats.org/officeDocument/2006/relationships/slide" Target="slides/slide18.xml"/><Relationship Id="rId92" Type="http://schemas.openxmlformats.org/officeDocument/2006/relationships/slide" Target="slides/slide19.xml"/><Relationship Id="rId93" Type="http://schemas.openxmlformats.org/officeDocument/2006/relationships/slide" Target="slides/slide22.xml"/><Relationship Id="rId94" Type="http://schemas.openxmlformats.org/officeDocument/2006/relationships/slide" Target="slides/slide35.xml"/><Relationship Id="rId95" Type="http://schemas.openxmlformats.org/officeDocument/2006/relationships/slide" Target="slides/slide3.xml"/><Relationship Id="rId98" Type="http://schemas.openxmlformats.org/officeDocument/2006/relationships/notesMaster" Target="notesMasters/notesMaster1.xml"/><Relationship Id="rId99" Type="http://schemas.openxmlformats.org/officeDocument/2006/relationships/presProps" Target="presProps.xml"/><Relationship Id="rId100" Type="http://schemas.openxmlformats.org/officeDocument/2006/relationships/viewProps" Target="viewProps.xml"/><Relationship Id="rId101" Type="http://schemas.openxmlformats.org/officeDocument/2006/relationships/theme" Target="theme/theme1.xml"/><Relationship Id="rId102" Type="http://schemas.openxmlformats.org/officeDocument/2006/relationships/tableStyles" Target="tableStyles.xml"/><Relationship Id="rId103" Type="http://schemas.openxmlformats.org/officeDocument/2006/relationships/slide" Target="slides/slide2.xml"/><Relationship Id="rId104" Type="http://schemas.openxmlformats.org/officeDocument/2006/relationships/slide" Target="slides/slide20.xml"/><Relationship Id="rId105" Type="http://schemas.openxmlformats.org/officeDocument/2006/relationships/slide" Target="slides/slide21.xml"/><Relationship Id="rId106" Type="http://schemas.openxmlformats.org/officeDocument/2006/relationships/slide" Target="slides/slide32.xml"/><Relationship Id="rId107" Type="http://schemas.openxmlformats.org/officeDocument/2006/relationships/slide" Target="slides/slide33.xml"/><Relationship Id="rId108" Type="http://schemas.openxmlformats.org/officeDocument/2006/relationships/slide" Target="slides/slide34.xml"/><Relationship Id="rId10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F7983-855A-2240-A9BF-6235A2B9A807}" type="datetimeFigureOut">
              <a:rPr lang="en-US" smtClean="0"/>
              <a:t>3/11/26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578B63-BA6E-F541-BDDE-F9290717A250}" type="slidenum">
              <a:rPr lang="en-US" smtClean="0"/>
              <a:t>‹#›</a:t>
            </a:fld>
            <a:endParaRPr lang="en-US"/>
          </a:p>
        </p:txBody>
      </p:sp>
    </p:spTree>
    <p:extLst>
      <p:ext uri="{BB962C8B-B14F-4D97-AF65-F5344CB8AC3E}">
        <p14:creationId xmlns:p14="http://schemas.microsoft.com/office/powerpoint/2010/main" val="3919137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578B63-BA6E-F541-BDDE-F9290717A250}" type="slidenum">
              <a:rPr lang="en-US" smtClean="0"/>
              <a:t>1</a:t>
            </a:fld>
            <a:endParaRPr lang="en-US"/>
          </a:p>
        </p:txBody>
      </p:sp>
    </p:spTree>
    <p:extLst>
      <p:ext uri="{BB962C8B-B14F-4D97-AF65-F5344CB8AC3E}">
        <p14:creationId xmlns:p14="http://schemas.microsoft.com/office/powerpoint/2010/main" val="3109985573"/>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this as something to take away rather than something to read aloud. Walk the two column headings and stop.</a:t>
            </a:r>
          </a:p>
          <a:p/>
          <a:p>
            <a:r>
              <a:t>The item people skip is the last one on the right. Deciding regulatory status late is expensive.</a:t>
            </a:r>
          </a:p>
          <a:p/>
          <a:p>
            <a:r>
              <a:t>About 3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Clinical audiences will have lived this. Ask how many alerts they dismissed on their last shift without reading them. The answer makes the argument for you.</a:t>
            </a:r>
          </a:p>
          <a:p/>
          <a:p>
            <a:r>
              <a:t>Both failure modes are design problems. Resist any framing that blames users.</a:t>
            </a:r>
          </a:p>
          <a:p/>
          <a:p>
            <a:r>
              <a:t>About 6 minutes including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no more. The purpose is to orient anyone who missed the previous session, not to re-teach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Audiences arrive with wildly different assumptions about this, from 'it will replace radiologists' to 'it is a toy'. The two columns are there to reset both.</a:t>
            </a:r>
          </a:p>
          <a:p/>
          <a:p>
            <a:r>
              <a:t>Ambient documentation is the example most likely to be in your own organisation already. Ask whether anyone is using one.</a:t>
            </a:r>
          </a:p>
          <a:p/>
          <a:p>
            <a:r>
              <a:t>About 5 minutes.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analytical payoff of the previous slide. The distinction is worth stating as a rule they can apply to any proposal that crosses their desk.</a:t>
            </a:r>
          </a:p>
          <a:p/>
          <a:p>
            <a:r>
              <a:t>About 3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factual and do not give regulatory advice. The goal is that nobody in the room is surprised later to learn their project may be building a medical device.</a:t>
            </a:r>
          </a:p>
          <a:p/>
          <a:p>
            <a:r>
              <a:t>The locked versus continuously learning distinction is the one people have usually never considered, and it has real design consequences.</a:t>
            </a:r>
          </a:p>
          <a:p/>
          <a:p>
            <a:r>
              <a:t>About 5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652F5-82A0-B3D7-96DB-E406DF07BC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5F97D-DFD1-D733-9993-F20B305CA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4769D-2519-8135-7DF8-99C51BCDF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61BE2D-D34C-15A4-67E3-56E0332D850D}"/>
              </a:ext>
            </a:extLst>
          </p:cNvPr>
          <p:cNvSpPr>
            <a:spLocks noGrp="1"/>
          </p:cNvSpPr>
          <p:nvPr>
            <p:ph type="sldNum" sz="quarter" idx="5"/>
          </p:nvPr>
        </p:nvSpPr>
        <p:spPr/>
        <p:txBody>
          <a:bodyPr/>
          <a:lstStyle/>
          <a:p>
            <a:fld id="{0F578B63-BA6E-F541-BDDE-F9290717A250}" type="slidenum">
              <a:rPr lang="en-US" smtClean="0"/>
              <a:t>82</a:t>
            </a:fld>
            <a:endParaRPr lang="en-US"/>
          </a:p>
        </p:txBody>
      </p:sp>
    </p:spTree>
    <p:extLst>
      <p:ext uri="{BB962C8B-B14F-4D97-AF65-F5344CB8AC3E}">
        <p14:creationId xmlns:p14="http://schemas.microsoft.com/office/powerpoint/2010/main" val="1208570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E687C-36CF-AD6B-75A2-920E9F094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02F7BB-6BB3-8D70-DCEE-F235393103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248E4-9B75-FD7C-6E0A-4F35A390C5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B6748C-11E8-E848-FB3A-C14D04B14E8E}"/>
              </a:ext>
            </a:extLst>
          </p:cNvPr>
          <p:cNvSpPr>
            <a:spLocks noGrp="1"/>
          </p:cNvSpPr>
          <p:nvPr>
            <p:ph type="sldNum" sz="quarter" idx="5"/>
          </p:nvPr>
        </p:nvSpPr>
        <p:spPr/>
        <p:txBody>
          <a:bodyPr/>
          <a:lstStyle/>
          <a:p>
            <a:fld id="{0F578B63-BA6E-F541-BDDE-F9290717A250}" type="slidenum">
              <a:rPr lang="en-US" smtClean="0"/>
              <a:t>84</a:t>
            </a:fld>
            <a:endParaRPr lang="en-US"/>
          </a:p>
        </p:txBody>
      </p:sp>
    </p:spTree>
    <p:extLst>
      <p:ext uri="{BB962C8B-B14F-4D97-AF65-F5344CB8AC3E}">
        <p14:creationId xmlns:p14="http://schemas.microsoft.com/office/powerpoint/2010/main" val="246377611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last line and let it sit. The hardest part is rarely the model.</a:t>
            </a:r>
          </a:p>
          <a:p/>
          <a:p>
            <a:r>
              <a:t>Point at the notebooks concretely, and name one that suits this particular audience.</a:t>
            </a:r>
          </a:p>
          <a:p/>
          <a:p>
            <a:r>
              <a:t>About 3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dirty="0"/>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b="0" i="0">
                <a:solidFill>
                  <a:schemeClr val="tx1">
                    <a:lumMod val="50000"/>
                    <a:lumOff val="50000"/>
                  </a:schemeClr>
                </a:solidFill>
                <a:latin typeface="Poppins" pitchFamily="2" charset="77"/>
              </a:defRPr>
            </a:lvl1pPr>
          </a:lstStyle>
          <a:p>
            <a:fld id="{5586B75A-687E-405C-8A0B-8D00578BA2C3}" type="datetimeFigureOut">
              <a:rPr lang="en-US" smtClean="0"/>
              <a:pPr/>
              <a:t>3/11/26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b="0" i="0">
                <a:solidFill>
                  <a:schemeClr val="tx1">
                    <a:lumMod val="50000"/>
                    <a:lumOff val="50000"/>
                  </a:schemeClr>
                </a:solidFill>
                <a:latin typeface="Poppins" pitchFamily="2" charset="77"/>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0" i="0">
                <a:solidFill>
                  <a:schemeClr val="accent1"/>
                </a:solidFill>
                <a:latin typeface="Poppins" pitchFamily="2" charset="77"/>
              </a:defRPr>
            </a:lvl1pPr>
          </a:lstStyle>
          <a:p>
            <a:fld id="{4FAB73BC-B049-4115-A692-8D63A059BFB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b="0" i="0" kern="1200" spc="-60" baseline="0">
          <a:solidFill>
            <a:srgbClr val="FFFFFF"/>
          </a:solidFill>
          <a:latin typeface="Poppins" pitchFamily="2" charset="77"/>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b="0" i="0" kern="1200">
          <a:solidFill>
            <a:schemeClr val="tx1">
              <a:lumMod val="65000"/>
              <a:lumOff val="35000"/>
            </a:schemeClr>
          </a:solidFill>
          <a:latin typeface="Poppins" pitchFamily="2" charset="77"/>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b="0" i="0" kern="1200">
          <a:solidFill>
            <a:schemeClr val="tx1">
              <a:lumMod val="65000"/>
              <a:lumOff val="35000"/>
            </a:schemeClr>
          </a:solidFill>
          <a:latin typeface="Poppins" pitchFamily="2" charset="77"/>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b="0" i="0" kern="1200">
          <a:solidFill>
            <a:schemeClr val="tx1">
              <a:lumMod val="65000"/>
              <a:lumOff val="35000"/>
            </a:schemeClr>
          </a:solidFill>
          <a:latin typeface="Poppins" pitchFamily="2" charset="77"/>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b="0" i="0" kern="1200">
          <a:solidFill>
            <a:schemeClr val="tx1">
              <a:lumMod val="65000"/>
              <a:lumOff val="35000"/>
            </a:schemeClr>
          </a:solidFill>
          <a:latin typeface="Poppins" pitchFamily="2" charset="77"/>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b="0" i="0" kern="1200">
          <a:solidFill>
            <a:schemeClr val="tx1">
              <a:lumMod val="65000"/>
              <a:lumOff val="35000"/>
            </a:schemeClr>
          </a:solidFill>
          <a:latin typeface="Poppins" pitchFamily="2" charset="77"/>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hyperlink" Target="https://www.mathworks.com/videos/introduction-to-deep-learning-what-are-convolutional-neural-networks--1489512765771.html" TargetMode="Externa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papers.nips.cc/paper_files/paper/2017/file/3f5ee243547dee91fbd053c1c4a845aa-Paper.pdf" TargetMode="External"/><Relationship Id="rId4" Type="http://schemas.openxmlformats.org/officeDocument/2006/relationships/image" Target="../media/image58.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48.png"/><Relationship Id="rId4" Type="http://schemas.openxmlformats.org/officeDocument/2006/relationships/image" Target="../media/image6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2E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172200"/>
            <a:ext cx="12192000" cy="457200"/>
          </a:xfrm>
          <a:prstGeom prst="rect">
            <a:avLst/>
          </a:prstGeom>
          <a:solidFill>
            <a:srgbClr val="3B46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9997440" cy="2377440"/>
          </a:xfrm>
          <a:prstGeom prst="rect">
            <a:avLst/>
          </a:prstGeom>
          <a:noFill/>
        </p:spPr>
        <p:txBody>
          <a:bodyPr wrap="square" anchor="t">
            <a:spAutoFit/>
          </a:bodyPr>
          <a:lstStyle/>
          <a:p>
            <a:r>
              <a:rPr sz="4000" b="1">
                <a:solidFill>
                  <a:srgbClr val="FFFFFF"/>
                </a:solidFill>
                <a:latin typeface="Calibri Light"/>
              </a:rPr>
              <a:t>AI Fundamentals for Healthcare</a:t>
            </a:r>
          </a:p>
          <a:p>
            <a:pPr>
              <a:spcBef>
                <a:spcPts val="1400"/>
              </a:spcBef>
            </a:pPr>
            <a:r>
              <a:rPr sz="2100">
                <a:solidFill>
                  <a:srgbClr val="EDF1F2"/>
                </a:solidFill>
                <a:latin typeface="Calibri"/>
              </a:rPr>
              <a:t>Session 3 of 4 — Deep Learning and Generative AI</a:t>
            </a:r>
          </a:p>
        </p:txBody>
      </p:sp>
      <p:sp>
        <p:nvSpPr>
          <p:cNvPr id="5" name="TextBox 4"/>
          <p:cNvSpPr txBox="1"/>
          <p:nvPr/>
        </p:nvSpPr>
        <p:spPr>
          <a:xfrm>
            <a:off x="822960" y="6263640"/>
            <a:ext cx="9265920" cy="457200"/>
          </a:xfrm>
          <a:prstGeom prst="rect">
            <a:avLst/>
          </a:prstGeom>
          <a:noFill/>
        </p:spPr>
        <p:txBody>
          <a:bodyPr wrap="square">
            <a:spAutoFit/>
          </a:bodyPr>
          <a:lstStyle/>
          <a:p>
            <a:r>
              <a:rPr sz="1200">
                <a:solidFill>
                  <a:srgbClr val="EDF1F2"/>
                </a:solidFill>
                <a:latin typeface="Calibri"/>
              </a:rPr>
              <a:t>March 13, 2026</a:t>
            </a:r>
          </a:p>
          <a:p>
            <a:r>
              <a:rPr sz="1200">
                <a:solidFill>
                  <a:srgbClr val="EDF1F2"/>
                </a:solidFill>
                <a:latin typeface="Calibri"/>
              </a:rPr>
              <a:t>Vancouver Marriott Pinnacle Downtown Hotel</a:t>
            </a:r>
          </a:p>
        </p:txBody>
      </p:sp>
      <p:sp>
        <p:nvSpPr>
          <p:cNvPr id="6" name="TextBox 5"/>
          <p:cNvSpPr txBox="1"/>
          <p:nvPr/>
        </p:nvSpPr>
        <p:spPr>
          <a:xfrm>
            <a:off x="9814560" y="6263640"/>
            <a:ext cx="1828800" cy="365760"/>
          </a:xfrm>
          <a:prstGeom prst="rect">
            <a:avLst/>
          </a:prstGeom>
          <a:noFill/>
        </p:spPr>
        <p:txBody>
          <a:bodyPr wrap="none">
            <a:spAutoFit/>
          </a:bodyPr>
          <a:lstStyle/>
          <a:p>
            <a:pPr algn="r"/>
            <a:r>
              <a:rPr sz="1200" b="1">
                <a:solidFill>
                  <a:srgbClr val="FFFFFF"/>
                </a:solidFill>
                <a:latin typeface="Calibri"/>
              </a:rPr>
              <a:t>cair.ca</a:t>
            </a:r>
          </a:p>
        </p:txBody>
      </p:sp>
    </p:spTree>
    <p:extLst>
      <p:ext uri="{BB962C8B-B14F-4D97-AF65-F5344CB8AC3E}">
        <p14:creationId xmlns:p14="http://schemas.microsoft.com/office/powerpoint/2010/main" val="191799718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We Got To</a:t>
            </a:r>
          </a:p>
        </p:txBody>
      </p:sp>
      <p:sp>
        <p:nvSpPr>
          <p:cNvPr id="3" name="Content Placeholder 2"/>
          <p:cNvSpPr>
            <a:spLocks noGrp="1"/>
          </p:cNvSpPr>
          <p:nvPr>
            <p:ph idx="1"/>
          </p:nvPr>
        </p:nvSpPr>
        <p:spPr/>
        <p:txBody>
          <a:bodyPr/>
          <a:lstStyle/>
          <a:p>
            <a:pPr/>
            <a:r>
              <a:t>Session 1: what a model is, and how training works.</a:t>
            </a:r>
          </a:p>
          <a:p>
            <a:pPr/>
            <a:r>
              <a:t>Session 2: the classical model families, the data they need, and how to judge them.</a:t>
            </a:r>
          </a:p>
          <a:p>
            <a:pPr/>
          </a:p>
          <a:p>
            <a:pPr/>
            <a:r>
              <a:t>Today:</a:t>
            </a:r>
          </a:p>
          <a:p>
            <a:pPr lvl="1"/>
            <a:r>
              <a:t>Deep learning, and why it changed what is possible with images, signals and text</a:t>
            </a:r>
          </a:p>
          <a:p>
            <a:pPr lvl="1"/>
            <a:r>
              <a:t>Large language models, what they do and what they cannot do</a:t>
            </a:r>
          </a:p>
          <a:p>
            <a:pPr lvl="1"/>
            <a:r>
              <a:t>What it takes to put any of this into clinical practice without causing harm</a:t>
            </a:r>
          </a:p>
          <a:p>
            <a:pPr/>
          </a:p>
          <a:p>
            <a:pPr/>
            <a:r>
              <a:t>The last part is the shortest in slides and the longest in calendar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EA20C-EED0-A933-15A5-78BFD8D38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01C31D-4DC6-C0CB-EA19-2FE048A587B7}"/>
              </a:ext>
            </a:extLst>
          </p:cNvPr>
          <p:cNvSpPr>
            <a:spLocks noGrp="1"/>
          </p:cNvSpPr>
          <p:nvPr>
            <p:ph type="title"/>
          </p:nvPr>
        </p:nvSpPr>
        <p:spPr/>
        <p:txBody>
          <a:bodyPr>
            <a:normAutofit/>
          </a:bodyPr>
          <a:lstStyle/>
          <a:p>
            <a:r>
              <a:rPr lang="en-CA" sz="3400" b="1" dirty="0">
                <a:cs typeface="Poppins" pitchFamily="2" charset="77"/>
              </a:rPr>
              <a:t>Comparison of Classical Machine Learning and Deep Learning</a:t>
            </a:r>
            <a:endParaRPr lang="en-US" sz="3400" b="1" dirty="0">
              <a:cs typeface="Poppins" pitchFamily="2" charset="77"/>
            </a:endParaRPr>
          </a:p>
        </p:txBody>
      </p:sp>
      <p:sp>
        <p:nvSpPr>
          <p:cNvPr id="3" name="Text Placeholder 2">
            <a:extLst>
              <a:ext uri="{FF2B5EF4-FFF2-40B4-BE49-F238E27FC236}">
                <a16:creationId xmlns:a16="http://schemas.microsoft.com/office/drawing/2014/main" id="{45B49D94-296D-7C0C-FCF5-9C68BC6E4ED9}"/>
              </a:ext>
            </a:extLst>
          </p:cNvPr>
          <p:cNvSpPr>
            <a:spLocks noGrp="1"/>
          </p:cNvSpPr>
          <p:nvPr>
            <p:ph type="body" idx="1"/>
          </p:nvPr>
        </p:nvSpPr>
        <p:spPr>
          <a:xfrm>
            <a:off x="3867912" y="719977"/>
            <a:ext cx="3474720" cy="807720"/>
          </a:xfrm>
        </p:spPr>
        <p:txBody>
          <a:bodyPr/>
          <a:lstStyle/>
          <a:p>
            <a:r>
              <a:rPr lang="en-CA" dirty="0">
                <a:solidFill>
                  <a:schemeClr val="accent2"/>
                </a:solidFill>
              </a:rPr>
              <a:t>Classical Machine Learning</a:t>
            </a:r>
            <a:endParaRPr lang="en-US" dirty="0">
              <a:solidFill>
                <a:schemeClr val="accent2"/>
              </a:solidFill>
            </a:endParaRPr>
          </a:p>
        </p:txBody>
      </p:sp>
      <p:sp>
        <p:nvSpPr>
          <p:cNvPr id="4" name="Content Placeholder 3">
            <a:extLst>
              <a:ext uri="{FF2B5EF4-FFF2-40B4-BE49-F238E27FC236}">
                <a16:creationId xmlns:a16="http://schemas.microsoft.com/office/drawing/2014/main" id="{B8B90FD4-D011-72C6-D8F6-199292F5A52F}"/>
              </a:ext>
            </a:extLst>
          </p:cNvPr>
          <p:cNvSpPr>
            <a:spLocks noGrp="1"/>
          </p:cNvSpPr>
          <p:nvPr>
            <p:ph sz="half" idx="2"/>
          </p:nvPr>
        </p:nvSpPr>
        <p:spPr>
          <a:xfrm>
            <a:off x="3867912" y="1488022"/>
            <a:ext cx="3474720" cy="4601183"/>
          </a:xfrm>
        </p:spPr>
        <p:txBody>
          <a:bodyPr>
            <a:normAutofit fontScale="62500" lnSpcReduction="20000"/>
          </a:bodyPr>
          <a:lstStyle/>
          <a:p>
            <a:pPr marL="457200">
              <a:lnSpc>
                <a:spcPct val="115000"/>
              </a:lnSpc>
              <a:spcAft>
                <a:spcPts val="800"/>
              </a:spcAft>
              <a:buNone/>
            </a:pPr>
            <a:r>
              <a:rPr lang="en-CA" b="1" kern="100" dirty="0">
                <a:ea typeface="Aptos" panose="020B0004020202020204" pitchFamily="34" charset="0"/>
                <a:cs typeface="Poppins" pitchFamily="2" charset="77"/>
              </a:rPr>
              <a:t>Readmission risk - Predicting 30-day readmission from admission vitals</a:t>
            </a:r>
            <a:r>
              <a:rPr lang="en-CA" kern="100" dirty="0">
                <a:ea typeface="Aptos" panose="020B0004020202020204" pitchFamily="34" charset="0"/>
                <a:cs typeface="Poppins" pitchFamily="2" charset="77"/>
              </a:rPr>
              <a:t/>
            </a:r>
          </a:p>
          <a:p>
            <a:pPr marL="457200">
              <a:lnSpc>
                <a:spcPct val="115000"/>
              </a:lnSpc>
              <a:spcAft>
                <a:spcPts val="800"/>
              </a:spcAft>
              <a:buNone/>
            </a:pPr>
            <a:r>
              <a:rPr lang="en-CA" b="1" kern="100" dirty="0">
                <a:ea typeface="Aptos" panose="020B0004020202020204" pitchFamily="34" charset="0"/>
                <a:cs typeface="Poppins" pitchFamily="2" charset="77"/>
              </a:rPr>
              <a:t>Length of stay prediction - Forecasting bed capacity and discharge timing</a:t>
            </a:r>
            <a:r>
              <a:rPr lang="en-CA" kern="100" dirty="0">
                <a:ea typeface="Aptos" panose="020B0004020202020204" pitchFamily="34" charset="0"/>
                <a:cs typeface="Poppins" pitchFamily="2" charset="77"/>
              </a:rPr>
              <a:t/>
            </a:r>
          </a:p>
          <a:p>
            <a:pPr marL="457200">
              <a:lnSpc>
                <a:spcPct val="115000"/>
              </a:lnSpc>
              <a:spcAft>
                <a:spcPts val="800"/>
              </a:spcAft>
              <a:buNone/>
            </a:pPr>
            <a:r>
              <a:rPr lang="en-CA" b="1" kern="100" dirty="0">
                <a:ea typeface="Aptos" panose="020B0004020202020204" pitchFamily="34" charset="0"/>
                <a:cs typeface="Poppins" pitchFamily="2" charset="77"/>
              </a:rPr>
              <a:t>Demand forecasting - Short-term emergency department volume</a:t>
            </a:r>
            <a:r>
              <a:rPr lang="en-CA" kern="100" dirty="0">
                <a:ea typeface="Aptos" panose="020B0004020202020204" pitchFamily="34" charset="0"/>
                <a:cs typeface="Poppins" pitchFamily="2" charset="77"/>
              </a:rPr>
              <a:t/>
            </a:r>
          </a:p>
          <a:p>
            <a:pPr marL="457200">
              <a:lnSpc>
                <a:spcPct val="115000"/>
              </a:lnSpc>
              <a:spcAft>
                <a:spcPts val="800"/>
              </a:spcAft>
              <a:buNone/>
            </a:pPr>
            <a:r>
              <a:rPr lang="en-CA" b="1" kern="100" dirty="0">
                <a:ea typeface="Aptos" panose="020B0004020202020204" pitchFamily="34" charset="0"/>
                <a:cs typeface="Poppins" pitchFamily="2" charset="77"/>
              </a:rPr>
              <a:t>Anomaly detection - Identifying anomalous telemetry or claims</a:t>
            </a:r>
            <a:r>
              <a:rPr lang="en-CA" kern="100" dirty="0">
                <a:ea typeface="Aptos" panose="020B0004020202020204" pitchFamily="34" charset="0"/>
                <a:cs typeface="Poppins" pitchFamily="2" charset="77"/>
              </a:rPr>
              <a:t/>
            </a:r>
          </a:p>
          <a:p>
            <a:pPr marL="457200">
              <a:lnSpc>
                <a:spcPct val="115000"/>
              </a:lnSpc>
              <a:spcAft>
                <a:spcPts val="800"/>
              </a:spcAft>
              <a:buNone/>
            </a:pPr>
            <a:r>
              <a:rPr lang="en-CA" b="1" kern="100" dirty="0">
                <a:ea typeface="Aptos" panose="020B0004020202020204" pitchFamily="34" charset="0"/>
                <a:cs typeface="Poppins" pitchFamily="2" charset="77"/>
              </a:rPr>
              <a:t>Early warning scores - Threshold-based deterioration alerts</a:t>
            </a:r>
            <a:r>
              <a:rPr lang="en-CA" kern="100" dirty="0">
                <a:ea typeface="Aptos" panose="020B0004020202020204" pitchFamily="34" charset="0"/>
                <a:cs typeface="Poppins" pitchFamily="2" charset="77"/>
              </a:rPr>
              <a:t/>
            </a:r>
          </a:p>
          <a:p>
            <a:pPr marL="457200">
              <a:lnSpc>
                <a:spcPct val="115000"/>
              </a:lnSpc>
              <a:spcAft>
                <a:spcPts val="800"/>
              </a:spcAft>
              <a:buNone/>
            </a:pPr>
            <a:r>
              <a:rPr lang="en-CA" b="1" kern="100" dirty="0">
                <a:ea typeface="Aptos" panose="020B0004020202020204" pitchFamily="34" charset="0"/>
                <a:cs typeface="Poppins" pitchFamily="2" charset="77"/>
              </a:rPr>
              <a:t>Cost modelling - Understanding cost drivers per episode</a:t>
            </a:r>
            <a:r>
              <a:rPr lang="en-CA" kern="100" dirty="0">
                <a:ea typeface="Aptos" panose="020B0004020202020204" pitchFamily="34" charset="0"/>
                <a:cs typeface="Poppins" pitchFamily="2" charset="77"/>
              </a:rPr>
              <a:t/>
            </a:r>
          </a:p>
          <a:p>
            <a:pPr marL="457200">
              <a:lnSpc>
                <a:spcPct val="115000"/>
              </a:lnSpc>
              <a:spcAft>
                <a:spcPts val="800"/>
              </a:spcAft>
              <a:buNone/>
            </a:pPr>
            <a:endParaRPr lang="en-CA"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5" name="Text Placeholder 4">
            <a:extLst>
              <a:ext uri="{FF2B5EF4-FFF2-40B4-BE49-F238E27FC236}">
                <a16:creationId xmlns:a16="http://schemas.microsoft.com/office/drawing/2014/main" id="{E584CD31-C97C-5C54-D999-A2BC550BFDD1}"/>
              </a:ext>
            </a:extLst>
          </p:cNvPr>
          <p:cNvSpPr>
            <a:spLocks noGrp="1"/>
          </p:cNvSpPr>
          <p:nvPr>
            <p:ph type="body" sz="quarter" idx="3"/>
          </p:nvPr>
        </p:nvSpPr>
        <p:spPr>
          <a:xfrm>
            <a:off x="7818463" y="869422"/>
            <a:ext cx="3474720" cy="393719"/>
          </a:xfrm>
        </p:spPr>
        <p:txBody>
          <a:bodyPr/>
          <a:lstStyle/>
          <a:p>
            <a:r>
              <a:rPr lang="en-CA" dirty="0">
                <a:solidFill>
                  <a:schemeClr val="accent2"/>
                </a:solidFill>
              </a:rPr>
              <a:t>Deep Learning</a:t>
            </a:r>
            <a:endParaRPr lang="en-US" dirty="0">
              <a:solidFill>
                <a:schemeClr val="accent2"/>
              </a:solidFill>
            </a:endParaRPr>
          </a:p>
        </p:txBody>
      </p:sp>
      <p:sp>
        <p:nvSpPr>
          <p:cNvPr id="6" name="Content Placeholder 5">
            <a:extLst>
              <a:ext uri="{FF2B5EF4-FFF2-40B4-BE49-F238E27FC236}">
                <a16:creationId xmlns:a16="http://schemas.microsoft.com/office/drawing/2014/main" id="{389586F7-D7B8-6694-E687-99055FFFFE93}"/>
              </a:ext>
            </a:extLst>
          </p:cNvPr>
          <p:cNvSpPr>
            <a:spLocks noGrp="1"/>
          </p:cNvSpPr>
          <p:nvPr>
            <p:ph sz="quarter" idx="4"/>
          </p:nvPr>
        </p:nvSpPr>
        <p:spPr>
          <a:xfrm>
            <a:off x="7818463" y="1488022"/>
            <a:ext cx="3474720" cy="4601183"/>
          </a:xfrm>
        </p:spPr>
        <p:txBody>
          <a:bodyPr>
            <a:normAutofit fontScale="62500" lnSpcReduction="20000"/>
          </a:bodyPr>
          <a:lstStyle/>
          <a:p>
            <a:pPr marL="457200">
              <a:lnSpc>
                <a:spcPct val="115000"/>
              </a:lnSpc>
              <a:spcAft>
                <a:spcPts val="800"/>
              </a:spcAft>
              <a:buNone/>
            </a:pPr>
            <a:r>
              <a:rPr lang="en-CA" b="1" kern="100" dirty="0">
                <a:ea typeface="Aptos" panose="020B0004020202020204" pitchFamily="34" charset="0"/>
                <a:cs typeface="Poppins" pitchFamily="2" charset="77"/>
              </a:rPr>
              <a:t>Radiology image analysis - Detecting pathology on X-ray and CT</a:t>
            </a:r>
            <a:r>
              <a:rPr lang="en-CA" kern="100" dirty="0">
                <a:ea typeface="Aptos" panose="020B0004020202020204" pitchFamily="34" charset="0"/>
                <a:cs typeface="Poppins" pitchFamily="2" charset="77"/>
              </a:rPr>
              <a:t/>
            </a:r>
          </a:p>
          <a:p>
            <a:pPr marL="457200">
              <a:lnSpc>
                <a:spcPct val="115000"/>
              </a:lnSpc>
              <a:spcAft>
                <a:spcPts val="800"/>
              </a:spcAft>
              <a:buNone/>
            </a:pPr>
            <a:r>
              <a:rPr lang="en-CA" b="1" kern="100" dirty="0">
                <a:ea typeface="Aptos" panose="020B0004020202020204" pitchFamily="34" charset="0"/>
                <a:cs typeface="Poppins" pitchFamily="2" charset="77"/>
              </a:rPr>
              <a:t>Digital pathology - Tumour detection and grading from slides</a:t>
            </a:r>
            <a:r>
              <a:rPr lang="en-CA" kern="100" dirty="0">
                <a:ea typeface="Aptos" panose="020B0004020202020204" pitchFamily="34" charset="0"/>
                <a:cs typeface="Poppins" pitchFamily="2" charset="77"/>
              </a:rPr>
              <a:t/>
            </a:r>
          </a:p>
          <a:p>
            <a:pPr marL="457200">
              <a:lnSpc>
                <a:spcPct val="115000"/>
              </a:lnSpc>
              <a:spcAft>
                <a:spcPts val="800"/>
              </a:spcAft>
              <a:buNone/>
            </a:pPr>
            <a:r>
              <a:rPr lang="en-CA" b="1" kern="100" dirty="0">
                <a:ea typeface="Aptos" panose="020B0004020202020204" pitchFamily="34" charset="0"/>
                <a:cs typeface="Poppins" pitchFamily="2" charset="77"/>
              </a:rPr>
              <a:t>Clinical language models - Summarising notes and drafting documentation</a:t>
            </a:r>
            <a:r>
              <a:rPr lang="en-CA" kern="100" dirty="0">
                <a:ea typeface="Aptos" panose="020B0004020202020204" pitchFamily="34" charset="0"/>
                <a:cs typeface="Poppins" pitchFamily="2" charset="77"/>
              </a:rPr>
              <a:t/>
            </a:r>
          </a:p>
          <a:p>
            <a:pPr marL="457200">
              <a:lnSpc>
                <a:spcPct val="115000"/>
              </a:lnSpc>
              <a:spcAft>
                <a:spcPts val="800"/>
              </a:spcAft>
              <a:buNone/>
            </a:pPr>
            <a:r>
              <a:rPr lang="en-CA" b="1" kern="100" dirty="0">
                <a:ea typeface="Aptos" panose="020B0004020202020204" pitchFamily="34" charset="0"/>
                <a:cs typeface="Poppins" pitchFamily="2" charset="77"/>
              </a:rPr>
              <a:t>Continuous monitoring - Detecting falls and patient deterioration on video</a:t>
            </a:r>
            <a:r>
              <a:rPr lang="en-CA" kern="100" dirty="0">
                <a:ea typeface="Aptos" panose="020B0004020202020204" pitchFamily="34" charset="0"/>
                <a:cs typeface="Poppins" pitchFamily="2" charset="77"/>
              </a:rPr>
              <a:t/>
            </a:r>
          </a:p>
          <a:p>
            <a:pPr marL="457200">
              <a:lnSpc>
                <a:spcPct val="115000"/>
              </a:lnSpc>
              <a:spcAft>
                <a:spcPts val="800"/>
              </a:spcAft>
              <a:buNone/>
            </a:pPr>
            <a:r>
              <a:rPr lang="en-CA" b="1" kern="100" dirty="0">
                <a:ea typeface="Aptos" panose="020B0004020202020204" pitchFamily="34" charset="0"/>
                <a:cs typeface="Poppins" pitchFamily="2" charset="77"/>
              </a:rPr>
              <a:t>Retinal screening - Grading diabetic retinopathy from fundus images</a:t>
            </a:r>
            <a:r>
              <a:rPr lang="en-CA" kern="100" dirty="0">
                <a:ea typeface="Aptos" panose="020B0004020202020204" pitchFamily="34" charset="0"/>
                <a:cs typeface="Poppins" pitchFamily="2" charset="77"/>
              </a:rPr>
              <a:t/>
            </a:r>
          </a:p>
          <a:p>
            <a:pPr marL="457200">
              <a:lnSpc>
                <a:spcPct val="115000"/>
              </a:lnSpc>
              <a:spcAft>
                <a:spcPts val="800"/>
              </a:spcAft>
              <a:buNone/>
            </a:pPr>
            <a:r>
              <a:rPr lang="en-CA" b="1" kern="100" dirty="0">
                <a:ea typeface="Aptos" panose="020B0004020202020204" pitchFamily="34" charset="0"/>
                <a:cs typeface="Poppins" pitchFamily="2" charset="77"/>
              </a:rPr>
              <a:t>ECG rhythm classification - Distinguishing arrhythmias from normal sinus rhythm</a:t>
            </a:r>
            <a:r>
              <a:rPr lang="en-CA" kern="100" dirty="0">
                <a:ea typeface="Aptos" panose="020B0004020202020204" pitchFamily="34" charset="0"/>
                <a:cs typeface="Poppins" pitchFamily="2" charset="77"/>
              </a:rPr>
              <a:t/>
            </a:r>
          </a:p>
        </p:txBody>
      </p:sp>
    </p:spTree>
    <p:extLst>
      <p:ext uri="{BB962C8B-B14F-4D97-AF65-F5344CB8AC3E}">
        <p14:creationId xmlns:p14="http://schemas.microsoft.com/office/powerpoint/2010/main" val="3129350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70F4A-DC12-59E2-A39F-1FF0B99690D2}"/>
              </a:ext>
            </a:extLst>
          </p:cNvPr>
          <p:cNvSpPr>
            <a:spLocks noGrp="1"/>
          </p:cNvSpPr>
          <p:nvPr>
            <p:ph type="title"/>
          </p:nvPr>
        </p:nvSpPr>
        <p:spPr/>
        <p:txBody>
          <a:bodyPr/>
          <a:lstStyle/>
          <a:p>
            <a:r>
              <a:rPr lang="en-US" b="1" dirty="0"/>
              <a:t>Deep Learning</a:t>
            </a:r>
          </a:p>
        </p:txBody>
      </p:sp>
      <p:sp>
        <p:nvSpPr>
          <p:cNvPr id="3" name="Content Placeholder 2">
            <a:extLst>
              <a:ext uri="{FF2B5EF4-FFF2-40B4-BE49-F238E27FC236}">
                <a16:creationId xmlns:a16="http://schemas.microsoft.com/office/drawing/2014/main" id="{DF4ECA66-5C6A-3BF7-12FA-9E34DCBFC468}"/>
              </a:ext>
            </a:extLst>
          </p:cNvPr>
          <p:cNvSpPr>
            <a:spLocks noGrp="1"/>
          </p:cNvSpPr>
          <p:nvPr>
            <p:ph sz="half" idx="1"/>
          </p:nvPr>
        </p:nvSpPr>
        <p:spPr>
          <a:xfrm>
            <a:off x="3867912" y="428625"/>
            <a:ext cx="3474720" cy="6000750"/>
          </a:xfrm>
        </p:spPr>
        <p:txBody>
          <a:bodyPr>
            <a:normAutofit lnSpcReduction="10000"/>
          </a:bodyPr>
          <a:lstStyle/>
          <a:p>
            <a:r>
              <a:rPr lang="en-CA" dirty="0"/>
              <a:t>Deep learning involves deeply layered neural network models (DNNs). </a:t>
            </a:r>
          </a:p>
          <a:p>
            <a:r>
              <a:rPr lang="en-CA" dirty="0"/>
              <a:t>These models are very capable and excellent learners. </a:t>
            </a:r>
          </a:p>
          <a:p>
            <a:r>
              <a:rPr lang="en-CA" dirty="0"/>
              <a:t>They learn using gradient descent to minimize their loss function. </a:t>
            </a:r>
          </a:p>
          <a:p>
            <a:r>
              <a:rPr lang="en-CA" dirty="0"/>
              <a:t>Because they are so good at learning patterns, they are the central component of most Artificial Intelligence systems.</a:t>
            </a:r>
          </a:p>
          <a:p>
            <a:r>
              <a:rPr lang="en-CA" dirty="0"/>
              <a:t>DNNs can self-learn hierarchical relationships. </a:t>
            </a:r>
          </a:p>
        </p:txBody>
      </p:sp>
      <p:sp>
        <p:nvSpPr>
          <p:cNvPr id="4" name="Content Placeholder 3">
            <a:extLst>
              <a:ext uri="{FF2B5EF4-FFF2-40B4-BE49-F238E27FC236}">
                <a16:creationId xmlns:a16="http://schemas.microsoft.com/office/drawing/2014/main" id="{804508AC-E978-71DA-183F-0C7A71D5386E}"/>
              </a:ext>
            </a:extLst>
          </p:cNvPr>
          <p:cNvSpPr>
            <a:spLocks noGrp="1"/>
          </p:cNvSpPr>
          <p:nvPr>
            <p:ph sz="half" idx="2"/>
          </p:nvPr>
        </p:nvSpPr>
        <p:spPr>
          <a:xfrm>
            <a:off x="7818120" y="428625"/>
            <a:ext cx="3474720" cy="6000750"/>
          </a:xfrm>
        </p:spPr>
        <p:txBody>
          <a:bodyPr>
            <a:normAutofit lnSpcReduction="10000"/>
          </a:bodyPr>
          <a:lstStyle/>
          <a:p>
            <a:r>
              <a:rPr lang="en-CA" dirty="0"/>
              <a:t>This means that if they have the basic data as inputs, they can figure out complex meaning and relationships themselves. </a:t>
            </a:r>
          </a:p>
          <a:p>
            <a:r>
              <a:rPr lang="en-CA" dirty="0"/>
              <a:t>For example, they could be given chest X-rays and learn to identify pneumonia. </a:t>
            </a:r>
          </a:p>
          <a:p>
            <a:r>
              <a:rPr lang="en-CA" dirty="0"/>
              <a:t>Or they could be given ECG waveforms and learn to identify arrhythmias. Both examples require labelled data for training, but the model will figure out the important features on its own.</a:t>
            </a:r>
          </a:p>
        </p:txBody>
      </p:sp>
    </p:spTree>
    <p:extLst>
      <p:ext uri="{BB962C8B-B14F-4D97-AF65-F5344CB8AC3E}">
        <p14:creationId xmlns:p14="http://schemas.microsoft.com/office/powerpoint/2010/main" val="1133406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39BF0-53C6-3CAD-5156-2C101024BA46}"/>
              </a:ext>
            </a:extLst>
          </p:cNvPr>
          <p:cNvSpPr>
            <a:spLocks noGrp="1"/>
          </p:cNvSpPr>
          <p:nvPr>
            <p:ph type="title"/>
          </p:nvPr>
        </p:nvSpPr>
        <p:spPr>
          <a:xfrm>
            <a:off x="252918" y="1123837"/>
            <a:ext cx="3133219" cy="4601183"/>
          </a:xfrm>
        </p:spPr>
        <p:txBody>
          <a:bodyPr>
            <a:normAutofit/>
          </a:bodyPr>
          <a:lstStyle/>
          <a:p>
            <a:r>
              <a:rPr lang="en-CA" sz="3200" b="1" dirty="0">
                <a:cs typeface="Poppins" pitchFamily="2" charset="77"/>
              </a:rPr>
              <a:t>Convolutional Neural Networks (CNN)</a:t>
            </a:r>
            <a:endParaRPr lang="en-US" sz="3200" b="1" dirty="0">
              <a:cs typeface="Poppins" pitchFamily="2" charset="77"/>
            </a:endParaRPr>
          </a:p>
        </p:txBody>
      </p:sp>
      <p:sp>
        <p:nvSpPr>
          <p:cNvPr id="3" name="Content Placeholder 2">
            <a:extLst>
              <a:ext uri="{FF2B5EF4-FFF2-40B4-BE49-F238E27FC236}">
                <a16:creationId xmlns:a16="http://schemas.microsoft.com/office/drawing/2014/main" id="{D1567A7B-043F-C5EE-2C2C-C64DDC868DD6}"/>
              </a:ext>
            </a:extLst>
          </p:cNvPr>
          <p:cNvSpPr>
            <a:spLocks noGrp="1"/>
          </p:cNvSpPr>
          <p:nvPr>
            <p:ph idx="1"/>
          </p:nvPr>
        </p:nvSpPr>
        <p:spPr/>
        <p:txBody>
          <a:bodyPr/>
          <a:lstStyle/>
          <a:p>
            <a:r>
              <a:rPr lang="en-CA" dirty="0"/>
              <a:t>Convolutional Neural Networks (CNNs) are a type of neural network designed specifically for processing grid-like data such as image data.  </a:t>
            </a:r>
          </a:p>
          <a:p>
            <a:r>
              <a:rPr lang="en-CA" dirty="0"/>
              <a:t>They use convolutions, which involve small filters sliding across the input, detecting patterns like edges and combining them into increasingly complex features in deeper layers. </a:t>
            </a:r>
          </a:p>
          <a:p>
            <a:r>
              <a:rPr lang="en-CA" dirty="0"/>
              <a:t>This design can learn spatial hierarchies, making them useful for visual tasks.</a:t>
            </a:r>
          </a:p>
        </p:txBody>
      </p:sp>
    </p:spTree>
    <p:extLst>
      <p:ext uri="{BB962C8B-B14F-4D97-AF65-F5344CB8AC3E}">
        <p14:creationId xmlns:p14="http://schemas.microsoft.com/office/powerpoint/2010/main" val="2521371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163D2-CB25-2D46-4960-AB6E21728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9C0F25-92C7-BE1E-06EE-ED90ED46B411}"/>
              </a:ext>
            </a:extLst>
          </p:cNvPr>
          <p:cNvSpPr>
            <a:spLocks noGrp="1"/>
          </p:cNvSpPr>
          <p:nvPr>
            <p:ph type="title"/>
          </p:nvPr>
        </p:nvSpPr>
        <p:spPr>
          <a:xfrm>
            <a:off x="252918" y="1123837"/>
            <a:ext cx="3133219" cy="4601183"/>
          </a:xfrm>
        </p:spPr>
        <p:txBody>
          <a:bodyPr>
            <a:normAutofit/>
          </a:bodyPr>
          <a:lstStyle/>
          <a:p>
            <a:r>
              <a:rPr lang="en-CA" sz="3200" b="1" dirty="0">
                <a:cs typeface="Poppins" pitchFamily="2" charset="77"/>
              </a:rPr>
              <a:t>Convolutional Neural Networks (CNN)</a:t>
            </a:r>
            <a:endParaRPr lang="en-US" sz="3200" b="1" dirty="0">
              <a:cs typeface="Poppins" pitchFamily="2" charset="77"/>
            </a:endParaRPr>
          </a:p>
        </p:txBody>
      </p:sp>
      <p:pic>
        <p:nvPicPr>
          <p:cNvPr id="9" name="Picture 8" descr="image.png"/>
          <p:cNvPicPr>
            <a:picLocks noChangeAspect="1"/>
          </p:cNvPicPr>
          <p:nvPr/>
        </p:nvPicPr>
        <p:blipFill>
          <a:blip r:embed="rId4"/>
          <a:stretch>
            <a:fillRect/>
          </a:stretch>
        </p:blipFill>
        <p:spPr>
          <a:xfrm>
            <a:off x="3775444" y="1071721"/>
            <a:ext cx="7638311" cy="3403600"/>
          </a:xfrm>
          <a:prstGeom prst="rect">
            <a:avLst/>
          </a:prstGeom>
        </p:spPr>
      </p:pic>
      <p:sp>
        <p:nvSpPr>
          <p:cNvPr id="7" name="Title 1">
            <a:extLst>
              <a:ext uri="{FF2B5EF4-FFF2-40B4-BE49-F238E27FC236}">
                <a16:creationId xmlns:a16="http://schemas.microsoft.com/office/drawing/2014/main" id="{70193310-AC8A-D75D-610E-34159793A5F2}"/>
              </a:ext>
            </a:extLst>
          </p:cNvPr>
          <p:cNvSpPr txBox="1">
            <a:spLocks/>
          </p:cNvSpPr>
          <p:nvPr/>
        </p:nvSpPr>
        <p:spPr>
          <a:xfrm>
            <a:off x="381008" y="342908"/>
            <a:ext cx="8109155" cy="377429"/>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3600" b="0" i="0" kern="1200" spc="-60" baseline="0">
                <a:solidFill>
                  <a:srgbClr val="FFFFFF"/>
                </a:solidFill>
                <a:latin typeface="Poppins" pitchFamily="2" charset="77"/>
                <a:ea typeface="+mj-ea"/>
                <a:cs typeface="+mj-cs"/>
              </a:defRPr>
            </a:lvl1pPr>
          </a:lstStyle>
          <a:p>
            <a:r>
              <a:rPr lang="en-US"/>
              <a:t>Convolutional Neural Networks – Automatic Feature Determination </a:t>
            </a:r>
            <a:endParaRPr lang="en-US" dirty="0"/>
          </a:p>
        </p:txBody>
      </p:sp>
      <p:sp>
        <p:nvSpPr>
          <p:cNvPr id="8" name="TextBox 7">
            <a:extLst>
              <a:ext uri="{FF2B5EF4-FFF2-40B4-BE49-F238E27FC236}">
                <a16:creationId xmlns:a16="http://schemas.microsoft.com/office/drawing/2014/main" id="{A823679A-97A9-38F9-F36E-64A3F4A4C8E0}"/>
              </a:ext>
            </a:extLst>
          </p:cNvPr>
          <p:cNvSpPr txBox="1"/>
          <p:nvPr/>
        </p:nvSpPr>
        <p:spPr>
          <a:xfrm>
            <a:off x="3263908" y="5611052"/>
            <a:ext cx="8356592" cy="246221"/>
          </a:xfrm>
          <a:prstGeom prst="rect">
            <a:avLst/>
          </a:prstGeom>
          <a:noFill/>
        </p:spPr>
        <p:txBody>
          <a:bodyPr wrap="square" rtlCol="0">
            <a:spAutoFit/>
          </a:bodyPr>
          <a:lstStyle/>
          <a:p>
            <a:pPr algn="r"/>
            <a:r>
              <a:rPr lang="en-US" sz="1000" kern="0" spc="-30" dirty="0">
                <a:solidFill>
                  <a:srgbClr val="009EE2"/>
                </a:solidFill>
                <a:latin typeface="Arial"/>
                <a:cs typeface="Arial"/>
                <a:hlinkClick r:id="rId3"/>
              </a:rPr>
              <a:t>https://www.mathworks.com/videos/introduction-to-deep-learning-what-are-convolutional-neural-networks--1489512765771.html</a:t>
            </a:r>
            <a:endParaRPr lang="en-US" sz="1000" kern="0" spc="-30" dirty="0">
              <a:solidFill>
                <a:srgbClr val="009EE2"/>
              </a:solidFill>
              <a:latin typeface="Arial"/>
              <a:cs typeface="Arial"/>
            </a:endParaRPr>
          </a:p>
        </p:txBody>
      </p:sp>
    </p:spTree>
    <p:extLst>
      <p:ext uri="{BB962C8B-B14F-4D97-AF65-F5344CB8AC3E}">
        <p14:creationId xmlns:p14="http://schemas.microsoft.com/office/powerpoint/2010/main" val="2194409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EC74-76AC-A441-6DEB-77E192898C47}"/>
              </a:ext>
            </a:extLst>
          </p:cNvPr>
          <p:cNvSpPr>
            <a:spLocks noGrp="1"/>
          </p:cNvSpPr>
          <p:nvPr>
            <p:ph type="title"/>
          </p:nvPr>
        </p:nvSpPr>
        <p:spPr/>
        <p:txBody>
          <a:bodyPr/>
          <a:lstStyle/>
          <a:p>
            <a:r>
              <a:rPr lang="en-CA" b="1" dirty="0"/>
              <a:t>Recurrent Neural Networks (RNN)</a:t>
            </a:r>
            <a:endParaRPr lang="en-US" b="1" dirty="0"/>
          </a:p>
        </p:txBody>
      </p:sp>
      <p:sp>
        <p:nvSpPr>
          <p:cNvPr id="3" name="Content Placeholder 2">
            <a:extLst>
              <a:ext uri="{FF2B5EF4-FFF2-40B4-BE49-F238E27FC236}">
                <a16:creationId xmlns:a16="http://schemas.microsoft.com/office/drawing/2014/main" id="{6D77ACF5-4AFF-EF0F-179A-68E01FA9B4C1}"/>
              </a:ext>
            </a:extLst>
          </p:cNvPr>
          <p:cNvSpPr>
            <a:spLocks noGrp="1"/>
          </p:cNvSpPr>
          <p:nvPr>
            <p:ph idx="1"/>
          </p:nvPr>
        </p:nvSpPr>
        <p:spPr/>
        <p:txBody>
          <a:bodyPr/>
          <a:lstStyle/>
          <a:p>
            <a:r>
              <a:rPr lang="en-CA" dirty="0"/>
              <a:t>When processing a sequence of tokens there is the challenge of knowing the context in which a given input is received. </a:t>
            </a:r>
          </a:p>
          <a:p>
            <a:r>
              <a:rPr lang="en-CA" dirty="0"/>
              <a:t>A Recurrent Neural Network (RNN) is one approach to this issue. </a:t>
            </a:r>
          </a:p>
          <a:p>
            <a:r>
              <a:rPr lang="en-CA" dirty="0"/>
              <a:t>The hidden state (memory) from one step is passed as input to the next. </a:t>
            </a:r>
          </a:p>
          <a:p>
            <a:r>
              <a:rPr lang="en-CA" dirty="0"/>
              <a:t>Although this does add context information, it suffers from gradual diminished information (vanishing gradient).</a:t>
            </a:r>
          </a:p>
        </p:txBody>
      </p:sp>
    </p:spTree>
    <p:extLst>
      <p:ext uri="{BB962C8B-B14F-4D97-AF65-F5344CB8AC3E}">
        <p14:creationId xmlns:p14="http://schemas.microsoft.com/office/powerpoint/2010/main" val="3261108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2E9B-C960-1E9F-0B39-DCDE9C7C21DB}"/>
              </a:ext>
            </a:extLst>
          </p:cNvPr>
          <p:cNvSpPr>
            <a:spLocks noGrp="1"/>
          </p:cNvSpPr>
          <p:nvPr>
            <p:ph type="title"/>
          </p:nvPr>
        </p:nvSpPr>
        <p:spPr/>
        <p:txBody>
          <a:bodyPr/>
          <a:lstStyle/>
          <a:p>
            <a:r>
              <a:rPr lang="en-CA" b="1" dirty="0"/>
              <a:t>Long </a:t>
            </a:r>
            <a:br>
              <a:rPr lang="en-CA" b="1" dirty="0"/>
            </a:br>
            <a:r>
              <a:rPr lang="en-CA" b="1" dirty="0"/>
              <a:t>Short-Term Memory Networks (LSTMs)</a:t>
            </a:r>
            <a:endParaRPr lang="en-US" b="1" dirty="0"/>
          </a:p>
        </p:txBody>
      </p:sp>
      <p:sp>
        <p:nvSpPr>
          <p:cNvPr id="3" name="Content Placeholder 2">
            <a:extLst>
              <a:ext uri="{FF2B5EF4-FFF2-40B4-BE49-F238E27FC236}">
                <a16:creationId xmlns:a16="http://schemas.microsoft.com/office/drawing/2014/main" id="{E33555C2-BF6A-60B7-65C3-DA3B35DEFC56}"/>
              </a:ext>
            </a:extLst>
          </p:cNvPr>
          <p:cNvSpPr>
            <a:spLocks noGrp="1"/>
          </p:cNvSpPr>
          <p:nvPr>
            <p:ph idx="1"/>
          </p:nvPr>
        </p:nvSpPr>
        <p:spPr/>
        <p:txBody>
          <a:bodyPr/>
          <a:lstStyle/>
          <a:p>
            <a:r>
              <a:rPr lang="en-CA" kern="0" dirty="0"/>
              <a:t>LSTM networks add the ability to influence the output with contributions from both long and short term memory</a:t>
            </a:r>
          </a:p>
          <a:p>
            <a:r>
              <a:rPr lang="en-CA" kern="0" dirty="0"/>
              <a:t>They can pass on state and independently determine how much of it influences the output</a:t>
            </a:r>
          </a:p>
          <a:p>
            <a:r>
              <a:rPr lang="en-CA" kern="0" dirty="0"/>
              <a:t>Thus, they can learn both long and short term dependencies</a:t>
            </a:r>
            <a:endParaRPr lang="en-US" kern="0" dirty="0"/>
          </a:p>
        </p:txBody>
      </p:sp>
    </p:spTree>
    <p:extLst>
      <p:ext uri="{BB962C8B-B14F-4D97-AF65-F5344CB8AC3E}">
        <p14:creationId xmlns:p14="http://schemas.microsoft.com/office/powerpoint/2010/main" val="4291896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B32B-B365-785C-411F-74A92BA7D0CD}"/>
              </a:ext>
            </a:extLst>
          </p:cNvPr>
          <p:cNvSpPr>
            <a:spLocks noGrp="1"/>
          </p:cNvSpPr>
          <p:nvPr>
            <p:ph type="title"/>
          </p:nvPr>
        </p:nvSpPr>
        <p:spPr/>
        <p:txBody>
          <a:bodyPr/>
          <a:lstStyle/>
          <a:p>
            <a:r>
              <a:rPr lang="en-US" b="1" dirty="0">
                <a:cs typeface="Poppins" pitchFamily="2" charset="77"/>
              </a:rPr>
              <a:t>Auto-Encoders</a:t>
            </a:r>
          </a:p>
        </p:txBody>
      </p:sp>
      <p:sp>
        <p:nvSpPr>
          <p:cNvPr id="70" name="TextBox 69">
            <a:extLst>
              <a:ext uri="{FF2B5EF4-FFF2-40B4-BE49-F238E27FC236}">
                <a16:creationId xmlns:a16="http://schemas.microsoft.com/office/drawing/2014/main" id="{7ECA1E3E-B61D-5305-8FAC-84E6D97CCA0B}"/>
              </a:ext>
            </a:extLst>
          </p:cNvPr>
          <p:cNvSpPr txBox="1"/>
          <p:nvPr/>
        </p:nvSpPr>
        <p:spPr>
          <a:xfrm>
            <a:off x="3657507" y="1478608"/>
            <a:ext cx="2320187" cy="338554"/>
          </a:xfrm>
          <a:prstGeom prst="rect">
            <a:avLst/>
          </a:prstGeom>
          <a:noFill/>
        </p:spPr>
        <p:txBody>
          <a:bodyPr wrap="none" rtlCol="0">
            <a:spAutoFit/>
          </a:bodyPr>
          <a:lstStyle/>
          <a:p>
            <a:pPr algn="ctr"/>
            <a:r>
              <a:rPr lang="en-US" sz="1600" kern="0" spc="-30" dirty="0">
                <a:solidFill>
                  <a:schemeClr val="accent1"/>
                </a:solidFill>
                <a:latin typeface="Poppins" pitchFamily="2" charset="77"/>
                <a:cs typeface="Poppins" pitchFamily="2" charset="77"/>
              </a:rPr>
              <a:t>Input Layer (features)</a:t>
            </a:r>
          </a:p>
        </p:txBody>
      </p:sp>
      <p:sp>
        <p:nvSpPr>
          <p:cNvPr id="71" name="TextBox 70">
            <a:extLst>
              <a:ext uri="{FF2B5EF4-FFF2-40B4-BE49-F238E27FC236}">
                <a16:creationId xmlns:a16="http://schemas.microsoft.com/office/drawing/2014/main" id="{6FCE2F07-D902-20E6-05F2-51214CC4D4EF}"/>
              </a:ext>
            </a:extLst>
          </p:cNvPr>
          <p:cNvSpPr txBox="1"/>
          <p:nvPr/>
        </p:nvSpPr>
        <p:spPr>
          <a:xfrm>
            <a:off x="6835767" y="2494484"/>
            <a:ext cx="1572546" cy="338554"/>
          </a:xfrm>
          <a:prstGeom prst="rect">
            <a:avLst/>
          </a:prstGeom>
          <a:noFill/>
        </p:spPr>
        <p:txBody>
          <a:bodyPr wrap="none" rtlCol="0">
            <a:spAutoFit/>
          </a:bodyPr>
          <a:lstStyle/>
          <a:p>
            <a:pPr algn="ctr"/>
            <a:r>
              <a:rPr lang="en-US" sz="1600" kern="0" spc="-30" dirty="0">
                <a:solidFill>
                  <a:schemeClr val="accent1"/>
                </a:solidFill>
                <a:latin typeface="Poppins" pitchFamily="2" charset="77"/>
                <a:cs typeface="Poppins" pitchFamily="2" charset="77"/>
              </a:rPr>
              <a:t>Hidden Layers</a:t>
            </a:r>
          </a:p>
        </p:txBody>
      </p:sp>
      <p:sp>
        <p:nvSpPr>
          <p:cNvPr id="72" name="TextBox 71">
            <a:extLst>
              <a:ext uri="{FF2B5EF4-FFF2-40B4-BE49-F238E27FC236}">
                <a16:creationId xmlns:a16="http://schemas.microsoft.com/office/drawing/2014/main" id="{0748C13A-FB3B-6645-45CC-4B73D731A655}"/>
              </a:ext>
            </a:extLst>
          </p:cNvPr>
          <p:cNvSpPr txBox="1"/>
          <p:nvPr/>
        </p:nvSpPr>
        <p:spPr>
          <a:xfrm>
            <a:off x="9260975" y="1478608"/>
            <a:ext cx="2293578" cy="338554"/>
          </a:xfrm>
          <a:prstGeom prst="rect">
            <a:avLst/>
          </a:prstGeom>
          <a:noFill/>
        </p:spPr>
        <p:txBody>
          <a:bodyPr wrap="none" rtlCol="0">
            <a:spAutoFit/>
          </a:bodyPr>
          <a:lstStyle/>
          <a:p>
            <a:pPr algn="ctr"/>
            <a:r>
              <a:rPr lang="en-US" sz="1600" kern="0" spc="-30" dirty="0">
                <a:solidFill>
                  <a:schemeClr val="accent1"/>
                </a:solidFill>
                <a:latin typeface="Poppins" pitchFamily="2" charset="77"/>
                <a:cs typeface="Poppins" pitchFamily="2" charset="77"/>
              </a:rPr>
              <a:t>Output Layer (target)</a:t>
            </a:r>
          </a:p>
        </p:txBody>
      </p:sp>
      <p:grpSp>
        <p:nvGrpSpPr>
          <p:cNvPr id="135" name="Group 134">
            <a:extLst>
              <a:ext uri="{FF2B5EF4-FFF2-40B4-BE49-F238E27FC236}">
                <a16:creationId xmlns:a16="http://schemas.microsoft.com/office/drawing/2014/main" id="{7B93DE1F-9BA9-3D95-D2CF-E68DA9D0651B}"/>
              </a:ext>
            </a:extLst>
          </p:cNvPr>
          <p:cNvGrpSpPr/>
          <p:nvPr/>
        </p:nvGrpSpPr>
        <p:grpSpPr>
          <a:xfrm>
            <a:off x="4631228" y="2142602"/>
            <a:ext cx="6036060" cy="3352714"/>
            <a:chOff x="4631228" y="2142602"/>
            <a:chExt cx="6036060" cy="3352714"/>
          </a:xfrm>
        </p:grpSpPr>
        <p:sp>
          <p:nvSpPr>
            <p:cNvPr id="5" name="Oval 4">
              <a:extLst>
                <a:ext uri="{FF2B5EF4-FFF2-40B4-BE49-F238E27FC236}">
                  <a16:creationId xmlns:a16="http://schemas.microsoft.com/office/drawing/2014/main" id="{D150D696-F20A-A073-E4FE-E1A2F95A8FEE}"/>
                </a:ext>
              </a:extLst>
            </p:cNvPr>
            <p:cNvSpPr/>
            <p:nvPr/>
          </p:nvSpPr>
          <p:spPr>
            <a:xfrm>
              <a:off x="4631228" y="2142602"/>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FBD0908-A84F-38B8-575D-0DD9B8B75635}"/>
                </a:ext>
              </a:extLst>
            </p:cNvPr>
            <p:cNvSpPr/>
            <p:nvPr/>
          </p:nvSpPr>
          <p:spPr>
            <a:xfrm>
              <a:off x="4631228" y="2636289"/>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96FC7A4-138E-4E65-4C9D-F1E9CF4209B7}"/>
                </a:ext>
              </a:extLst>
            </p:cNvPr>
            <p:cNvSpPr/>
            <p:nvPr/>
          </p:nvSpPr>
          <p:spPr>
            <a:xfrm>
              <a:off x="4631228" y="3129976"/>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40EEB0F-C6E5-AAD4-BC39-7DB37176801C}"/>
                </a:ext>
              </a:extLst>
            </p:cNvPr>
            <p:cNvSpPr/>
            <p:nvPr/>
          </p:nvSpPr>
          <p:spPr>
            <a:xfrm>
              <a:off x="4631228" y="3630273"/>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5B697A35-429A-2205-9BBD-272E523178D9}"/>
                </a:ext>
              </a:extLst>
            </p:cNvPr>
            <p:cNvSpPr/>
            <p:nvPr/>
          </p:nvSpPr>
          <p:spPr>
            <a:xfrm>
              <a:off x="4631231" y="4127265"/>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C548C2BE-7EA8-710F-B16A-8EC2817239A7}"/>
                </a:ext>
              </a:extLst>
            </p:cNvPr>
            <p:cNvSpPr/>
            <p:nvPr/>
          </p:nvSpPr>
          <p:spPr>
            <a:xfrm>
              <a:off x="4631228" y="4624257"/>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1075B4B-C2D4-07F6-8DD5-368B9D8BA2A8}"/>
                </a:ext>
              </a:extLst>
            </p:cNvPr>
            <p:cNvSpPr/>
            <p:nvPr/>
          </p:nvSpPr>
          <p:spPr>
            <a:xfrm>
              <a:off x="4631228" y="5121250"/>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2F020541-A0B2-EC4F-EBEA-933AE51DBF1A}"/>
                </a:ext>
              </a:extLst>
            </p:cNvPr>
            <p:cNvSpPr/>
            <p:nvPr/>
          </p:nvSpPr>
          <p:spPr>
            <a:xfrm>
              <a:off x="6060080" y="2636289"/>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BC13BF49-95FF-CDDB-F607-7478572E494D}"/>
                </a:ext>
              </a:extLst>
            </p:cNvPr>
            <p:cNvSpPr/>
            <p:nvPr/>
          </p:nvSpPr>
          <p:spPr>
            <a:xfrm>
              <a:off x="6060080" y="3129976"/>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6DD78E9F-531B-D882-8CF3-2D96B2CC558F}"/>
                </a:ext>
              </a:extLst>
            </p:cNvPr>
            <p:cNvSpPr/>
            <p:nvPr/>
          </p:nvSpPr>
          <p:spPr>
            <a:xfrm>
              <a:off x="6060080" y="3623663"/>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F6379F07-6B47-9038-22D5-87EDF653EC61}"/>
                </a:ext>
              </a:extLst>
            </p:cNvPr>
            <p:cNvSpPr/>
            <p:nvPr/>
          </p:nvSpPr>
          <p:spPr>
            <a:xfrm>
              <a:off x="6060080" y="4127265"/>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1A5FE85D-172D-4A0C-11B1-C9F6974C6EC6}"/>
                </a:ext>
              </a:extLst>
            </p:cNvPr>
            <p:cNvSpPr/>
            <p:nvPr/>
          </p:nvSpPr>
          <p:spPr>
            <a:xfrm>
              <a:off x="6060080" y="4624257"/>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7" name="Straight Connector 16">
              <a:extLst>
                <a:ext uri="{FF2B5EF4-FFF2-40B4-BE49-F238E27FC236}">
                  <a16:creationId xmlns:a16="http://schemas.microsoft.com/office/drawing/2014/main" id="{D42E0120-6403-B9A9-70AD-A5C3CACE3DCA}"/>
                </a:ext>
              </a:extLst>
            </p:cNvPr>
            <p:cNvCxnSpPr>
              <a:stCxn id="5" idx="6"/>
              <a:endCxn id="12" idx="2"/>
            </p:cNvCxnSpPr>
            <p:nvPr/>
          </p:nvCxnSpPr>
          <p:spPr>
            <a:xfrm>
              <a:off x="5003972" y="2329636"/>
              <a:ext cx="1056108" cy="49368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F32BD48-E8C6-DA3F-D5B5-702645F8C3DC}"/>
                </a:ext>
              </a:extLst>
            </p:cNvPr>
            <p:cNvCxnSpPr>
              <a:cxnSpLocks/>
              <a:stCxn id="5" idx="6"/>
              <a:endCxn id="13" idx="2"/>
            </p:cNvCxnSpPr>
            <p:nvPr/>
          </p:nvCxnSpPr>
          <p:spPr>
            <a:xfrm>
              <a:off x="5003972" y="2329636"/>
              <a:ext cx="1056108" cy="98737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5CCEE19-DFBE-EB3C-54D4-3B192E34CC33}"/>
                </a:ext>
              </a:extLst>
            </p:cNvPr>
            <p:cNvCxnSpPr>
              <a:cxnSpLocks/>
              <a:stCxn id="5" idx="6"/>
              <a:endCxn id="14" idx="2"/>
            </p:cNvCxnSpPr>
            <p:nvPr/>
          </p:nvCxnSpPr>
          <p:spPr>
            <a:xfrm>
              <a:off x="5003972" y="2329636"/>
              <a:ext cx="1056108" cy="148106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160CF9C0-316B-7918-1E52-CFA15FF25F7A}"/>
                </a:ext>
              </a:extLst>
            </p:cNvPr>
            <p:cNvCxnSpPr>
              <a:cxnSpLocks/>
              <a:stCxn id="5" idx="6"/>
              <a:endCxn id="15" idx="2"/>
            </p:cNvCxnSpPr>
            <p:nvPr/>
          </p:nvCxnSpPr>
          <p:spPr>
            <a:xfrm>
              <a:off x="5003972" y="2329636"/>
              <a:ext cx="1056108" cy="198466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C6B60F5-4308-7F4D-0D48-591FF1525751}"/>
                </a:ext>
              </a:extLst>
            </p:cNvPr>
            <p:cNvCxnSpPr>
              <a:cxnSpLocks/>
              <a:stCxn id="5" idx="6"/>
              <a:endCxn id="16" idx="2"/>
            </p:cNvCxnSpPr>
            <p:nvPr/>
          </p:nvCxnSpPr>
          <p:spPr>
            <a:xfrm>
              <a:off x="5003972" y="2329636"/>
              <a:ext cx="1056108" cy="248165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48C3CF3-606A-1A68-477D-DB93594520AF}"/>
                </a:ext>
              </a:extLst>
            </p:cNvPr>
            <p:cNvCxnSpPr>
              <a:cxnSpLocks/>
              <a:stCxn id="6" idx="6"/>
              <a:endCxn id="13" idx="2"/>
            </p:cNvCxnSpPr>
            <p:nvPr/>
          </p:nvCxnSpPr>
          <p:spPr>
            <a:xfrm>
              <a:off x="5003972" y="2823323"/>
              <a:ext cx="1056108" cy="49368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91A703E-49B9-5FB7-B6BD-3A1BAC672339}"/>
                </a:ext>
              </a:extLst>
            </p:cNvPr>
            <p:cNvCxnSpPr>
              <a:cxnSpLocks/>
              <a:stCxn id="6" idx="6"/>
              <a:endCxn id="14" idx="2"/>
            </p:cNvCxnSpPr>
            <p:nvPr/>
          </p:nvCxnSpPr>
          <p:spPr>
            <a:xfrm>
              <a:off x="5003972" y="2823323"/>
              <a:ext cx="1056108" cy="98737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EE29FF0-21DF-E05E-AFC6-021F193627B7}"/>
                </a:ext>
              </a:extLst>
            </p:cNvPr>
            <p:cNvCxnSpPr>
              <a:cxnSpLocks/>
              <a:stCxn id="6" idx="6"/>
              <a:endCxn id="15" idx="2"/>
            </p:cNvCxnSpPr>
            <p:nvPr/>
          </p:nvCxnSpPr>
          <p:spPr>
            <a:xfrm>
              <a:off x="5003972" y="2823323"/>
              <a:ext cx="1056108" cy="149097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C0BBCECA-4578-BB14-8BCD-8E06D8023758}"/>
                </a:ext>
              </a:extLst>
            </p:cNvPr>
            <p:cNvCxnSpPr>
              <a:cxnSpLocks/>
              <a:stCxn id="6" idx="6"/>
              <a:endCxn id="16" idx="2"/>
            </p:cNvCxnSpPr>
            <p:nvPr/>
          </p:nvCxnSpPr>
          <p:spPr>
            <a:xfrm>
              <a:off x="5003972" y="2823323"/>
              <a:ext cx="1056108" cy="1987968"/>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1367C50-00E3-F743-166B-7C910AB19668}"/>
                </a:ext>
              </a:extLst>
            </p:cNvPr>
            <p:cNvCxnSpPr>
              <a:cxnSpLocks/>
              <a:stCxn id="6" idx="6"/>
              <a:endCxn id="12" idx="2"/>
            </p:cNvCxnSpPr>
            <p:nvPr/>
          </p:nvCxnSpPr>
          <p:spPr>
            <a:xfrm>
              <a:off x="5003972" y="2823323"/>
              <a:ext cx="1056108"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5151D51-5D23-234E-3B61-CCB4E01BD372}"/>
                </a:ext>
              </a:extLst>
            </p:cNvPr>
            <p:cNvCxnSpPr>
              <a:cxnSpLocks/>
              <a:stCxn id="7" idx="6"/>
              <a:endCxn id="12" idx="2"/>
            </p:cNvCxnSpPr>
            <p:nvPr/>
          </p:nvCxnSpPr>
          <p:spPr>
            <a:xfrm flipV="1">
              <a:off x="5003972" y="2823323"/>
              <a:ext cx="1056108" cy="49368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5E79F8A-48E0-9314-A94E-1BC6166549E9}"/>
                </a:ext>
              </a:extLst>
            </p:cNvPr>
            <p:cNvCxnSpPr>
              <a:cxnSpLocks/>
              <a:stCxn id="7" idx="6"/>
              <a:endCxn id="13" idx="2"/>
            </p:cNvCxnSpPr>
            <p:nvPr/>
          </p:nvCxnSpPr>
          <p:spPr>
            <a:xfrm>
              <a:off x="5003972" y="3317010"/>
              <a:ext cx="1056108"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9F542EB8-2D22-457C-6C53-FF6CED9578A5}"/>
                </a:ext>
              </a:extLst>
            </p:cNvPr>
            <p:cNvCxnSpPr>
              <a:cxnSpLocks/>
              <a:stCxn id="7" idx="6"/>
              <a:endCxn id="14" idx="2"/>
            </p:cNvCxnSpPr>
            <p:nvPr/>
          </p:nvCxnSpPr>
          <p:spPr>
            <a:xfrm>
              <a:off x="5003972" y="3317010"/>
              <a:ext cx="1056108" cy="49368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4EC8E5CB-213E-A313-D162-AE69334D8071}"/>
                </a:ext>
              </a:extLst>
            </p:cNvPr>
            <p:cNvCxnSpPr>
              <a:cxnSpLocks/>
              <a:stCxn id="7" idx="6"/>
              <a:endCxn id="15" idx="2"/>
            </p:cNvCxnSpPr>
            <p:nvPr/>
          </p:nvCxnSpPr>
          <p:spPr>
            <a:xfrm>
              <a:off x="5003972" y="3317010"/>
              <a:ext cx="1056108" cy="99728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DB6B588-7BDC-6E42-BF46-AD134F2DB532}"/>
                </a:ext>
              </a:extLst>
            </p:cNvPr>
            <p:cNvCxnSpPr>
              <a:cxnSpLocks/>
              <a:stCxn id="7" idx="6"/>
              <a:endCxn id="16" idx="2"/>
            </p:cNvCxnSpPr>
            <p:nvPr/>
          </p:nvCxnSpPr>
          <p:spPr>
            <a:xfrm>
              <a:off x="5003972" y="3317010"/>
              <a:ext cx="1056108" cy="149428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42BFD164-9E97-BC19-BEED-B6EF2CF1E705}"/>
                </a:ext>
              </a:extLst>
            </p:cNvPr>
            <p:cNvCxnSpPr>
              <a:cxnSpLocks/>
              <a:stCxn id="8" idx="6"/>
              <a:endCxn id="12" idx="2"/>
            </p:cNvCxnSpPr>
            <p:nvPr/>
          </p:nvCxnSpPr>
          <p:spPr>
            <a:xfrm flipV="1">
              <a:off x="5003972" y="2823323"/>
              <a:ext cx="1056108" cy="99398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D330D4D-95AC-33FC-3171-C4FA743E5368}"/>
                </a:ext>
              </a:extLst>
            </p:cNvPr>
            <p:cNvCxnSpPr>
              <a:cxnSpLocks/>
              <a:stCxn id="8" idx="6"/>
              <a:endCxn id="13" idx="2"/>
            </p:cNvCxnSpPr>
            <p:nvPr/>
          </p:nvCxnSpPr>
          <p:spPr>
            <a:xfrm flipV="1">
              <a:off x="5003972" y="3317010"/>
              <a:ext cx="1056108" cy="50029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EADE061C-5286-7AA8-A01B-C67BF48CEE87}"/>
                </a:ext>
              </a:extLst>
            </p:cNvPr>
            <p:cNvCxnSpPr>
              <a:cxnSpLocks/>
              <a:stCxn id="8" idx="6"/>
              <a:endCxn id="14" idx="2"/>
            </p:cNvCxnSpPr>
            <p:nvPr/>
          </p:nvCxnSpPr>
          <p:spPr>
            <a:xfrm flipV="1">
              <a:off x="5003972" y="3810697"/>
              <a:ext cx="1056108" cy="661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3173DC9-CA0B-BEBB-2DDA-C6FE45280BF1}"/>
                </a:ext>
              </a:extLst>
            </p:cNvPr>
            <p:cNvCxnSpPr>
              <a:cxnSpLocks/>
              <a:stCxn id="8" idx="6"/>
              <a:endCxn id="15" idx="2"/>
            </p:cNvCxnSpPr>
            <p:nvPr/>
          </p:nvCxnSpPr>
          <p:spPr>
            <a:xfrm>
              <a:off x="5003972" y="3817307"/>
              <a:ext cx="1056108" cy="49699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0B7689F7-64C2-1E7A-C510-B66CB1DD4E9E}"/>
                </a:ext>
              </a:extLst>
            </p:cNvPr>
            <p:cNvCxnSpPr>
              <a:cxnSpLocks/>
              <a:stCxn id="8" idx="6"/>
              <a:endCxn id="16" idx="2"/>
            </p:cNvCxnSpPr>
            <p:nvPr/>
          </p:nvCxnSpPr>
          <p:spPr>
            <a:xfrm>
              <a:off x="5003972" y="3817307"/>
              <a:ext cx="1056108" cy="99398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0B6B144-54DE-2F35-1332-8CD8017D8450}"/>
                </a:ext>
              </a:extLst>
            </p:cNvPr>
            <p:cNvCxnSpPr>
              <a:cxnSpLocks/>
              <a:stCxn id="9" idx="6"/>
              <a:endCxn id="12" idx="2"/>
            </p:cNvCxnSpPr>
            <p:nvPr/>
          </p:nvCxnSpPr>
          <p:spPr>
            <a:xfrm flipV="1">
              <a:off x="5003975" y="2823323"/>
              <a:ext cx="1056105" cy="149097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D57D5103-5D14-3A25-F808-DF7C6AAD3DCE}"/>
                </a:ext>
              </a:extLst>
            </p:cNvPr>
            <p:cNvCxnSpPr>
              <a:cxnSpLocks/>
              <a:stCxn id="9" idx="6"/>
              <a:endCxn id="13" idx="2"/>
            </p:cNvCxnSpPr>
            <p:nvPr/>
          </p:nvCxnSpPr>
          <p:spPr>
            <a:xfrm flipV="1">
              <a:off x="5003975" y="3317010"/>
              <a:ext cx="1056105" cy="99728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E813971-93D7-0DD7-BCA7-A667ABB32A7A}"/>
                </a:ext>
              </a:extLst>
            </p:cNvPr>
            <p:cNvCxnSpPr>
              <a:cxnSpLocks/>
              <a:stCxn id="9" idx="6"/>
              <a:endCxn id="14" idx="2"/>
            </p:cNvCxnSpPr>
            <p:nvPr/>
          </p:nvCxnSpPr>
          <p:spPr>
            <a:xfrm flipV="1">
              <a:off x="5003975" y="3810697"/>
              <a:ext cx="1056105" cy="50360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C0BB3E7D-4487-F43A-A970-EE300A59E425}"/>
                </a:ext>
              </a:extLst>
            </p:cNvPr>
            <p:cNvCxnSpPr>
              <a:cxnSpLocks/>
              <a:stCxn id="9" idx="6"/>
              <a:endCxn id="15" idx="2"/>
            </p:cNvCxnSpPr>
            <p:nvPr/>
          </p:nvCxnSpPr>
          <p:spPr>
            <a:xfrm>
              <a:off x="5003975" y="4314299"/>
              <a:ext cx="1056105"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A762F9B1-BBEC-5681-6420-798488216857}"/>
                </a:ext>
              </a:extLst>
            </p:cNvPr>
            <p:cNvCxnSpPr>
              <a:cxnSpLocks/>
              <a:stCxn id="9" idx="6"/>
              <a:endCxn id="16" idx="2"/>
            </p:cNvCxnSpPr>
            <p:nvPr/>
          </p:nvCxnSpPr>
          <p:spPr>
            <a:xfrm>
              <a:off x="5003975" y="4314299"/>
              <a:ext cx="1056105" cy="49699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9A50DDC5-6644-0E5C-792E-4842B7A39AA6}"/>
                </a:ext>
              </a:extLst>
            </p:cNvPr>
            <p:cNvCxnSpPr>
              <a:cxnSpLocks/>
              <a:stCxn id="10" idx="6"/>
              <a:endCxn id="12" idx="2"/>
            </p:cNvCxnSpPr>
            <p:nvPr/>
          </p:nvCxnSpPr>
          <p:spPr>
            <a:xfrm flipV="1">
              <a:off x="5003972" y="2823323"/>
              <a:ext cx="1056108" cy="1987968"/>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B8AA949-0FB9-0FAA-6E4D-CA8658FCC46E}"/>
                </a:ext>
              </a:extLst>
            </p:cNvPr>
            <p:cNvCxnSpPr>
              <a:cxnSpLocks/>
              <a:stCxn id="10" idx="6"/>
              <a:endCxn id="13" idx="2"/>
            </p:cNvCxnSpPr>
            <p:nvPr/>
          </p:nvCxnSpPr>
          <p:spPr>
            <a:xfrm flipV="1">
              <a:off x="5003972" y="3317010"/>
              <a:ext cx="1056108" cy="149428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10ABC2D3-C491-93B5-B821-FF822D3734D7}"/>
                </a:ext>
              </a:extLst>
            </p:cNvPr>
            <p:cNvCxnSpPr>
              <a:cxnSpLocks/>
              <a:stCxn id="10" idx="6"/>
              <a:endCxn id="14" idx="2"/>
            </p:cNvCxnSpPr>
            <p:nvPr/>
          </p:nvCxnSpPr>
          <p:spPr>
            <a:xfrm flipV="1">
              <a:off x="5003972" y="3810697"/>
              <a:ext cx="1056108" cy="100059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BE91B473-04AC-99EA-55A6-DF104E4A95D3}"/>
                </a:ext>
              </a:extLst>
            </p:cNvPr>
            <p:cNvCxnSpPr>
              <a:cxnSpLocks/>
              <a:stCxn id="10" idx="6"/>
              <a:endCxn id="15" idx="2"/>
            </p:cNvCxnSpPr>
            <p:nvPr/>
          </p:nvCxnSpPr>
          <p:spPr>
            <a:xfrm flipV="1">
              <a:off x="5003972" y="4314299"/>
              <a:ext cx="1056108" cy="49699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7241B21F-7FD7-7DFE-2B6B-ECB89F64E954}"/>
                </a:ext>
              </a:extLst>
            </p:cNvPr>
            <p:cNvCxnSpPr>
              <a:cxnSpLocks/>
              <a:stCxn id="10" idx="6"/>
              <a:endCxn id="16" idx="2"/>
            </p:cNvCxnSpPr>
            <p:nvPr/>
          </p:nvCxnSpPr>
          <p:spPr>
            <a:xfrm>
              <a:off x="5003972" y="4811292"/>
              <a:ext cx="1056108"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3EE82371-4563-301D-695D-A599AF7D6401}"/>
                </a:ext>
              </a:extLst>
            </p:cNvPr>
            <p:cNvCxnSpPr>
              <a:cxnSpLocks/>
              <a:stCxn id="11" idx="6"/>
              <a:endCxn id="12" idx="2"/>
            </p:cNvCxnSpPr>
            <p:nvPr/>
          </p:nvCxnSpPr>
          <p:spPr>
            <a:xfrm flipV="1">
              <a:off x="5003972" y="2823323"/>
              <a:ext cx="1056108" cy="248496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789D74B-B72E-BBCC-DB3E-F641CC4C8B6B}"/>
                </a:ext>
              </a:extLst>
            </p:cNvPr>
            <p:cNvCxnSpPr>
              <a:cxnSpLocks/>
              <a:stCxn id="11" idx="6"/>
              <a:endCxn id="13" idx="2"/>
            </p:cNvCxnSpPr>
            <p:nvPr/>
          </p:nvCxnSpPr>
          <p:spPr>
            <a:xfrm flipV="1">
              <a:off x="5003972" y="3317010"/>
              <a:ext cx="1056108" cy="199127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1327C06-36F4-D1F8-BEDC-72D59F71B77B}"/>
                </a:ext>
              </a:extLst>
            </p:cNvPr>
            <p:cNvCxnSpPr>
              <a:cxnSpLocks/>
              <a:stCxn id="11" idx="6"/>
              <a:endCxn id="14" idx="2"/>
            </p:cNvCxnSpPr>
            <p:nvPr/>
          </p:nvCxnSpPr>
          <p:spPr>
            <a:xfrm flipV="1">
              <a:off x="5003972" y="3810697"/>
              <a:ext cx="1056108" cy="149758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4E3618D1-404E-E36A-2B62-E9AF81CD94F4}"/>
                </a:ext>
              </a:extLst>
            </p:cNvPr>
            <p:cNvCxnSpPr>
              <a:cxnSpLocks/>
              <a:stCxn id="11" idx="6"/>
              <a:endCxn id="15" idx="2"/>
            </p:cNvCxnSpPr>
            <p:nvPr/>
          </p:nvCxnSpPr>
          <p:spPr>
            <a:xfrm flipV="1">
              <a:off x="5003972" y="4314299"/>
              <a:ext cx="1056108" cy="99398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627282F6-022A-A2A2-C1F4-92EDF12F16F3}"/>
                </a:ext>
              </a:extLst>
            </p:cNvPr>
            <p:cNvCxnSpPr>
              <a:cxnSpLocks/>
              <a:stCxn id="11" idx="6"/>
              <a:endCxn id="16" idx="2"/>
            </p:cNvCxnSpPr>
            <p:nvPr/>
          </p:nvCxnSpPr>
          <p:spPr>
            <a:xfrm flipV="1">
              <a:off x="5003972" y="4811292"/>
              <a:ext cx="1056108" cy="496992"/>
            </a:xfrm>
            <a:prstGeom prst="line">
              <a:avLst/>
            </a:prstGeom>
            <a:ln w="12700"/>
            <a:effectLst/>
          </p:spPr>
          <p:style>
            <a:lnRef idx="2">
              <a:schemeClr val="accent1"/>
            </a:lnRef>
            <a:fillRef idx="0">
              <a:schemeClr val="accent1"/>
            </a:fillRef>
            <a:effectRef idx="1">
              <a:schemeClr val="accent1"/>
            </a:effectRef>
            <a:fontRef idx="minor">
              <a:schemeClr val="tx1"/>
            </a:fontRef>
          </p:style>
        </p:cxnSp>
        <p:sp>
          <p:nvSpPr>
            <p:cNvPr id="52" name="Oval 51">
              <a:extLst>
                <a:ext uri="{FF2B5EF4-FFF2-40B4-BE49-F238E27FC236}">
                  <a16:creationId xmlns:a16="http://schemas.microsoft.com/office/drawing/2014/main" id="{4AE65225-A02C-D2D7-5352-3CDB80DF71FF}"/>
                </a:ext>
              </a:extLst>
            </p:cNvPr>
            <p:cNvSpPr/>
            <p:nvPr/>
          </p:nvSpPr>
          <p:spPr>
            <a:xfrm>
              <a:off x="7467124" y="3129976"/>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51DDC4DE-B612-F1F5-02FC-0C5271048953}"/>
                </a:ext>
              </a:extLst>
            </p:cNvPr>
            <p:cNvSpPr/>
            <p:nvPr/>
          </p:nvSpPr>
          <p:spPr>
            <a:xfrm>
              <a:off x="7467124" y="3623663"/>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872A9A96-60CB-E2CA-137E-3BE801052A37}"/>
                </a:ext>
              </a:extLst>
            </p:cNvPr>
            <p:cNvSpPr/>
            <p:nvPr/>
          </p:nvSpPr>
          <p:spPr>
            <a:xfrm>
              <a:off x="7467124" y="4127265"/>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55" name="Straight Connector 54">
              <a:extLst>
                <a:ext uri="{FF2B5EF4-FFF2-40B4-BE49-F238E27FC236}">
                  <a16:creationId xmlns:a16="http://schemas.microsoft.com/office/drawing/2014/main" id="{E2F7D171-A278-8C9D-8CD8-9FFDAE657435}"/>
                </a:ext>
              </a:extLst>
            </p:cNvPr>
            <p:cNvCxnSpPr>
              <a:cxnSpLocks/>
              <a:endCxn id="52" idx="2"/>
            </p:cNvCxnSpPr>
            <p:nvPr/>
          </p:nvCxnSpPr>
          <p:spPr>
            <a:xfrm>
              <a:off x="6411015" y="2823984"/>
              <a:ext cx="1056108" cy="49302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6DD88EE4-8BE1-B7D9-0E65-2E031152C47E}"/>
                </a:ext>
              </a:extLst>
            </p:cNvPr>
            <p:cNvCxnSpPr>
              <a:cxnSpLocks/>
              <a:endCxn id="53" idx="2"/>
            </p:cNvCxnSpPr>
            <p:nvPr/>
          </p:nvCxnSpPr>
          <p:spPr>
            <a:xfrm>
              <a:off x="6411015" y="2823984"/>
              <a:ext cx="1056108" cy="98671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C269AC8-B775-8895-8D93-EB504C8E4441}"/>
                </a:ext>
              </a:extLst>
            </p:cNvPr>
            <p:cNvCxnSpPr>
              <a:cxnSpLocks/>
              <a:endCxn id="54" idx="2"/>
            </p:cNvCxnSpPr>
            <p:nvPr/>
          </p:nvCxnSpPr>
          <p:spPr>
            <a:xfrm>
              <a:off x="6411015" y="2823984"/>
              <a:ext cx="1056108" cy="149031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F333205B-EDF5-B5B4-E0F6-B8A4DBB85251}"/>
                </a:ext>
              </a:extLst>
            </p:cNvPr>
            <p:cNvCxnSpPr>
              <a:cxnSpLocks/>
              <a:endCxn id="52" idx="2"/>
            </p:cNvCxnSpPr>
            <p:nvPr/>
          </p:nvCxnSpPr>
          <p:spPr>
            <a:xfrm flipV="1">
              <a:off x="6411015" y="3317010"/>
              <a:ext cx="1056108" cy="66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9D0E7943-2495-3BEA-FBAB-AD8FE9E73DBF}"/>
                </a:ext>
              </a:extLst>
            </p:cNvPr>
            <p:cNvCxnSpPr>
              <a:cxnSpLocks/>
              <a:endCxn id="53" idx="2"/>
            </p:cNvCxnSpPr>
            <p:nvPr/>
          </p:nvCxnSpPr>
          <p:spPr>
            <a:xfrm>
              <a:off x="6411015" y="3317671"/>
              <a:ext cx="1056108" cy="49302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9B099D67-641E-08A0-219C-DD32E120AE9F}"/>
                </a:ext>
              </a:extLst>
            </p:cNvPr>
            <p:cNvCxnSpPr>
              <a:cxnSpLocks/>
              <a:endCxn id="54" idx="2"/>
            </p:cNvCxnSpPr>
            <p:nvPr/>
          </p:nvCxnSpPr>
          <p:spPr>
            <a:xfrm>
              <a:off x="6411015" y="3317671"/>
              <a:ext cx="1056108" cy="99662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06B1F811-631A-4365-5993-83144EF40A49}"/>
                </a:ext>
              </a:extLst>
            </p:cNvPr>
            <p:cNvCxnSpPr>
              <a:cxnSpLocks/>
              <a:endCxn id="52" idx="2"/>
            </p:cNvCxnSpPr>
            <p:nvPr/>
          </p:nvCxnSpPr>
          <p:spPr>
            <a:xfrm flipV="1">
              <a:off x="6411015" y="3317010"/>
              <a:ext cx="1056108" cy="50095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35F23D29-6092-30D5-D75B-65A0CF0B40C8}"/>
                </a:ext>
              </a:extLst>
            </p:cNvPr>
            <p:cNvCxnSpPr>
              <a:cxnSpLocks/>
              <a:endCxn id="53" idx="2"/>
            </p:cNvCxnSpPr>
            <p:nvPr/>
          </p:nvCxnSpPr>
          <p:spPr>
            <a:xfrm flipV="1">
              <a:off x="6411015" y="3810697"/>
              <a:ext cx="1056108" cy="727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CBB6BD4E-6542-FB3F-5F3E-AF0744A945C8}"/>
                </a:ext>
              </a:extLst>
            </p:cNvPr>
            <p:cNvCxnSpPr>
              <a:cxnSpLocks/>
              <a:endCxn id="54" idx="2"/>
            </p:cNvCxnSpPr>
            <p:nvPr/>
          </p:nvCxnSpPr>
          <p:spPr>
            <a:xfrm>
              <a:off x="6411015" y="3817968"/>
              <a:ext cx="1056108" cy="49633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A0B314CE-80DB-20A2-8332-CC7986F5AE24}"/>
                </a:ext>
              </a:extLst>
            </p:cNvPr>
            <p:cNvCxnSpPr>
              <a:cxnSpLocks/>
              <a:endCxn id="52" idx="2"/>
            </p:cNvCxnSpPr>
            <p:nvPr/>
          </p:nvCxnSpPr>
          <p:spPr>
            <a:xfrm flipV="1">
              <a:off x="6411019" y="3317010"/>
              <a:ext cx="1056105" cy="99795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8C6DB2DC-A400-29E5-6ED2-7B7D98841E16}"/>
                </a:ext>
              </a:extLst>
            </p:cNvPr>
            <p:cNvCxnSpPr>
              <a:cxnSpLocks/>
              <a:endCxn id="53" idx="2"/>
            </p:cNvCxnSpPr>
            <p:nvPr/>
          </p:nvCxnSpPr>
          <p:spPr>
            <a:xfrm flipV="1">
              <a:off x="6411019" y="3810697"/>
              <a:ext cx="1056105" cy="50426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52436D7-3709-E106-DD92-8A4DF72DDCE7}"/>
                </a:ext>
              </a:extLst>
            </p:cNvPr>
            <p:cNvCxnSpPr>
              <a:cxnSpLocks/>
              <a:endCxn id="54" idx="2"/>
            </p:cNvCxnSpPr>
            <p:nvPr/>
          </p:nvCxnSpPr>
          <p:spPr>
            <a:xfrm flipV="1">
              <a:off x="6411019" y="4314299"/>
              <a:ext cx="1056105" cy="66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DFDB4B40-90FA-C59B-3BCF-10E5FA1C0149}"/>
                </a:ext>
              </a:extLst>
            </p:cNvPr>
            <p:cNvCxnSpPr>
              <a:cxnSpLocks/>
              <a:endCxn id="52" idx="2"/>
            </p:cNvCxnSpPr>
            <p:nvPr/>
          </p:nvCxnSpPr>
          <p:spPr>
            <a:xfrm flipV="1">
              <a:off x="6411015" y="3317010"/>
              <a:ext cx="1056108" cy="149494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FA7DF052-EE2D-656B-66A2-27612068DB0C}"/>
                </a:ext>
              </a:extLst>
            </p:cNvPr>
            <p:cNvCxnSpPr>
              <a:cxnSpLocks/>
              <a:endCxn id="53" idx="2"/>
            </p:cNvCxnSpPr>
            <p:nvPr/>
          </p:nvCxnSpPr>
          <p:spPr>
            <a:xfrm flipV="1">
              <a:off x="6411015" y="3810697"/>
              <a:ext cx="1056108" cy="100125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837B6AF5-1F6F-4E2E-4976-5A233C5576F5}"/>
                </a:ext>
              </a:extLst>
            </p:cNvPr>
            <p:cNvCxnSpPr>
              <a:cxnSpLocks/>
              <a:endCxn id="54" idx="2"/>
            </p:cNvCxnSpPr>
            <p:nvPr/>
          </p:nvCxnSpPr>
          <p:spPr>
            <a:xfrm flipV="1">
              <a:off x="6411015" y="4314299"/>
              <a:ext cx="1056108" cy="497652"/>
            </a:xfrm>
            <a:prstGeom prst="line">
              <a:avLst/>
            </a:prstGeom>
            <a:ln w="12700"/>
            <a:effectLst/>
          </p:spPr>
          <p:style>
            <a:lnRef idx="2">
              <a:schemeClr val="accent1"/>
            </a:lnRef>
            <a:fillRef idx="0">
              <a:schemeClr val="accent1"/>
            </a:fillRef>
            <a:effectRef idx="1">
              <a:schemeClr val="accent1"/>
            </a:effectRef>
            <a:fontRef idx="minor">
              <a:schemeClr val="tx1"/>
            </a:fontRef>
          </p:style>
        </p:cxnSp>
        <p:sp>
          <p:nvSpPr>
            <p:cNvPr id="73" name="Oval 72">
              <a:extLst>
                <a:ext uri="{FF2B5EF4-FFF2-40B4-BE49-F238E27FC236}">
                  <a16:creationId xmlns:a16="http://schemas.microsoft.com/office/drawing/2014/main" id="{E5CEA5EF-EE3B-FF39-38FC-36FC72820D27}"/>
                </a:ext>
              </a:extLst>
            </p:cNvPr>
            <p:cNvSpPr/>
            <p:nvPr/>
          </p:nvSpPr>
          <p:spPr>
            <a:xfrm flipH="1">
              <a:off x="10294544" y="2142602"/>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4" name="Oval 73">
              <a:extLst>
                <a:ext uri="{FF2B5EF4-FFF2-40B4-BE49-F238E27FC236}">
                  <a16:creationId xmlns:a16="http://schemas.microsoft.com/office/drawing/2014/main" id="{D8989094-EECD-E45C-9C88-9179910173B5}"/>
                </a:ext>
              </a:extLst>
            </p:cNvPr>
            <p:cNvSpPr/>
            <p:nvPr/>
          </p:nvSpPr>
          <p:spPr>
            <a:xfrm flipH="1">
              <a:off x="10294544" y="2636289"/>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326A9722-09D1-6ED2-1BBF-04B93B0000C3}"/>
                </a:ext>
              </a:extLst>
            </p:cNvPr>
            <p:cNvSpPr/>
            <p:nvPr/>
          </p:nvSpPr>
          <p:spPr>
            <a:xfrm flipH="1">
              <a:off x="10294544" y="3129976"/>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043B3541-E740-7D18-DCE9-93CD6919B2BD}"/>
                </a:ext>
              </a:extLst>
            </p:cNvPr>
            <p:cNvSpPr/>
            <p:nvPr/>
          </p:nvSpPr>
          <p:spPr>
            <a:xfrm flipH="1">
              <a:off x="10294544" y="3630273"/>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7" name="Oval 76">
              <a:extLst>
                <a:ext uri="{FF2B5EF4-FFF2-40B4-BE49-F238E27FC236}">
                  <a16:creationId xmlns:a16="http://schemas.microsoft.com/office/drawing/2014/main" id="{AAA3C19D-61C9-0AD0-8DCB-DB705F241EB3}"/>
                </a:ext>
              </a:extLst>
            </p:cNvPr>
            <p:cNvSpPr/>
            <p:nvPr/>
          </p:nvSpPr>
          <p:spPr>
            <a:xfrm flipH="1">
              <a:off x="10294544" y="4127265"/>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8" name="Oval 77">
              <a:extLst>
                <a:ext uri="{FF2B5EF4-FFF2-40B4-BE49-F238E27FC236}">
                  <a16:creationId xmlns:a16="http://schemas.microsoft.com/office/drawing/2014/main" id="{67CF9671-2582-DEB3-E448-A5DB107DCAAF}"/>
                </a:ext>
              </a:extLst>
            </p:cNvPr>
            <p:cNvSpPr/>
            <p:nvPr/>
          </p:nvSpPr>
          <p:spPr>
            <a:xfrm flipH="1">
              <a:off x="10294544" y="4624257"/>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9FF3A9E4-A35C-6015-AF9F-F9FA5399AFF1}"/>
                </a:ext>
              </a:extLst>
            </p:cNvPr>
            <p:cNvSpPr/>
            <p:nvPr/>
          </p:nvSpPr>
          <p:spPr>
            <a:xfrm flipH="1">
              <a:off x="10294544" y="5121250"/>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0" name="Oval 79">
              <a:extLst>
                <a:ext uri="{FF2B5EF4-FFF2-40B4-BE49-F238E27FC236}">
                  <a16:creationId xmlns:a16="http://schemas.microsoft.com/office/drawing/2014/main" id="{66F06603-67B9-B6DB-BA9D-25559A617EA1}"/>
                </a:ext>
              </a:extLst>
            </p:cNvPr>
            <p:cNvSpPr/>
            <p:nvPr/>
          </p:nvSpPr>
          <p:spPr>
            <a:xfrm flipH="1">
              <a:off x="8871679" y="2636289"/>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1" name="Oval 80">
              <a:extLst>
                <a:ext uri="{FF2B5EF4-FFF2-40B4-BE49-F238E27FC236}">
                  <a16:creationId xmlns:a16="http://schemas.microsoft.com/office/drawing/2014/main" id="{6C517E56-A4D1-BEE3-62A1-30CEA792FBBE}"/>
                </a:ext>
              </a:extLst>
            </p:cNvPr>
            <p:cNvSpPr/>
            <p:nvPr/>
          </p:nvSpPr>
          <p:spPr>
            <a:xfrm flipH="1">
              <a:off x="8871679" y="3129976"/>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2" name="Oval 81">
              <a:extLst>
                <a:ext uri="{FF2B5EF4-FFF2-40B4-BE49-F238E27FC236}">
                  <a16:creationId xmlns:a16="http://schemas.microsoft.com/office/drawing/2014/main" id="{E4FAE9BA-56D1-3F5F-E62F-C10AB921E124}"/>
                </a:ext>
              </a:extLst>
            </p:cNvPr>
            <p:cNvSpPr/>
            <p:nvPr/>
          </p:nvSpPr>
          <p:spPr>
            <a:xfrm flipH="1">
              <a:off x="8871679" y="3623663"/>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3" name="Oval 82">
              <a:extLst>
                <a:ext uri="{FF2B5EF4-FFF2-40B4-BE49-F238E27FC236}">
                  <a16:creationId xmlns:a16="http://schemas.microsoft.com/office/drawing/2014/main" id="{63C816DE-A731-008B-B3C1-DB681B3CD226}"/>
                </a:ext>
              </a:extLst>
            </p:cNvPr>
            <p:cNvSpPr/>
            <p:nvPr/>
          </p:nvSpPr>
          <p:spPr>
            <a:xfrm flipH="1">
              <a:off x="8871679" y="4127265"/>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4" name="Oval 83">
              <a:extLst>
                <a:ext uri="{FF2B5EF4-FFF2-40B4-BE49-F238E27FC236}">
                  <a16:creationId xmlns:a16="http://schemas.microsoft.com/office/drawing/2014/main" id="{1CE25696-EBF4-1FF8-67A5-A0D13FCA3545}"/>
                </a:ext>
              </a:extLst>
            </p:cNvPr>
            <p:cNvSpPr/>
            <p:nvPr/>
          </p:nvSpPr>
          <p:spPr>
            <a:xfrm flipH="1">
              <a:off x="8871679" y="4624257"/>
              <a:ext cx="372744" cy="37406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85" name="Straight Connector 84">
              <a:extLst>
                <a:ext uri="{FF2B5EF4-FFF2-40B4-BE49-F238E27FC236}">
                  <a16:creationId xmlns:a16="http://schemas.microsoft.com/office/drawing/2014/main" id="{E2F9D58A-DE29-2F93-51D0-340771AFD725}"/>
                </a:ext>
              </a:extLst>
            </p:cNvPr>
            <p:cNvCxnSpPr>
              <a:cxnSpLocks/>
            </p:cNvCxnSpPr>
            <p:nvPr/>
          </p:nvCxnSpPr>
          <p:spPr>
            <a:xfrm flipH="1">
              <a:off x="7812238" y="2823984"/>
              <a:ext cx="1056108" cy="49302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89A53AFF-E00D-E1EE-1262-252DB608F4AF}"/>
                </a:ext>
              </a:extLst>
            </p:cNvPr>
            <p:cNvCxnSpPr>
              <a:cxnSpLocks/>
            </p:cNvCxnSpPr>
            <p:nvPr/>
          </p:nvCxnSpPr>
          <p:spPr>
            <a:xfrm flipH="1">
              <a:off x="7812238" y="2823984"/>
              <a:ext cx="1056108" cy="98671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8F8DFCDB-809F-A76B-017D-32BE43BB2DC3}"/>
                </a:ext>
              </a:extLst>
            </p:cNvPr>
            <p:cNvCxnSpPr>
              <a:cxnSpLocks/>
            </p:cNvCxnSpPr>
            <p:nvPr/>
          </p:nvCxnSpPr>
          <p:spPr>
            <a:xfrm flipH="1">
              <a:off x="7812238" y="2823984"/>
              <a:ext cx="1056108" cy="149031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B5CA7D69-4E86-CEC0-A539-38CAF68A2688}"/>
                </a:ext>
              </a:extLst>
            </p:cNvPr>
            <p:cNvCxnSpPr>
              <a:cxnSpLocks/>
            </p:cNvCxnSpPr>
            <p:nvPr/>
          </p:nvCxnSpPr>
          <p:spPr>
            <a:xfrm flipH="1" flipV="1">
              <a:off x="7812238" y="3317010"/>
              <a:ext cx="1056108" cy="66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E00F82D6-5B42-2636-CB02-1B1A513C9862}"/>
                </a:ext>
              </a:extLst>
            </p:cNvPr>
            <p:cNvCxnSpPr>
              <a:cxnSpLocks/>
            </p:cNvCxnSpPr>
            <p:nvPr/>
          </p:nvCxnSpPr>
          <p:spPr>
            <a:xfrm flipH="1">
              <a:off x="7812238" y="3317671"/>
              <a:ext cx="1056108" cy="49302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B9464AF0-A559-9792-0E07-A892C1D025FF}"/>
                </a:ext>
              </a:extLst>
            </p:cNvPr>
            <p:cNvCxnSpPr>
              <a:cxnSpLocks/>
            </p:cNvCxnSpPr>
            <p:nvPr/>
          </p:nvCxnSpPr>
          <p:spPr>
            <a:xfrm flipH="1">
              <a:off x="7812238" y="3317671"/>
              <a:ext cx="1056108" cy="99662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FFD8FFB3-2D00-7CBD-0455-77FF1712784F}"/>
                </a:ext>
              </a:extLst>
            </p:cNvPr>
            <p:cNvCxnSpPr>
              <a:cxnSpLocks/>
            </p:cNvCxnSpPr>
            <p:nvPr/>
          </p:nvCxnSpPr>
          <p:spPr>
            <a:xfrm flipH="1" flipV="1">
              <a:off x="7812238" y="3317010"/>
              <a:ext cx="1056108" cy="50095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9CF3FF42-5C02-7C10-16E3-09B6029226E5}"/>
                </a:ext>
              </a:extLst>
            </p:cNvPr>
            <p:cNvCxnSpPr>
              <a:cxnSpLocks/>
            </p:cNvCxnSpPr>
            <p:nvPr/>
          </p:nvCxnSpPr>
          <p:spPr>
            <a:xfrm flipH="1" flipV="1">
              <a:off x="7812238" y="3810697"/>
              <a:ext cx="1056108" cy="727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057A56E0-61FB-D9BA-0378-7469D2997707}"/>
                </a:ext>
              </a:extLst>
            </p:cNvPr>
            <p:cNvCxnSpPr>
              <a:cxnSpLocks/>
            </p:cNvCxnSpPr>
            <p:nvPr/>
          </p:nvCxnSpPr>
          <p:spPr>
            <a:xfrm flipH="1">
              <a:off x="7812238" y="3817968"/>
              <a:ext cx="1056108" cy="49633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5E265857-AC8E-C2B7-B1DE-C6FB7689B6FA}"/>
                </a:ext>
              </a:extLst>
            </p:cNvPr>
            <p:cNvCxnSpPr>
              <a:cxnSpLocks/>
            </p:cNvCxnSpPr>
            <p:nvPr/>
          </p:nvCxnSpPr>
          <p:spPr>
            <a:xfrm flipH="1" flipV="1">
              <a:off x="7812241" y="3317010"/>
              <a:ext cx="1056105" cy="99795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06A99809-E633-62FB-72D1-EC27D65E1890}"/>
                </a:ext>
              </a:extLst>
            </p:cNvPr>
            <p:cNvCxnSpPr>
              <a:cxnSpLocks/>
            </p:cNvCxnSpPr>
            <p:nvPr/>
          </p:nvCxnSpPr>
          <p:spPr>
            <a:xfrm flipH="1" flipV="1">
              <a:off x="7812241" y="3810697"/>
              <a:ext cx="1056105" cy="50426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6A111D82-A52C-BE6C-725A-2853AE12CBED}"/>
                </a:ext>
              </a:extLst>
            </p:cNvPr>
            <p:cNvCxnSpPr>
              <a:cxnSpLocks/>
            </p:cNvCxnSpPr>
            <p:nvPr/>
          </p:nvCxnSpPr>
          <p:spPr>
            <a:xfrm flipH="1" flipV="1">
              <a:off x="7812241" y="4314299"/>
              <a:ext cx="1056105" cy="66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AF4828DD-E0D0-AF6F-6958-A98E2DB317E5}"/>
                </a:ext>
              </a:extLst>
            </p:cNvPr>
            <p:cNvCxnSpPr>
              <a:cxnSpLocks/>
            </p:cNvCxnSpPr>
            <p:nvPr/>
          </p:nvCxnSpPr>
          <p:spPr>
            <a:xfrm flipH="1" flipV="1">
              <a:off x="7812238" y="3317010"/>
              <a:ext cx="1056108" cy="149494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C6BE0E9D-D31B-F86D-386D-24F87EAC3607}"/>
                </a:ext>
              </a:extLst>
            </p:cNvPr>
            <p:cNvCxnSpPr>
              <a:cxnSpLocks/>
            </p:cNvCxnSpPr>
            <p:nvPr/>
          </p:nvCxnSpPr>
          <p:spPr>
            <a:xfrm flipH="1" flipV="1">
              <a:off x="7812238" y="3810697"/>
              <a:ext cx="1056108" cy="100125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75B5E261-C0ED-F434-B9E5-3C6A17585923}"/>
                </a:ext>
              </a:extLst>
            </p:cNvPr>
            <p:cNvCxnSpPr>
              <a:cxnSpLocks/>
            </p:cNvCxnSpPr>
            <p:nvPr/>
          </p:nvCxnSpPr>
          <p:spPr>
            <a:xfrm flipH="1" flipV="1">
              <a:off x="7812238" y="4314299"/>
              <a:ext cx="1056108" cy="49765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B26E9AEB-BD9A-8181-2578-65CAB89F2587}"/>
                </a:ext>
              </a:extLst>
            </p:cNvPr>
            <p:cNvCxnSpPr>
              <a:cxnSpLocks/>
            </p:cNvCxnSpPr>
            <p:nvPr/>
          </p:nvCxnSpPr>
          <p:spPr>
            <a:xfrm flipH="1">
              <a:off x="9243027" y="2329636"/>
              <a:ext cx="1056108" cy="49368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CFF55AF5-3327-9244-FCAF-1D660021DF68}"/>
                </a:ext>
              </a:extLst>
            </p:cNvPr>
            <p:cNvCxnSpPr>
              <a:cxnSpLocks/>
            </p:cNvCxnSpPr>
            <p:nvPr/>
          </p:nvCxnSpPr>
          <p:spPr>
            <a:xfrm flipH="1">
              <a:off x="9243027" y="2329636"/>
              <a:ext cx="1056108" cy="98737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A0EDCD84-C122-4330-AC40-DE80416C1D26}"/>
                </a:ext>
              </a:extLst>
            </p:cNvPr>
            <p:cNvCxnSpPr>
              <a:cxnSpLocks/>
            </p:cNvCxnSpPr>
            <p:nvPr/>
          </p:nvCxnSpPr>
          <p:spPr>
            <a:xfrm flipH="1">
              <a:off x="9243027" y="2329636"/>
              <a:ext cx="1056108" cy="148106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B270B407-E0D9-5097-2702-37B07EEF8CDC}"/>
                </a:ext>
              </a:extLst>
            </p:cNvPr>
            <p:cNvCxnSpPr>
              <a:cxnSpLocks/>
            </p:cNvCxnSpPr>
            <p:nvPr/>
          </p:nvCxnSpPr>
          <p:spPr>
            <a:xfrm flipH="1">
              <a:off x="9243027" y="2329636"/>
              <a:ext cx="1056108" cy="198466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54535F0F-956C-5198-DD40-4F6727433F24}"/>
                </a:ext>
              </a:extLst>
            </p:cNvPr>
            <p:cNvCxnSpPr>
              <a:cxnSpLocks/>
            </p:cNvCxnSpPr>
            <p:nvPr/>
          </p:nvCxnSpPr>
          <p:spPr>
            <a:xfrm flipH="1">
              <a:off x="9243027" y="2329636"/>
              <a:ext cx="1056108" cy="248165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437B3CBF-EDC2-8B2B-02A4-04AA6C1FBB26}"/>
                </a:ext>
              </a:extLst>
            </p:cNvPr>
            <p:cNvCxnSpPr>
              <a:cxnSpLocks/>
            </p:cNvCxnSpPr>
            <p:nvPr/>
          </p:nvCxnSpPr>
          <p:spPr>
            <a:xfrm flipH="1">
              <a:off x="9243027" y="2823323"/>
              <a:ext cx="1056108" cy="49368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3FE93199-262D-A962-1D7C-34E11B700DCC}"/>
                </a:ext>
              </a:extLst>
            </p:cNvPr>
            <p:cNvCxnSpPr>
              <a:cxnSpLocks/>
            </p:cNvCxnSpPr>
            <p:nvPr/>
          </p:nvCxnSpPr>
          <p:spPr>
            <a:xfrm flipH="1">
              <a:off x="9243027" y="2823323"/>
              <a:ext cx="1056108" cy="98737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618A02DF-E5CC-E8A6-C8FE-FACA7C26997F}"/>
                </a:ext>
              </a:extLst>
            </p:cNvPr>
            <p:cNvCxnSpPr>
              <a:cxnSpLocks/>
            </p:cNvCxnSpPr>
            <p:nvPr/>
          </p:nvCxnSpPr>
          <p:spPr>
            <a:xfrm flipH="1">
              <a:off x="9243027" y="2823323"/>
              <a:ext cx="1056108" cy="149097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1A37FC30-44C8-D2B4-169A-D8A49006FD78}"/>
                </a:ext>
              </a:extLst>
            </p:cNvPr>
            <p:cNvCxnSpPr>
              <a:cxnSpLocks/>
            </p:cNvCxnSpPr>
            <p:nvPr/>
          </p:nvCxnSpPr>
          <p:spPr>
            <a:xfrm flipH="1">
              <a:off x="9243027" y="2823323"/>
              <a:ext cx="1056108" cy="1987968"/>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1AAC8686-241C-BC63-D15D-4DFEA36391DB}"/>
                </a:ext>
              </a:extLst>
            </p:cNvPr>
            <p:cNvCxnSpPr>
              <a:cxnSpLocks/>
            </p:cNvCxnSpPr>
            <p:nvPr/>
          </p:nvCxnSpPr>
          <p:spPr>
            <a:xfrm flipH="1">
              <a:off x="9243027" y="2823323"/>
              <a:ext cx="1056108"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EB711EC8-D678-212E-8E8E-9C77BFCFF14E}"/>
                </a:ext>
              </a:extLst>
            </p:cNvPr>
            <p:cNvCxnSpPr>
              <a:cxnSpLocks/>
            </p:cNvCxnSpPr>
            <p:nvPr/>
          </p:nvCxnSpPr>
          <p:spPr>
            <a:xfrm flipH="1" flipV="1">
              <a:off x="9243027" y="2823323"/>
              <a:ext cx="1056108" cy="49368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F00E24C7-8F14-8AFE-42D1-9813AE79EFAA}"/>
                </a:ext>
              </a:extLst>
            </p:cNvPr>
            <p:cNvCxnSpPr>
              <a:cxnSpLocks/>
            </p:cNvCxnSpPr>
            <p:nvPr/>
          </p:nvCxnSpPr>
          <p:spPr>
            <a:xfrm flipH="1">
              <a:off x="9243027" y="3317010"/>
              <a:ext cx="1056108"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B8B62D0D-78C3-3E29-2C72-DF50070A0F29}"/>
                </a:ext>
              </a:extLst>
            </p:cNvPr>
            <p:cNvCxnSpPr>
              <a:cxnSpLocks/>
            </p:cNvCxnSpPr>
            <p:nvPr/>
          </p:nvCxnSpPr>
          <p:spPr>
            <a:xfrm flipH="1">
              <a:off x="9243027" y="3317010"/>
              <a:ext cx="1056108" cy="49368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D025A2B7-860C-FD54-C69E-89EF96BB2A0C}"/>
                </a:ext>
              </a:extLst>
            </p:cNvPr>
            <p:cNvCxnSpPr>
              <a:cxnSpLocks/>
            </p:cNvCxnSpPr>
            <p:nvPr/>
          </p:nvCxnSpPr>
          <p:spPr>
            <a:xfrm flipH="1">
              <a:off x="9243027" y="3317010"/>
              <a:ext cx="1056108" cy="99728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64506E5F-EC36-FC4C-EB27-8A975A022D97}"/>
                </a:ext>
              </a:extLst>
            </p:cNvPr>
            <p:cNvCxnSpPr>
              <a:cxnSpLocks/>
            </p:cNvCxnSpPr>
            <p:nvPr/>
          </p:nvCxnSpPr>
          <p:spPr>
            <a:xfrm flipH="1">
              <a:off x="9243027" y="3317010"/>
              <a:ext cx="1056108" cy="149428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DC80A06F-A40B-AD98-6E87-06C325D51A0A}"/>
                </a:ext>
              </a:extLst>
            </p:cNvPr>
            <p:cNvCxnSpPr>
              <a:cxnSpLocks/>
            </p:cNvCxnSpPr>
            <p:nvPr/>
          </p:nvCxnSpPr>
          <p:spPr>
            <a:xfrm flipH="1" flipV="1">
              <a:off x="9243027" y="2823323"/>
              <a:ext cx="1056108" cy="99398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73ECA044-F19B-A7D1-265B-DE7BF25A29E1}"/>
                </a:ext>
              </a:extLst>
            </p:cNvPr>
            <p:cNvCxnSpPr>
              <a:cxnSpLocks/>
            </p:cNvCxnSpPr>
            <p:nvPr/>
          </p:nvCxnSpPr>
          <p:spPr>
            <a:xfrm flipH="1" flipV="1">
              <a:off x="9243027" y="3317010"/>
              <a:ext cx="1056108" cy="50029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FC51291F-92A1-D668-181A-2EA21E0D747B}"/>
                </a:ext>
              </a:extLst>
            </p:cNvPr>
            <p:cNvCxnSpPr>
              <a:cxnSpLocks/>
            </p:cNvCxnSpPr>
            <p:nvPr/>
          </p:nvCxnSpPr>
          <p:spPr>
            <a:xfrm flipH="1" flipV="1">
              <a:off x="9243027" y="3810697"/>
              <a:ext cx="1056108" cy="661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D5F94B07-A8C9-6864-AE47-BACBB5CA3A71}"/>
                </a:ext>
              </a:extLst>
            </p:cNvPr>
            <p:cNvCxnSpPr>
              <a:cxnSpLocks/>
            </p:cNvCxnSpPr>
            <p:nvPr/>
          </p:nvCxnSpPr>
          <p:spPr>
            <a:xfrm flipH="1">
              <a:off x="9243027" y="3817307"/>
              <a:ext cx="1056108" cy="49699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E38A29D8-8BEF-8205-9943-D1B409DC6D8F}"/>
                </a:ext>
              </a:extLst>
            </p:cNvPr>
            <p:cNvCxnSpPr>
              <a:cxnSpLocks/>
            </p:cNvCxnSpPr>
            <p:nvPr/>
          </p:nvCxnSpPr>
          <p:spPr>
            <a:xfrm flipH="1">
              <a:off x="9243027" y="3817307"/>
              <a:ext cx="1056108" cy="99398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4731E17B-F72C-BCE0-7116-0D5AEA45668D}"/>
                </a:ext>
              </a:extLst>
            </p:cNvPr>
            <p:cNvCxnSpPr>
              <a:cxnSpLocks/>
            </p:cNvCxnSpPr>
            <p:nvPr/>
          </p:nvCxnSpPr>
          <p:spPr>
            <a:xfrm flipH="1" flipV="1">
              <a:off x="9243031" y="2823323"/>
              <a:ext cx="1056105" cy="149097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728C1E86-64DC-7573-33B7-A7E8A96D24B4}"/>
                </a:ext>
              </a:extLst>
            </p:cNvPr>
            <p:cNvCxnSpPr>
              <a:cxnSpLocks/>
            </p:cNvCxnSpPr>
            <p:nvPr/>
          </p:nvCxnSpPr>
          <p:spPr>
            <a:xfrm flipH="1" flipV="1">
              <a:off x="9243031" y="3317010"/>
              <a:ext cx="1056105" cy="99728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EDFF4369-ADE6-9D47-4AD3-F922D8E7F116}"/>
                </a:ext>
              </a:extLst>
            </p:cNvPr>
            <p:cNvCxnSpPr>
              <a:cxnSpLocks/>
            </p:cNvCxnSpPr>
            <p:nvPr/>
          </p:nvCxnSpPr>
          <p:spPr>
            <a:xfrm flipH="1" flipV="1">
              <a:off x="9243031" y="3810697"/>
              <a:ext cx="1056105" cy="50360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C80E7F6-9B56-988F-BB2E-B3CEE0EC3D04}"/>
                </a:ext>
              </a:extLst>
            </p:cNvPr>
            <p:cNvCxnSpPr>
              <a:cxnSpLocks/>
            </p:cNvCxnSpPr>
            <p:nvPr/>
          </p:nvCxnSpPr>
          <p:spPr>
            <a:xfrm flipH="1">
              <a:off x="9243031" y="4314299"/>
              <a:ext cx="1056105"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BDE8F385-0DDA-3FDC-C002-875C6FE0898E}"/>
                </a:ext>
              </a:extLst>
            </p:cNvPr>
            <p:cNvCxnSpPr>
              <a:cxnSpLocks/>
            </p:cNvCxnSpPr>
            <p:nvPr/>
          </p:nvCxnSpPr>
          <p:spPr>
            <a:xfrm flipH="1">
              <a:off x="9243031" y="4314299"/>
              <a:ext cx="1056105" cy="49699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A9694B7D-2EEE-EE61-2779-71366267AF8D}"/>
                </a:ext>
              </a:extLst>
            </p:cNvPr>
            <p:cNvCxnSpPr>
              <a:cxnSpLocks/>
            </p:cNvCxnSpPr>
            <p:nvPr/>
          </p:nvCxnSpPr>
          <p:spPr>
            <a:xfrm flipH="1" flipV="1">
              <a:off x="9243027" y="2823323"/>
              <a:ext cx="1056108" cy="1987968"/>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6700931D-64BC-A235-11F2-0DFD61B4528E}"/>
                </a:ext>
              </a:extLst>
            </p:cNvPr>
            <p:cNvCxnSpPr>
              <a:cxnSpLocks/>
            </p:cNvCxnSpPr>
            <p:nvPr/>
          </p:nvCxnSpPr>
          <p:spPr>
            <a:xfrm flipH="1" flipV="1">
              <a:off x="9243027" y="3317010"/>
              <a:ext cx="1056108" cy="149428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1B452F11-33F9-BACD-5BC9-F8A46EAF5569}"/>
                </a:ext>
              </a:extLst>
            </p:cNvPr>
            <p:cNvCxnSpPr>
              <a:cxnSpLocks/>
            </p:cNvCxnSpPr>
            <p:nvPr/>
          </p:nvCxnSpPr>
          <p:spPr>
            <a:xfrm flipH="1" flipV="1">
              <a:off x="9243027" y="3810697"/>
              <a:ext cx="1056108" cy="100059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66DC3C2B-CC8D-C8CD-2F74-47C8754BC620}"/>
                </a:ext>
              </a:extLst>
            </p:cNvPr>
            <p:cNvCxnSpPr>
              <a:cxnSpLocks/>
            </p:cNvCxnSpPr>
            <p:nvPr/>
          </p:nvCxnSpPr>
          <p:spPr>
            <a:xfrm flipH="1" flipV="1">
              <a:off x="9243027" y="4314299"/>
              <a:ext cx="1056108" cy="49699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F772967F-2154-ED04-A641-C57B412C33FF}"/>
                </a:ext>
              </a:extLst>
            </p:cNvPr>
            <p:cNvCxnSpPr>
              <a:cxnSpLocks/>
            </p:cNvCxnSpPr>
            <p:nvPr/>
          </p:nvCxnSpPr>
          <p:spPr>
            <a:xfrm flipH="1">
              <a:off x="9243027" y="4811292"/>
              <a:ext cx="1056108"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A8A309B6-8EE4-05FA-EE7D-5F1DDB2D7CF5}"/>
                </a:ext>
              </a:extLst>
            </p:cNvPr>
            <p:cNvCxnSpPr>
              <a:cxnSpLocks/>
            </p:cNvCxnSpPr>
            <p:nvPr/>
          </p:nvCxnSpPr>
          <p:spPr>
            <a:xfrm flipH="1" flipV="1">
              <a:off x="9243027" y="2823323"/>
              <a:ext cx="1056108" cy="248496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18BF7D2C-4361-6014-0EFB-9EEB7A5D42F9}"/>
                </a:ext>
              </a:extLst>
            </p:cNvPr>
            <p:cNvCxnSpPr>
              <a:cxnSpLocks/>
            </p:cNvCxnSpPr>
            <p:nvPr/>
          </p:nvCxnSpPr>
          <p:spPr>
            <a:xfrm flipH="1" flipV="1">
              <a:off x="9243027" y="3317010"/>
              <a:ext cx="1056108" cy="199127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E9CEA69D-FAF3-85C9-41B4-5EA884EB9435}"/>
                </a:ext>
              </a:extLst>
            </p:cNvPr>
            <p:cNvCxnSpPr>
              <a:cxnSpLocks/>
            </p:cNvCxnSpPr>
            <p:nvPr/>
          </p:nvCxnSpPr>
          <p:spPr>
            <a:xfrm flipH="1" flipV="1">
              <a:off x="9243027" y="3810697"/>
              <a:ext cx="1056108" cy="149758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F86FA782-8E9F-7BA5-31B6-249638805145}"/>
                </a:ext>
              </a:extLst>
            </p:cNvPr>
            <p:cNvCxnSpPr>
              <a:cxnSpLocks/>
            </p:cNvCxnSpPr>
            <p:nvPr/>
          </p:nvCxnSpPr>
          <p:spPr>
            <a:xfrm flipH="1" flipV="1">
              <a:off x="9243027" y="4314299"/>
              <a:ext cx="1056108" cy="99398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23EE12C2-AF0F-9C44-CF4C-D577FCCD0D07}"/>
                </a:ext>
              </a:extLst>
            </p:cNvPr>
            <p:cNvCxnSpPr>
              <a:cxnSpLocks/>
            </p:cNvCxnSpPr>
            <p:nvPr/>
          </p:nvCxnSpPr>
          <p:spPr>
            <a:xfrm flipH="1" flipV="1">
              <a:off x="9243027" y="4811292"/>
              <a:ext cx="1056108" cy="496992"/>
            </a:xfrm>
            <a:prstGeom prst="line">
              <a:avLst/>
            </a:prstGeom>
            <a:ln w="12700"/>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15749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10A09-2BDE-E085-B718-4D571D4F041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CF61286-E979-A8F7-787D-463318A9B2D2}"/>
              </a:ext>
            </a:extLst>
          </p:cNvPr>
          <p:cNvSpPr/>
          <p:nvPr/>
        </p:nvSpPr>
        <p:spPr>
          <a:xfrm>
            <a:off x="0" y="0"/>
            <a:ext cx="12192000" cy="685800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5AF77E1B-B3C5-B7AD-CAD5-05E29E89AA9A}"/>
              </a:ext>
            </a:extLst>
          </p:cNvPr>
          <p:cNvGrpSpPr/>
          <p:nvPr/>
        </p:nvGrpSpPr>
        <p:grpSpPr>
          <a:xfrm>
            <a:off x="3037562" y="370562"/>
            <a:ext cx="6116875" cy="6116875"/>
            <a:chOff x="3037562" y="370562"/>
            <a:chExt cx="6116875" cy="6116875"/>
          </a:xfrm>
        </p:grpSpPr>
        <p:sp>
          <p:nvSpPr>
            <p:cNvPr id="10" name="Oval 9">
              <a:extLst>
                <a:ext uri="{FF2B5EF4-FFF2-40B4-BE49-F238E27FC236}">
                  <a16:creationId xmlns:a16="http://schemas.microsoft.com/office/drawing/2014/main" id="{D2A70155-1A0C-3EF1-14D6-E13994A7EEBF}"/>
                </a:ext>
              </a:extLst>
            </p:cNvPr>
            <p:cNvSpPr/>
            <p:nvPr/>
          </p:nvSpPr>
          <p:spPr>
            <a:xfrm>
              <a:off x="3037562" y="370562"/>
              <a:ext cx="6116875" cy="6116875"/>
            </a:xfrm>
            <a:prstGeom prst="ellipse">
              <a:avLst/>
            </a:prstGeom>
            <a:solidFill>
              <a:schemeClr val="accent1">
                <a:lumMod val="50000"/>
              </a:scheme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1" name="Oval 10">
              <a:extLst>
                <a:ext uri="{FF2B5EF4-FFF2-40B4-BE49-F238E27FC236}">
                  <a16:creationId xmlns:a16="http://schemas.microsoft.com/office/drawing/2014/main" id="{E5CA9E17-B891-4238-1369-48BF995B149B}"/>
                </a:ext>
              </a:extLst>
            </p:cNvPr>
            <p:cNvSpPr/>
            <p:nvPr/>
          </p:nvSpPr>
          <p:spPr>
            <a:xfrm>
              <a:off x="3547929" y="1097959"/>
              <a:ext cx="5096140" cy="5234278"/>
            </a:xfrm>
            <a:prstGeom prst="ellipse">
              <a:avLst/>
            </a:prstGeom>
            <a:solidFill>
              <a:schemeClr val="accent1">
                <a:lumMod val="75000"/>
              </a:scheme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Oval 11">
              <a:extLst>
                <a:ext uri="{FF2B5EF4-FFF2-40B4-BE49-F238E27FC236}">
                  <a16:creationId xmlns:a16="http://schemas.microsoft.com/office/drawing/2014/main" id="{2347C465-8B5F-533C-FA6F-833E6851C8E9}"/>
                </a:ext>
              </a:extLst>
            </p:cNvPr>
            <p:cNvSpPr/>
            <p:nvPr/>
          </p:nvSpPr>
          <p:spPr>
            <a:xfrm>
              <a:off x="3968959" y="1916997"/>
              <a:ext cx="4254081" cy="4254081"/>
            </a:xfrm>
            <a:prstGeom prst="ellipse">
              <a:avLst/>
            </a:prstGeom>
            <a:solidFill>
              <a:schemeClr val="accent1">
                <a:lumMod val="60000"/>
                <a:lumOff val="40000"/>
              </a:scheme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3" name="TextBox 12">
              <a:extLst>
                <a:ext uri="{FF2B5EF4-FFF2-40B4-BE49-F238E27FC236}">
                  <a16:creationId xmlns:a16="http://schemas.microsoft.com/office/drawing/2014/main" id="{CC4D2500-796A-EEE4-527A-743F5078D302}"/>
                </a:ext>
              </a:extLst>
            </p:cNvPr>
            <p:cNvSpPr txBox="1"/>
            <p:nvPr/>
          </p:nvSpPr>
          <p:spPr>
            <a:xfrm>
              <a:off x="4839700" y="2237735"/>
              <a:ext cx="2512599"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Arial" panose="020B0604020202020204" pitchFamily="34" charset="0"/>
                </a:rPr>
                <a:t>Neural Networks</a:t>
              </a:r>
            </a:p>
          </p:txBody>
        </p:sp>
        <p:sp>
          <p:nvSpPr>
            <p:cNvPr id="14" name="TextBox 13">
              <a:extLst>
                <a:ext uri="{FF2B5EF4-FFF2-40B4-BE49-F238E27FC236}">
                  <a16:creationId xmlns:a16="http://schemas.microsoft.com/office/drawing/2014/main" id="{92545FE5-6F0E-8BAA-9592-E5AD7A3B8C48}"/>
                </a:ext>
              </a:extLst>
            </p:cNvPr>
            <p:cNvSpPr txBox="1"/>
            <p:nvPr/>
          </p:nvSpPr>
          <p:spPr>
            <a:xfrm>
              <a:off x="4618100" y="607030"/>
              <a:ext cx="2955799"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Arial" panose="020B0604020202020204" pitchFamily="34" charset="0"/>
                </a:rPr>
                <a:t>Artificial Intelligence</a:t>
              </a:r>
            </a:p>
          </p:txBody>
        </p:sp>
        <p:sp>
          <p:nvSpPr>
            <p:cNvPr id="15" name="TextBox 14">
              <a:extLst>
                <a:ext uri="{FF2B5EF4-FFF2-40B4-BE49-F238E27FC236}">
                  <a16:creationId xmlns:a16="http://schemas.microsoft.com/office/drawing/2014/main" id="{D621160D-5267-DDE3-FE54-857848D61EB1}"/>
                </a:ext>
              </a:extLst>
            </p:cNvPr>
            <p:cNvSpPr txBox="1"/>
            <p:nvPr/>
          </p:nvSpPr>
          <p:spPr>
            <a:xfrm>
              <a:off x="4754469" y="1418696"/>
              <a:ext cx="2683060"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Arial" panose="020B0604020202020204" pitchFamily="34" charset="0"/>
                </a:rPr>
                <a:t>Machine Learning</a:t>
              </a:r>
            </a:p>
          </p:txBody>
        </p:sp>
        <p:sp>
          <p:nvSpPr>
            <p:cNvPr id="16" name="Oval 15">
              <a:extLst>
                <a:ext uri="{FF2B5EF4-FFF2-40B4-BE49-F238E27FC236}">
                  <a16:creationId xmlns:a16="http://schemas.microsoft.com/office/drawing/2014/main" id="{A4137F93-7FBC-4F62-DC13-57813291B859}"/>
                </a:ext>
              </a:extLst>
            </p:cNvPr>
            <p:cNvSpPr/>
            <p:nvPr/>
          </p:nvSpPr>
          <p:spPr>
            <a:xfrm>
              <a:off x="4495287" y="2850323"/>
              <a:ext cx="3201425" cy="3199094"/>
            </a:xfrm>
            <a:prstGeom prst="ellipse">
              <a:avLst/>
            </a:prstGeom>
            <a:solidFill>
              <a:schemeClr val="accent1">
                <a:lumMod val="40000"/>
                <a:lumOff val="60000"/>
              </a:scheme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7" name="TextBox 16">
              <a:extLst>
                <a:ext uri="{FF2B5EF4-FFF2-40B4-BE49-F238E27FC236}">
                  <a16:creationId xmlns:a16="http://schemas.microsoft.com/office/drawing/2014/main" id="{9C181C9C-35CB-EE40-B836-994658CE2E55}"/>
                </a:ext>
              </a:extLst>
            </p:cNvPr>
            <p:cNvSpPr txBox="1"/>
            <p:nvPr/>
          </p:nvSpPr>
          <p:spPr>
            <a:xfrm>
              <a:off x="4967545" y="3266257"/>
              <a:ext cx="2256908"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Arial" panose="020B0604020202020204" pitchFamily="34" charset="0"/>
                </a:rPr>
                <a:t>Deep Learning</a:t>
              </a:r>
            </a:p>
          </p:txBody>
        </p:sp>
        <p:sp>
          <p:nvSpPr>
            <p:cNvPr id="18" name="Oval 17">
              <a:extLst>
                <a:ext uri="{FF2B5EF4-FFF2-40B4-BE49-F238E27FC236}">
                  <a16:creationId xmlns:a16="http://schemas.microsoft.com/office/drawing/2014/main" id="{9C63FDAE-452B-D1C9-099C-493E5FE728ED}"/>
                </a:ext>
              </a:extLst>
            </p:cNvPr>
            <p:cNvSpPr/>
            <p:nvPr/>
          </p:nvSpPr>
          <p:spPr>
            <a:xfrm>
              <a:off x="5010947" y="3734891"/>
              <a:ext cx="2170105" cy="2168526"/>
            </a:xfrm>
            <a:prstGeom prst="ellipse">
              <a:avLst/>
            </a:prstGeom>
            <a:solidFill>
              <a:schemeClr val="accent1">
                <a:lumMod val="20000"/>
                <a:lumOff val="80000"/>
              </a:scheme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9" name="TextBox 18">
              <a:extLst>
                <a:ext uri="{FF2B5EF4-FFF2-40B4-BE49-F238E27FC236}">
                  <a16:creationId xmlns:a16="http://schemas.microsoft.com/office/drawing/2014/main" id="{5513D326-2BE5-EC71-89AB-92993E881B44}"/>
                </a:ext>
              </a:extLst>
            </p:cNvPr>
            <p:cNvSpPr txBox="1"/>
            <p:nvPr/>
          </p:nvSpPr>
          <p:spPr>
            <a:xfrm>
              <a:off x="5067010" y="4119581"/>
              <a:ext cx="2057979"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Arial" panose="020B0604020202020204" pitchFamily="34" charset="0"/>
                </a:rPr>
                <a:t>Transformer</a:t>
              </a:r>
            </a:p>
          </p:txBody>
        </p:sp>
        <p:sp>
          <p:nvSpPr>
            <p:cNvPr id="20" name="Oval 19">
              <a:extLst>
                <a:ext uri="{FF2B5EF4-FFF2-40B4-BE49-F238E27FC236}">
                  <a16:creationId xmlns:a16="http://schemas.microsoft.com/office/drawing/2014/main" id="{E9E9DB9F-E08D-AB42-B949-0E16B17D88EE}"/>
                </a:ext>
              </a:extLst>
            </p:cNvPr>
            <p:cNvSpPr/>
            <p:nvPr/>
          </p:nvSpPr>
          <p:spPr>
            <a:xfrm>
              <a:off x="5496275" y="4690512"/>
              <a:ext cx="1199448" cy="1095245"/>
            </a:xfrm>
            <a:prstGeom prst="ellipse">
              <a:avLst/>
            </a:prstGeom>
            <a:solidFill>
              <a:schemeClr val="bg2">
                <a:lumMod val="20000"/>
                <a:lumOff val="80000"/>
              </a:scheme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1" name="TextBox 20">
              <a:extLst>
                <a:ext uri="{FF2B5EF4-FFF2-40B4-BE49-F238E27FC236}">
                  <a16:creationId xmlns:a16="http://schemas.microsoft.com/office/drawing/2014/main" id="{9358FBD4-7ADF-767A-53FC-1ABE332FBDBC}"/>
                </a:ext>
              </a:extLst>
            </p:cNvPr>
            <p:cNvSpPr txBox="1"/>
            <p:nvPr/>
          </p:nvSpPr>
          <p:spPr>
            <a:xfrm>
              <a:off x="5629794" y="5004089"/>
              <a:ext cx="932411"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effectLst/>
                  <a:uLnTx/>
                  <a:uFillTx/>
                  <a:latin typeface="Arial"/>
                  <a:ea typeface="+mn-ea"/>
                  <a:cs typeface="Arial" panose="020B0604020202020204" pitchFamily="34" charset="0"/>
                </a:rPr>
                <a:t>LLM</a:t>
              </a:r>
            </a:p>
          </p:txBody>
        </p:sp>
      </p:grpSp>
    </p:spTree>
    <p:extLst>
      <p:ext uri="{BB962C8B-B14F-4D97-AF65-F5344CB8AC3E}">
        <p14:creationId xmlns:p14="http://schemas.microsoft.com/office/powerpoint/2010/main" val="2195260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FE67-B39D-D6F8-3E72-7DD1AC33DE0C}"/>
              </a:ext>
            </a:extLst>
          </p:cNvPr>
          <p:cNvSpPr>
            <a:spLocks noGrp="1"/>
          </p:cNvSpPr>
          <p:nvPr>
            <p:ph type="title"/>
          </p:nvPr>
        </p:nvSpPr>
        <p:spPr/>
        <p:txBody>
          <a:bodyPr/>
          <a:lstStyle/>
          <a:p>
            <a:r>
              <a:rPr lang="en-US" b="1" dirty="0">
                <a:cs typeface="Poppins" pitchFamily="2" charset="77"/>
              </a:rPr>
              <a:t>Large Language Models</a:t>
            </a:r>
          </a:p>
        </p:txBody>
      </p:sp>
      <p:sp>
        <p:nvSpPr>
          <p:cNvPr id="3" name="Content Placeholder 2">
            <a:extLst>
              <a:ext uri="{FF2B5EF4-FFF2-40B4-BE49-F238E27FC236}">
                <a16:creationId xmlns:a16="http://schemas.microsoft.com/office/drawing/2014/main" id="{B6E0D5C9-28FE-A81F-04A4-CDBE1E14361B}"/>
              </a:ext>
            </a:extLst>
          </p:cNvPr>
          <p:cNvSpPr>
            <a:spLocks noGrp="1"/>
          </p:cNvSpPr>
          <p:nvPr>
            <p:ph idx="1"/>
          </p:nvPr>
        </p:nvSpPr>
        <p:spPr/>
        <p:txBody>
          <a:bodyPr/>
          <a:lstStyle/>
          <a:p>
            <a:r>
              <a:rPr lang="en-US" sz="1800" dirty="0"/>
              <a:t>Type of Artificial Intelligence model</a:t>
            </a:r>
          </a:p>
          <a:p>
            <a:r>
              <a:rPr lang="en-US" sz="1800" dirty="0"/>
              <a:t>Typically trained using a broad range of text</a:t>
            </a:r>
          </a:p>
          <a:p>
            <a:r>
              <a:rPr lang="en-US" sz="1800" dirty="0"/>
              <a:t>“Understand” and Generate human language (predict next word)</a:t>
            </a:r>
          </a:p>
          <a:p>
            <a:r>
              <a:rPr lang="en-US" sz="1800" dirty="0"/>
              <a:t>Very large – billions of parameters</a:t>
            </a:r>
          </a:p>
          <a:p>
            <a:pPr lvl="1">
              <a:lnSpc>
                <a:spcPct val="100000"/>
              </a:lnSpc>
            </a:pPr>
            <a:r>
              <a:rPr lang="en-US" sz="1600" dirty="0"/>
              <a:t>Often does not require task specific learning</a:t>
            </a:r>
          </a:p>
        </p:txBody>
      </p:sp>
    </p:spTree>
    <p:extLst>
      <p:ext uri="{BB962C8B-B14F-4D97-AF65-F5344CB8AC3E}">
        <p14:creationId xmlns:p14="http://schemas.microsoft.com/office/powerpoint/2010/main" val="1356205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61A69-4BA7-790D-DB05-6B406E8D353E}"/>
              </a:ext>
            </a:extLst>
          </p:cNvPr>
          <p:cNvSpPr>
            <a:spLocks noGrp="1"/>
          </p:cNvSpPr>
          <p:nvPr>
            <p:ph type="title"/>
          </p:nvPr>
        </p:nvSpPr>
        <p:spPr/>
        <p:txBody>
          <a:bodyPr>
            <a:normAutofit/>
          </a:bodyPr>
          <a:lstStyle/>
          <a:p>
            <a:r>
              <a:rPr lang="en-US" sz="3400" b="1" dirty="0">
                <a:cs typeface="Poppins" pitchFamily="2" charset="77"/>
              </a:rPr>
              <a:t>Word Embeddings</a:t>
            </a:r>
          </a:p>
        </p:txBody>
      </p:sp>
      <p:sp>
        <p:nvSpPr>
          <p:cNvPr id="3" name="Content Placeholder 2">
            <a:extLst>
              <a:ext uri="{FF2B5EF4-FFF2-40B4-BE49-F238E27FC236}">
                <a16:creationId xmlns:a16="http://schemas.microsoft.com/office/drawing/2014/main" id="{E8CA7EFA-DCE9-CA60-5404-740B63B013EF}"/>
              </a:ext>
            </a:extLst>
          </p:cNvPr>
          <p:cNvSpPr>
            <a:spLocks noGrp="1"/>
          </p:cNvSpPr>
          <p:nvPr>
            <p:ph idx="1"/>
          </p:nvPr>
        </p:nvSpPr>
        <p:spPr/>
        <p:txBody>
          <a:bodyPr/>
          <a:lstStyle/>
          <a:p>
            <a:r>
              <a:rPr lang="en-US" dirty="0"/>
              <a:t>Words (tokens) are encoded as a list of numbers (embedding)</a:t>
            </a:r>
          </a:p>
          <a:p>
            <a:r>
              <a:rPr lang="en-US" dirty="0"/>
              <a:t>The values are determined by training a relatively simple neural network</a:t>
            </a:r>
          </a:p>
          <a:p>
            <a:r>
              <a:rPr lang="en-US" dirty="0"/>
              <a:t>Words with similar meaning tend to have similar values (adjacent)</a:t>
            </a:r>
          </a:p>
          <a:p>
            <a:r>
              <a:rPr lang="en-US" dirty="0"/>
              <a:t>Pairs of words with similar differences tend to have the same differences in their values</a:t>
            </a:r>
          </a:p>
        </p:txBody>
      </p:sp>
    </p:spTree>
    <p:extLst>
      <p:ext uri="{BB962C8B-B14F-4D97-AF65-F5344CB8AC3E}">
        <p14:creationId xmlns:p14="http://schemas.microsoft.com/office/powerpoint/2010/main" val="849356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06103F-39F6-AE23-CE19-D5B9730961EF}"/>
              </a:ext>
            </a:extLst>
          </p:cNvPr>
          <p:cNvSpPr>
            <a:spLocks noGrp="1"/>
          </p:cNvSpPr>
          <p:nvPr>
            <p:ph type="title"/>
          </p:nvPr>
        </p:nvSpPr>
        <p:spPr/>
        <p:txBody>
          <a:bodyPr/>
          <a:lstStyle/>
          <a:p>
            <a:r>
              <a:rPr lang="en-US" b="1" dirty="0">
                <a:cs typeface="Poppins" pitchFamily="2" charset="77"/>
              </a:rPr>
              <a:t>Simple Word Embedding</a:t>
            </a:r>
          </a:p>
        </p:txBody>
      </p:sp>
      <p:grpSp>
        <p:nvGrpSpPr>
          <p:cNvPr id="4" name="Group 3">
            <a:extLst>
              <a:ext uri="{FF2B5EF4-FFF2-40B4-BE49-F238E27FC236}">
                <a16:creationId xmlns:a16="http://schemas.microsoft.com/office/drawing/2014/main" id="{FA5E1B35-3EFC-9BD4-4ACB-ED6F1C738A52}"/>
              </a:ext>
            </a:extLst>
          </p:cNvPr>
          <p:cNvGrpSpPr/>
          <p:nvPr/>
        </p:nvGrpSpPr>
        <p:grpSpPr>
          <a:xfrm>
            <a:off x="4696218" y="1634092"/>
            <a:ext cx="5745746" cy="3589816"/>
            <a:chOff x="4696218" y="1634092"/>
            <a:chExt cx="5745746" cy="3589816"/>
          </a:xfrm>
        </p:grpSpPr>
        <p:grpSp>
          <p:nvGrpSpPr>
            <p:cNvPr id="2" name="Group 1">
              <a:extLst>
                <a:ext uri="{FF2B5EF4-FFF2-40B4-BE49-F238E27FC236}">
                  <a16:creationId xmlns:a16="http://schemas.microsoft.com/office/drawing/2014/main" id="{916DA88F-6AB9-BE78-3CD8-4065BCC73DBD}"/>
                </a:ext>
              </a:extLst>
            </p:cNvPr>
            <p:cNvGrpSpPr/>
            <p:nvPr/>
          </p:nvGrpSpPr>
          <p:grpSpPr>
            <a:xfrm>
              <a:off x="4696218" y="1638230"/>
              <a:ext cx="2254280" cy="3573273"/>
              <a:chOff x="4583094" y="1638230"/>
              <a:chExt cx="2254280" cy="3573273"/>
            </a:xfrm>
          </p:grpSpPr>
          <p:sp>
            <p:nvSpPr>
              <p:cNvPr id="9" name="Oval 8">
                <a:extLst>
                  <a:ext uri="{FF2B5EF4-FFF2-40B4-BE49-F238E27FC236}">
                    <a16:creationId xmlns:a16="http://schemas.microsoft.com/office/drawing/2014/main" id="{C039564A-7863-1FB1-49E1-9943B261F113}"/>
                  </a:ext>
                </a:extLst>
              </p:cNvPr>
              <p:cNvSpPr/>
              <p:nvPr/>
            </p:nvSpPr>
            <p:spPr>
              <a:xfrm>
                <a:off x="4583094" y="1638230"/>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0DE7676-ACD3-2201-4DC3-06843C0F3843}"/>
                  </a:ext>
                </a:extLst>
              </p:cNvPr>
              <p:cNvSpPr/>
              <p:nvPr/>
            </p:nvSpPr>
            <p:spPr>
              <a:xfrm>
                <a:off x="4583094" y="2255964"/>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6354DA4-0DA0-B704-8EDB-6611848C8866}"/>
                  </a:ext>
                </a:extLst>
              </p:cNvPr>
              <p:cNvSpPr/>
              <p:nvPr/>
            </p:nvSpPr>
            <p:spPr>
              <a:xfrm>
                <a:off x="4583094" y="2873699"/>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A32398CD-4B6D-DFF3-5028-9D22044949A8}"/>
                  </a:ext>
                </a:extLst>
              </p:cNvPr>
              <p:cNvSpPr/>
              <p:nvPr/>
            </p:nvSpPr>
            <p:spPr>
              <a:xfrm>
                <a:off x="4583094" y="3499705"/>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709E36FF-1890-6549-9002-D84DB547D9D8}"/>
                  </a:ext>
                </a:extLst>
              </p:cNvPr>
              <p:cNvSpPr/>
              <p:nvPr/>
            </p:nvSpPr>
            <p:spPr>
              <a:xfrm>
                <a:off x="4583098" y="4121575"/>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ADA72C4-BD4E-B0F7-6837-A597A3E1DC8D}"/>
                  </a:ext>
                </a:extLst>
              </p:cNvPr>
              <p:cNvSpPr/>
              <p:nvPr/>
            </p:nvSpPr>
            <p:spPr>
              <a:xfrm>
                <a:off x="4583094" y="4743446"/>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4E5DCD3B-2CCD-C276-058D-914004AD1F0E}"/>
                  </a:ext>
                </a:extLst>
              </p:cNvPr>
              <p:cNvSpPr/>
              <p:nvPr/>
            </p:nvSpPr>
            <p:spPr>
              <a:xfrm>
                <a:off x="6370971" y="2873699"/>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C486EA61-77BD-B17F-D733-72D5ACABE74C}"/>
                  </a:ext>
                </a:extLst>
              </p:cNvPr>
              <p:cNvSpPr/>
              <p:nvPr/>
            </p:nvSpPr>
            <p:spPr>
              <a:xfrm>
                <a:off x="6370971" y="3491434"/>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7" name="Straight Connector 16">
                <a:extLst>
                  <a:ext uri="{FF2B5EF4-FFF2-40B4-BE49-F238E27FC236}">
                    <a16:creationId xmlns:a16="http://schemas.microsoft.com/office/drawing/2014/main" id="{FD2F9E62-0BE8-1245-0B4D-53D38740F87F}"/>
                  </a:ext>
                </a:extLst>
              </p:cNvPr>
              <p:cNvCxnSpPr>
                <a:cxnSpLocks/>
                <a:stCxn id="9" idx="6"/>
                <a:endCxn id="15" idx="2"/>
              </p:cNvCxnSpPr>
              <p:nvPr/>
            </p:nvCxnSpPr>
            <p:spPr>
              <a:xfrm>
                <a:off x="5049497" y="1872259"/>
                <a:ext cx="1321475" cy="123547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EB1569-1D42-95E0-90C0-A79C14FB5672}"/>
                  </a:ext>
                </a:extLst>
              </p:cNvPr>
              <p:cNvCxnSpPr>
                <a:cxnSpLocks/>
                <a:stCxn id="9" idx="6"/>
                <a:endCxn id="16" idx="2"/>
              </p:cNvCxnSpPr>
              <p:nvPr/>
            </p:nvCxnSpPr>
            <p:spPr>
              <a:xfrm>
                <a:off x="5049497" y="1872259"/>
                <a:ext cx="1321475" cy="185320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FFFF5E8-F68E-3C3B-06FA-818B82CBE89E}"/>
                  </a:ext>
                </a:extLst>
              </p:cNvPr>
              <p:cNvCxnSpPr>
                <a:cxnSpLocks/>
                <a:stCxn id="10" idx="6"/>
                <a:endCxn id="15" idx="2"/>
              </p:cNvCxnSpPr>
              <p:nvPr/>
            </p:nvCxnSpPr>
            <p:spPr>
              <a:xfrm>
                <a:off x="5049497" y="2489994"/>
                <a:ext cx="1321475" cy="61773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75BFACCF-3AE9-5C49-E378-13ABCE4DD2C5}"/>
                  </a:ext>
                </a:extLst>
              </p:cNvPr>
              <p:cNvCxnSpPr>
                <a:cxnSpLocks/>
                <a:stCxn id="10" idx="6"/>
                <a:endCxn id="16" idx="2"/>
              </p:cNvCxnSpPr>
              <p:nvPr/>
            </p:nvCxnSpPr>
            <p:spPr>
              <a:xfrm>
                <a:off x="5049497" y="2489994"/>
                <a:ext cx="1321475" cy="123547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805F40F-3447-9679-B72C-3A1E8AE4597F}"/>
                  </a:ext>
                </a:extLst>
              </p:cNvPr>
              <p:cNvCxnSpPr>
                <a:cxnSpLocks/>
                <a:stCxn id="11" idx="6"/>
                <a:endCxn id="15" idx="2"/>
              </p:cNvCxnSpPr>
              <p:nvPr/>
            </p:nvCxnSpPr>
            <p:spPr>
              <a:xfrm>
                <a:off x="5049497" y="3107729"/>
                <a:ext cx="1321475"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C4107D5-2F6F-C87D-E9D6-36ECD81E0295}"/>
                  </a:ext>
                </a:extLst>
              </p:cNvPr>
              <p:cNvCxnSpPr>
                <a:cxnSpLocks/>
                <a:stCxn id="11" idx="6"/>
                <a:endCxn id="16" idx="2"/>
              </p:cNvCxnSpPr>
              <p:nvPr/>
            </p:nvCxnSpPr>
            <p:spPr>
              <a:xfrm>
                <a:off x="5049497" y="3107729"/>
                <a:ext cx="1321475" cy="61773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C09F2E74-1107-5C2C-3519-BC5959C852BD}"/>
                  </a:ext>
                </a:extLst>
              </p:cNvPr>
              <p:cNvCxnSpPr>
                <a:cxnSpLocks/>
                <a:stCxn id="12" idx="6"/>
                <a:endCxn id="15" idx="2"/>
              </p:cNvCxnSpPr>
              <p:nvPr/>
            </p:nvCxnSpPr>
            <p:spPr>
              <a:xfrm flipV="1">
                <a:off x="5049497" y="3107729"/>
                <a:ext cx="1321475" cy="62600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0461F6E-0A86-405D-F6FC-1B8A10D12B2B}"/>
                  </a:ext>
                </a:extLst>
              </p:cNvPr>
              <p:cNvCxnSpPr>
                <a:cxnSpLocks/>
                <a:stCxn id="12" idx="6"/>
                <a:endCxn id="16" idx="2"/>
              </p:cNvCxnSpPr>
              <p:nvPr/>
            </p:nvCxnSpPr>
            <p:spPr>
              <a:xfrm flipV="1">
                <a:off x="5049497" y="3725464"/>
                <a:ext cx="1321475" cy="827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9EED76E-913B-4B93-4707-FA6032EED9DE}"/>
                  </a:ext>
                </a:extLst>
              </p:cNvPr>
              <p:cNvCxnSpPr>
                <a:cxnSpLocks/>
                <a:stCxn id="13" idx="6"/>
                <a:endCxn id="15" idx="2"/>
              </p:cNvCxnSpPr>
              <p:nvPr/>
            </p:nvCxnSpPr>
            <p:spPr>
              <a:xfrm flipV="1">
                <a:off x="5049501" y="3107729"/>
                <a:ext cx="1321471" cy="124787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4F58EAB2-E256-EE61-0EFA-F089EBB04D40}"/>
                  </a:ext>
                </a:extLst>
              </p:cNvPr>
              <p:cNvCxnSpPr>
                <a:cxnSpLocks/>
                <a:stCxn id="13" idx="6"/>
                <a:endCxn id="16" idx="2"/>
              </p:cNvCxnSpPr>
              <p:nvPr/>
            </p:nvCxnSpPr>
            <p:spPr>
              <a:xfrm flipV="1">
                <a:off x="5049501" y="3725464"/>
                <a:ext cx="1321471" cy="63014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46A973C7-69D4-9A2E-0C28-CBF5A01FD730}"/>
                  </a:ext>
                </a:extLst>
              </p:cNvPr>
              <p:cNvCxnSpPr>
                <a:cxnSpLocks/>
                <a:stCxn id="14" idx="6"/>
                <a:endCxn id="15" idx="2"/>
              </p:cNvCxnSpPr>
              <p:nvPr/>
            </p:nvCxnSpPr>
            <p:spPr>
              <a:xfrm flipV="1">
                <a:off x="5049497" y="3107729"/>
                <a:ext cx="1321475" cy="186974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935BADA-0D76-D396-514F-EB93F6387379}"/>
                  </a:ext>
                </a:extLst>
              </p:cNvPr>
              <p:cNvCxnSpPr>
                <a:cxnSpLocks/>
                <a:stCxn id="14" idx="6"/>
                <a:endCxn id="16" idx="2"/>
              </p:cNvCxnSpPr>
              <p:nvPr/>
            </p:nvCxnSpPr>
            <p:spPr>
              <a:xfrm flipV="1">
                <a:off x="5049497" y="3725464"/>
                <a:ext cx="1321475" cy="1252012"/>
              </a:xfrm>
              <a:prstGeom prst="line">
                <a:avLst/>
              </a:prstGeom>
              <a:ln w="12700"/>
              <a:effectLst/>
            </p:spPr>
            <p:style>
              <a:lnRef idx="2">
                <a:schemeClr val="accent1"/>
              </a:lnRef>
              <a:fillRef idx="0">
                <a:schemeClr val="accent1"/>
              </a:fillRef>
              <a:effectRef idx="1">
                <a:schemeClr val="accent1"/>
              </a:effectRef>
              <a:fontRef idx="minor">
                <a:schemeClr val="tx1"/>
              </a:fontRef>
            </p:style>
          </p:cxnSp>
        </p:grpSp>
        <p:sp>
          <p:nvSpPr>
            <p:cNvPr id="29" name="Oval 28">
              <a:extLst>
                <a:ext uri="{FF2B5EF4-FFF2-40B4-BE49-F238E27FC236}">
                  <a16:creationId xmlns:a16="http://schemas.microsoft.com/office/drawing/2014/main" id="{30692F7E-C06F-6ADE-BA2D-EAE0E5FD0A65}"/>
                </a:ext>
              </a:extLst>
            </p:cNvPr>
            <p:cNvSpPr/>
            <p:nvPr/>
          </p:nvSpPr>
          <p:spPr>
            <a:xfrm>
              <a:off x="9965950" y="2251827"/>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1CAD47FE-4676-828D-71D1-687568BBAA44}"/>
                </a:ext>
              </a:extLst>
            </p:cNvPr>
            <p:cNvSpPr/>
            <p:nvPr/>
          </p:nvSpPr>
          <p:spPr>
            <a:xfrm>
              <a:off x="9965950" y="2869562"/>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1A7958FF-1718-29B6-5B07-9F428118583A}"/>
                </a:ext>
              </a:extLst>
            </p:cNvPr>
            <p:cNvSpPr/>
            <p:nvPr/>
          </p:nvSpPr>
          <p:spPr>
            <a:xfrm>
              <a:off x="9965950" y="3487296"/>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2EAE28FB-D0A4-40E7-FDD7-B04BD0D3C224}"/>
                </a:ext>
              </a:extLst>
            </p:cNvPr>
            <p:cNvSpPr/>
            <p:nvPr/>
          </p:nvSpPr>
          <p:spPr>
            <a:xfrm>
              <a:off x="9965950" y="4117438"/>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9CB7B525-93CD-7B78-4748-AD444C6BF36B}"/>
                </a:ext>
              </a:extLst>
            </p:cNvPr>
            <p:cNvSpPr/>
            <p:nvPr/>
          </p:nvSpPr>
          <p:spPr>
            <a:xfrm>
              <a:off x="9965950" y="4739308"/>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34" name="Straight Connector 33">
              <a:extLst>
                <a:ext uri="{FF2B5EF4-FFF2-40B4-BE49-F238E27FC236}">
                  <a16:creationId xmlns:a16="http://schemas.microsoft.com/office/drawing/2014/main" id="{3333A5FD-987D-0849-84DA-E5A4B015289F}"/>
                </a:ext>
              </a:extLst>
            </p:cNvPr>
            <p:cNvCxnSpPr>
              <a:endCxn id="29" idx="2"/>
            </p:cNvCxnSpPr>
            <p:nvPr/>
          </p:nvCxnSpPr>
          <p:spPr>
            <a:xfrm>
              <a:off x="8644475" y="1868122"/>
              <a:ext cx="1321475" cy="61773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7CF5DA8-F7A6-7428-56D1-2304FB22058D}"/>
                </a:ext>
              </a:extLst>
            </p:cNvPr>
            <p:cNvCxnSpPr>
              <a:cxnSpLocks/>
              <a:endCxn id="30" idx="2"/>
            </p:cNvCxnSpPr>
            <p:nvPr/>
          </p:nvCxnSpPr>
          <p:spPr>
            <a:xfrm>
              <a:off x="8644475" y="1868122"/>
              <a:ext cx="1321475" cy="123547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B097886-870A-36A3-94C5-ECFBD7C3D987}"/>
                </a:ext>
              </a:extLst>
            </p:cNvPr>
            <p:cNvCxnSpPr>
              <a:cxnSpLocks/>
              <a:endCxn id="31" idx="2"/>
            </p:cNvCxnSpPr>
            <p:nvPr/>
          </p:nvCxnSpPr>
          <p:spPr>
            <a:xfrm>
              <a:off x="8644475" y="1868122"/>
              <a:ext cx="1321475" cy="185320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B673A29F-20FC-D203-6C9C-19FB69446B8F}"/>
                </a:ext>
              </a:extLst>
            </p:cNvPr>
            <p:cNvCxnSpPr>
              <a:cxnSpLocks/>
              <a:endCxn id="32" idx="2"/>
            </p:cNvCxnSpPr>
            <p:nvPr/>
          </p:nvCxnSpPr>
          <p:spPr>
            <a:xfrm>
              <a:off x="8644475" y="1868122"/>
              <a:ext cx="1321475" cy="248334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A0713F2-C4E0-68D1-4B43-ED688CD18BFE}"/>
                </a:ext>
              </a:extLst>
            </p:cNvPr>
            <p:cNvCxnSpPr>
              <a:cxnSpLocks/>
              <a:endCxn id="33" idx="2"/>
            </p:cNvCxnSpPr>
            <p:nvPr/>
          </p:nvCxnSpPr>
          <p:spPr>
            <a:xfrm>
              <a:off x="8644475" y="1868122"/>
              <a:ext cx="1321475" cy="310521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152FB562-DBD9-84A4-E493-7B091B9F3B32}"/>
                </a:ext>
              </a:extLst>
            </p:cNvPr>
            <p:cNvCxnSpPr>
              <a:cxnSpLocks/>
              <a:endCxn id="30" idx="2"/>
            </p:cNvCxnSpPr>
            <p:nvPr/>
          </p:nvCxnSpPr>
          <p:spPr>
            <a:xfrm>
              <a:off x="8644475" y="2485856"/>
              <a:ext cx="1321475" cy="61773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5BFC29-FE22-0C16-7066-9102F2C5AA48}"/>
                </a:ext>
              </a:extLst>
            </p:cNvPr>
            <p:cNvCxnSpPr>
              <a:cxnSpLocks/>
              <a:endCxn id="31" idx="2"/>
            </p:cNvCxnSpPr>
            <p:nvPr/>
          </p:nvCxnSpPr>
          <p:spPr>
            <a:xfrm>
              <a:off x="8644475" y="2485856"/>
              <a:ext cx="1321475" cy="123547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28289F45-BDBF-86A8-9A52-4F826BA57D70}"/>
                </a:ext>
              </a:extLst>
            </p:cNvPr>
            <p:cNvCxnSpPr>
              <a:cxnSpLocks/>
              <a:endCxn id="32" idx="2"/>
            </p:cNvCxnSpPr>
            <p:nvPr/>
          </p:nvCxnSpPr>
          <p:spPr>
            <a:xfrm>
              <a:off x="8644475" y="2485856"/>
              <a:ext cx="1321475" cy="186561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F97DD94-6375-387E-5B6F-AE9A895BC6EB}"/>
                </a:ext>
              </a:extLst>
            </p:cNvPr>
            <p:cNvCxnSpPr>
              <a:cxnSpLocks/>
              <a:endCxn id="33" idx="2"/>
            </p:cNvCxnSpPr>
            <p:nvPr/>
          </p:nvCxnSpPr>
          <p:spPr>
            <a:xfrm>
              <a:off x="8644475" y="2485856"/>
              <a:ext cx="1321475" cy="248748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D054AF8B-5F52-A7A2-B15B-C27C3D1C1D1B}"/>
                </a:ext>
              </a:extLst>
            </p:cNvPr>
            <p:cNvCxnSpPr>
              <a:cxnSpLocks/>
              <a:endCxn id="29" idx="2"/>
            </p:cNvCxnSpPr>
            <p:nvPr/>
          </p:nvCxnSpPr>
          <p:spPr>
            <a:xfrm>
              <a:off x="8644475" y="2485856"/>
              <a:ext cx="1321475"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808A262-F3DD-A4F6-144E-961817C65E4A}"/>
                </a:ext>
              </a:extLst>
            </p:cNvPr>
            <p:cNvCxnSpPr>
              <a:cxnSpLocks/>
              <a:endCxn id="29" idx="2"/>
            </p:cNvCxnSpPr>
            <p:nvPr/>
          </p:nvCxnSpPr>
          <p:spPr>
            <a:xfrm flipV="1">
              <a:off x="8644475" y="2485856"/>
              <a:ext cx="1321475" cy="61773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E3A023C3-451E-A758-2FC5-CB6C98AD6DEA}"/>
                </a:ext>
              </a:extLst>
            </p:cNvPr>
            <p:cNvCxnSpPr>
              <a:cxnSpLocks/>
              <a:endCxn id="30" idx="2"/>
            </p:cNvCxnSpPr>
            <p:nvPr/>
          </p:nvCxnSpPr>
          <p:spPr>
            <a:xfrm>
              <a:off x="8644475" y="3103591"/>
              <a:ext cx="1321475"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5DF777B4-3EEF-C977-1060-925DF673468D}"/>
                </a:ext>
              </a:extLst>
            </p:cNvPr>
            <p:cNvCxnSpPr>
              <a:cxnSpLocks/>
              <a:endCxn id="31" idx="2"/>
            </p:cNvCxnSpPr>
            <p:nvPr/>
          </p:nvCxnSpPr>
          <p:spPr>
            <a:xfrm>
              <a:off x="8644475" y="3103591"/>
              <a:ext cx="1321475" cy="61773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4C0D2B21-72B6-4D2A-C97D-D0FF54F82CA7}"/>
                </a:ext>
              </a:extLst>
            </p:cNvPr>
            <p:cNvCxnSpPr>
              <a:cxnSpLocks/>
              <a:endCxn id="32" idx="2"/>
            </p:cNvCxnSpPr>
            <p:nvPr/>
          </p:nvCxnSpPr>
          <p:spPr>
            <a:xfrm>
              <a:off x="8644475" y="3103591"/>
              <a:ext cx="1321475" cy="124787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793464BC-BAA3-0CF1-DEBE-D3F927762902}"/>
                </a:ext>
              </a:extLst>
            </p:cNvPr>
            <p:cNvCxnSpPr>
              <a:cxnSpLocks/>
              <a:endCxn id="33" idx="2"/>
            </p:cNvCxnSpPr>
            <p:nvPr/>
          </p:nvCxnSpPr>
          <p:spPr>
            <a:xfrm>
              <a:off x="8644475" y="3103591"/>
              <a:ext cx="1321475" cy="186974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03FC505-E0C9-687F-CD0E-2328BAB7D02E}"/>
                </a:ext>
              </a:extLst>
            </p:cNvPr>
            <p:cNvCxnSpPr>
              <a:cxnSpLocks/>
              <a:endCxn id="29" idx="2"/>
            </p:cNvCxnSpPr>
            <p:nvPr/>
          </p:nvCxnSpPr>
          <p:spPr>
            <a:xfrm flipV="1">
              <a:off x="8644475" y="2485856"/>
              <a:ext cx="1321475" cy="124374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580E415E-CA4C-9E6F-336D-6692C5EC1658}"/>
                </a:ext>
              </a:extLst>
            </p:cNvPr>
            <p:cNvCxnSpPr>
              <a:cxnSpLocks/>
              <a:endCxn id="30" idx="2"/>
            </p:cNvCxnSpPr>
            <p:nvPr/>
          </p:nvCxnSpPr>
          <p:spPr>
            <a:xfrm flipV="1">
              <a:off x="8644475" y="3103591"/>
              <a:ext cx="1321475" cy="62600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6089F4-9CC4-CE21-A30A-B298D96E104E}"/>
                </a:ext>
              </a:extLst>
            </p:cNvPr>
            <p:cNvCxnSpPr>
              <a:cxnSpLocks/>
              <a:endCxn id="31" idx="2"/>
            </p:cNvCxnSpPr>
            <p:nvPr/>
          </p:nvCxnSpPr>
          <p:spPr>
            <a:xfrm flipV="1">
              <a:off x="8644475" y="3721326"/>
              <a:ext cx="1321475" cy="827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09536255-4A51-AF6D-CCD0-32B988DCA034}"/>
                </a:ext>
              </a:extLst>
            </p:cNvPr>
            <p:cNvCxnSpPr>
              <a:cxnSpLocks/>
              <a:endCxn id="32" idx="2"/>
            </p:cNvCxnSpPr>
            <p:nvPr/>
          </p:nvCxnSpPr>
          <p:spPr>
            <a:xfrm>
              <a:off x="8644475" y="3729597"/>
              <a:ext cx="1321475" cy="62187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0730F273-C51E-B505-76AC-CF98C3DF1349}"/>
                </a:ext>
              </a:extLst>
            </p:cNvPr>
            <p:cNvCxnSpPr>
              <a:cxnSpLocks/>
              <a:endCxn id="33" idx="2"/>
            </p:cNvCxnSpPr>
            <p:nvPr/>
          </p:nvCxnSpPr>
          <p:spPr>
            <a:xfrm>
              <a:off x="8644475" y="3729597"/>
              <a:ext cx="1321475" cy="124374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6546ECE7-362D-822A-6694-DA6A0A9EA5DF}"/>
                </a:ext>
              </a:extLst>
            </p:cNvPr>
            <p:cNvCxnSpPr>
              <a:cxnSpLocks/>
              <a:endCxn id="29" idx="2"/>
            </p:cNvCxnSpPr>
            <p:nvPr/>
          </p:nvCxnSpPr>
          <p:spPr>
            <a:xfrm flipV="1">
              <a:off x="8644479" y="2485856"/>
              <a:ext cx="1321471" cy="186561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C9079EC-C6DD-2632-8782-DE3540EE8C67}"/>
                </a:ext>
              </a:extLst>
            </p:cNvPr>
            <p:cNvCxnSpPr>
              <a:cxnSpLocks/>
              <a:endCxn id="30" idx="2"/>
            </p:cNvCxnSpPr>
            <p:nvPr/>
          </p:nvCxnSpPr>
          <p:spPr>
            <a:xfrm flipV="1">
              <a:off x="8644479" y="3103591"/>
              <a:ext cx="1321471" cy="124787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76C0BA77-8153-0357-8CD0-3E9C392E5CD0}"/>
                </a:ext>
              </a:extLst>
            </p:cNvPr>
            <p:cNvCxnSpPr>
              <a:cxnSpLocks/>
              <a:endCxn id="31" idx="2"/>
            </p:cNvCxnSpPr>
            <p:nvPr/>
          </p:nvCxnSpPr>
          <p:spPr>
            <a:xfrm flipV="1">
              <a:off x="8644479" y="3721326"/>
              <a:ext cx="1321471" cy="63014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4DFEEE3C-636F-365D-F804-E55D62D557CE}"/>
                </a:ext>
              </a:extLst>
            </p:cNvPr>
            <p:cNvCxnSpPr>
              <a:cxnSpLocks/>
              <a:endCxn id="32" idx="2"/>
            </p:cNvCxnSpPr>
            <p:nvPr/>
          </p:nvCxnSpPr>
          <p:spPr>
            <a:xfrm>
              <a:off x="8644479" y="4351468"/>
              <a:ext cx="1321471"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711D9B8F-EB37-B9DD-B325-9A0865761A74}"/>
                </a:ext>
              </a:extLst>
            </p:cNvPr>
            <p:cNvCxnSpPr>
              <a:cxnSpLocks/>
              <a:endCxn id="33" idx="2"/>
            </p:cNvCxnSpPr>
            <p:nvPr/>
          </p:nvCxnSpPr>
          <p:spPr>
            <a:xfrm>
              <a:off x="8644479" y="4351468"/>
              <a:ext cx="1321471" cy="62187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527DC7E6-3706-E767-AF45-0C2EC5ED8608}"/>
                </a:ext>
              </a:extLst>
            </p:cNvPr>
            <p:cNvCxnSpPr>
              <a:cxnSpLocks/>
              <a:endCxn id="29" idx="2"/>
            </p:cNvCxnSpPr>
            <p:nvPr/>
          </p:nvCxnSpPr>
          <p:spPr>
            <a:xfrm flipV="1">
              <a:off x="8644475" y="2485856"/>
              <a:ext cx="1321475" cy="248748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9DAE93CC-BC0A-8F39-9442-E4DD08F26708}"/>
                </a:ext>
              </a:extLst>
            </p:cNvPr>
            <p:cNvCxnSpPr>
              <a:cxnSpLocks/>
              <a:endCxn id="30" idx="2"/>
            </p:cNvCxnSpPr>
            <p:nvPr/>
          </p:nvCxnSpPr>
          <p:spPr>
            <a:xfrm flipV="1">
              <a:off x="8644475" y="3103591"/>
              <a:ext cx="1321475" cy="186974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033C533A-2D38-4E8A-CA14-74170C8C54CF}"/>
                </a:ext>
              </a:extLst>
            </p:cNvPr>
            <p:cNvCxnSpPr>
              <a:cxnSpLocks/>
              <a:endCxn id="31" idx="2"/>
            </p:cNvCxnSpPr>
            <p:nvPr/>
          </p:nvCxnSpPr>
          <p:spPr>
            <a:xfrm flipV="1">
              <a:off x="8644475" y="3721326"/>
              <a:ext cx="1321475" cy="125201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92A86322-E5F3-94F7-A544-7E6D66A82127}"/>
                </a:ext>
              </a:extLst>
            </p:cNvPr>
            <p:cNvCxnSpPr>
              <a:cxnSpLocks/>
              <a:endCxn id="32" idx="2"/>
            </p:cNvCxnSpPr>
            <p:nvPr/>
          </p:nvCxnSpPr>
          <p:spPr>
            <a:xfrm flipV="1">
              <a:off x="8644475" y="4351468"/>
              <a:ext cx="1321475" cy="62187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02A45615-E093-4C26-ABC4-5081E959E97F}"/>
                </a:ext>
              </a:extLst>
            </p:cNvPr>
            <p:cNvCxnSpPr>
              <a:cxnSpLocks/>
              <a:endCxn id="33" idx="2"/>
            </p:cNvCxnSpPr>
            <p:nvPr/>
          </p:nvCxnSpPr>
          <p:spPr>
            <a:xfrm>
              <a:off x="8644475" y="4973338"/>
              <a:ext cx="1321475" cy="0"/>
            </a:xfrm>
            <a:prstGeom prst="line">
              <a:avLst/>
            </a:prstGeom>
            <a:ln w="12700"/>
            <a:effectLst/>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6F9E4906-F38B-E18E-BE9D-CB0857D91F17}"/>
                </a:ext>
              </a:extLst>
            </p:cNvPr>
            <p:cNvGrpSpPr/>
            <p:nvPr/>
          </p:nvGrpSpPr>
          <p:grpSpPr>
            <a:xfrm>
              <a:off x="6912971" y="1638228"/>
              <a:ext cx="1787881" cy="3585680"/>
              <a:chOff x="6846982" y="1638228"/>
              <a:chExt cx="1787881" cy="3585680"/>
            </a:xfrm>
          </p:grpSpPr>
          <p:sp>
            <p:nvSpPr>
              <p:cNvPr id="64" name="Oval 63">
                <a:extLst>
                  <a:ext uri="{FF2B5EF4-FFF2-40B4-BE49-F238E27FC236}">
                    <a16:creationId xmlns:a16="http://schemas.microsoft.com/office/drawing/2014/main" id="{B74D9DE2-4ED9-5B18-C7AD-C053AD13EE5A}"/>
                  </a:ext>
                </a:extLst>
              </p:cNvPr>
              <p:cNvSpPr/>
              <p:nvPr/>
            </p:nvSpPr>
            <p:spPr>
              <a:xfrm>
                <a:off x="8168460" y="2268369"/>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ED50FE6-1C3B-4035-1654-7AAEE3339CD1}"/>
                  </a:ext>
                </a:extLst>
              </p:cNvPr>
              <p:cNvSpPr/>
              <p:nvPr/>
            </p:nvSpPr>
            <p:spPr>
              <a:xfrm>
                <a:off x="8168460" y="2886104"/>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6" name="Oval 65">
                <a:extLst>
                  <a:ext uri="{FF2B5EF4-FFF2-40B4-BE49-F238E27FC236}">
                    <a16:creationId xmlns:a16="http://schemas.microsoft.com/office/drawing/2014/main" id="{5D0386A1-1F9A-BD4B-B937-6B38A9A7CBE4}"/>
                  </a:ext>
                </a:extLst>
              </p:cNvPr>
              <p:cNvSpPr/>
              <p:nvPr/>
            </p:nvSpPr>
            <p:spPr>
              <a:xfrm>
                <a:off x="8168460" y="3503839"/>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7" name="Oval 66">
                <a:extLst>
                  <a:ext uri="{FF2B5EF4-FFF2-40B4-BE49-F238E27FC236}">
                    <a16:creationId xmlns:a16="http://schemas.microsoft.com/office/drawing/2014/main" id="{3F4E40CF-EC26-A39B-2C22-38270A9730CB}"/>
                  </a:ext>
                </a:extLst>
              </p:cNvPr>
              <p:cNvSpPr/>
              <p:nvPr/>
            </p:nvSpPr>
            <p:spPr>
              <a:xfrm>
                <a:off x="8168460" y="4133980"/>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AA12CDC8-142E-4FBF-D326-1EDEBF127201}"/>
                  </a:ext>
                </a:extLst>
              </p:cNvPr>
              <p:cNvSpPr/>
              <p:nvPr/>
            </p:nvSpPr>
            <p:spPr>
              <a:xfrm>
                <a:off x="8168460" y="4755851"/>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69" name="Straight Connector 68">
                <a:extLst>
                  <a:ext uri="{FF2B5EF4-FFF2-40B4-BE49-F238E27FC236}">
                    <a16:creationId xmlns:a16="http://schemas.microsoft.com/office/drawing/2014/main" id="{7CAC2AEB-A72A-BFED-F328-1F1566A9B571}"/>
                  </a:ext>
                </a:extLst>
              </p:cNvPr>
              <p:cNvCxnSpPr>
                <a:cxnSpLocks/>
                <a:endCxn id="64" idx="2"/>
              </p:cNvCxnSpPr>
              <p:nvPr/>
            </p:nvCxnSpPr>
            <p:spPr>
              <a:xfrm flipV="1">
                <a:off x="6846986" y="2502399"/>
                <a:ext cx="1321475" cy="61773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51B7FECA-6FAC-4EF3-EF8D-E77A7D87C798}"/>
                  </a:ext>
                </a:extLst>
              </p:cNvPr>
              <p:cNvCxnSpPr>
                <a:cxnSpLocks/>
                <a:endCxn id="65" idx="2"/>
              </p:cNvCxnSpPr>
              <p:nvPr/>
            </p:nvCxnSpPr>
            <p:spPr>
              <a:xfrm>
                <a:off x="6846986" y="3120134"/>
                <a:ext cx="1321475"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2E8083CB-453B-D24C-14FD-BCE159CDC111}"/>
                  </a:ext>
                </a:extLst>
              </p:cNvPr>
              <p:cNvCxnSpPr>
                <a:cxnSpLocks/>
                <a:endCxn id="66" idx="2"/>
              </p:cNvCxnSpPr>
              <p:nvPr/>
            </p:nvCxnSpPr>
            <p:spPr>
              <a:xfrm>
                <a:off x="6846986" y="3120134"/>
                <a:ext cx="1321475" cy="61773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2B748412-F9C8-4C5F-97D7-DDFDF6D4CAA5}"/>
                  </a:ext>
                </a:extLst>
              </p:cNvPr>
              <p:cNvCxnSpPr>
                <a:cxnSpLocks/>
                <a:endCxn id="67" idx="2"/>
              </p:cNvCxnSpPr>
              <p:nvPr/>
            </p:nvCxnSpPr>
            <p:spPr>
              <a:xfrm>
                <a:off x="6846986" y="3120134"/>
                <a:ext cx="1321475" cy="124787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0F868220-213D-BB9A-7152-315B850A99B6}"/>
                  </a:ext>
                </a:extLst>
              </p:cNvPr>
              <p:cNvCxnSpPr>
                <a:cxnSpLocks/>
                <a:endCxn id="68" idx="2"/>
              </p:cNvCxnSpPr>
              <p:nvPr/>
            </p:nvCxnSpPr>
            <p:spPr>
              <a:xfrm>
                <a:off x="6846986" y="3120134"/>
                <a:ext cx="1321475" cy="186974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6AA052CA-7EA6-E368-E0C8-51016489EBF2}"/>
                  </a:ext>
                </a:extLst>
              </p:cNvPr>
              <p:cNvCxnSpPr>
                <a:cxnSpLocks/>
                <a:endCxn id="64" idx="2"/>
              </p:cNvCxnSpPr>
              <p:nvPr/>
            </p:nvCxnSpPr>
            <p:spPr>
              <a:xfrm flipV="1">
                <a:off x="6846986" y="2502399"/>
                <a:ext cx="1321475" cy="124374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11E121BA-589B-1D68-01AE-B8A9BBD0E086}"/>
                  </a:ext>
                </a:extLst>
              </p:cNvPr>
              <p:cNvCxnSpPr>
                <a:cxnSpLocks/>
                <a:endCxn id="65" idx="2"/>
              </p:cNvCxnSpPr>
              <p:nvPr/>
            </p:nvCxnSpPr>
            <p:spPr>
              <a:xfrm flipV="1">
                <a:off x="6846986" y="3120134"/>
                <a:ext cx="1321475" cy="62600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DA889BF0-23EC-EAE0-0DA7-FD1084D16FCB}"/>
                  </a:ext>
                </a:extLst>
              </p:cNvPr>
              <p:cNvCxnSpPr>
                <a:cxnSpLocks/>
                <a:endCxn id="66" idx="2"/>
              </p:cNvCxnSpPr>
              <p:nvPr/>
            </p:nvCxnSpPr>
            <p:spPr>
              <a:xfrm flipV="1">
                <a:off x="6846986" y="3737868"/>
                <a:ext cx="1321475" cy="827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E2A9EBC-F3E2-FCA3-191E-32F33E08D8AC}"/>
                  </a:ext>
                </a:extLst>
              </p:cNvPr>
              <p:cNvCxnSpPr>
                <a:cxnSpLocks/>
                <a:endCxn id="67" idx="2"/>
              </p:cNvCxnSpPr>
              <p:nvPr/>
            </p:nvCxnSpPr>
            <p:spPr>
              <a:xfrm>
                <a:off x="6846986" y="3746140"/>
                <a:ext cx="1321475" cy="62187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5DD2FEA6-CAFE-0319-4C56-2BA49DFE551C}"/>
                  </a:ext>
                </a:extLst>
              </p:cNvPr>
              <p:cNvCxnSpPr>
                <a:cxnSpLocks/>
                <a:endCxn id="68" idx="2"/>
              </p:cNvCxnSpPr>
              <p:nvPr/>
            </p:nvCxnSpPr>
            <p:spPr>
              <a:xfrm>
                <a:off x="6846986" y="3746140"/>
                <a:ext cx="1321475" cy="1243741"/>
              </a:xfrm>
              <a:prstGeom prst="line">
                <a:avLst/>
              </a:prstGeom>
              <a:ln w="12700"/>
              <a:effectLst/>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2AA6317D-50DB-8CB2-9E15-791526FDF9E5}"/>
                  </a:ext>
                </a:extLst>
              </p:cNvPr>
              <p:cNvSpPr/>
              <p:nvPr/>
            </p:nvSpPr>
            <p:spPr>
              <a:xfrm>
                <a:off x="8156784" y="1638228"/>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80" name="Straight Connector 79">
                <a:extLst>
                  <a:ext uri="{FF2B5EF4-FFF2-40B4-BE49-F238E27FC236}">
                    <a16:creationId xmlns:a16="http://schemas.microsoft.com/office/drawing/2014/main" id="{78CD8350-7525-0FCD-130C-43294D22D2FD}"/>
                  </a:ext>
                </a:extLst>
              </p:cNvPr>
              <p:cNvCxnSpPr>
                <a:cxnSpLocks/>
              </p:cNvCxnSpPr>
              <p:nvPr/>
            </p:nvCxnSpPr>
            <p:spPr>
              <a:xfrm flipV="1">
                <a:off x="6846982" y="1924567"/>
                <a:ext cx="1321475" cy="123547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9426B21E-4F63-C354-A9DA-9ACF33919D25}"/>
                  </a:ext>
                </a:extLst>
              </p:cNvPr>
              <p:cNvCxnSpPr>
                <a:cxnSpLocks/>
              </p:cNvCxnSpPr>
              <p:nvPr/>
            </p:nvCxnSpPr>
            <p:spPr>
              <a:xfrm flipV="1">
                <a:off x="6846982" y="1924567"/>
                <a:ext cx="1321475" cy="1853204"/>
              </a:xfrm>
              <a:prstGeom prst="line">
                <a:avLst/>
              </a:prstGeom>
              <a:ln w="12700"/>
              <a:effectLst/>
            </p:spPr>
            <p:style>
              <a:lnRef idx="2">
                <a:schemeClr val="accent1"/>
              </a:lnRef>
              <a:fillRef idx="0">
                <a:schemeClr val="accent1"/>
              </a:fillRef>
              <a:effectRef idx="1">
                <a:schemeClr val="accent1"/>
              </a:effectRef>
              <a:fontRef idx="minor">
                <a:schemeClr val="tx1"/>
              </a:fontRef>
            </p:style>
          </p:cxnSp>
        </p:grpSp>
        <p:sp>
          <p:nvSpPr>
            <p:cNvPr id="82" name="Oval 81">
              <a:extLst>
                <a:ext uri="{FF2B5EF4-FFF2-40B4-BE49-F238E27FC236}">
                  <a16:creationId xmlns:a16="http://schemas.microsoft.com/office/drawing/2014/main" id="{CC878C84-3018-E6E3-5256-B4E7D8595EEE}"/>
                </a:ext>
              </a:extLst>
            </p:cNvPr>
            <p:cNvSpPr/>
            <p:nvPr/>
          </p:nvSpPr>
          <p:spPr>
            <a:xfrm>
              <a:off x="9975561" y="1634092"/>
              <a:ext cx="466403" cy="46805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83" name="Straight Connector 82">
              <a:extLst>
                <a:ext uri="{FF2B5EF4-FFF2-40B4-BE49-F238E27FC236}">
                  <a16:creationId xmlns:a16="http://schemas.microsoft.com/office/drawing/2014/main" id="{EBF624E9-053D-9483-2522-7E352892F820}"/>
                </a:ext>
              </a:extLst>
            </p:cNvPr>
            <p:cNvCxnSpPr>
              <a:cxnSpLocks/>
            </p:cNvCxnSpPr>
            <p:nvPr/>
          </p:nvCxnSpPr>
          <p:spPr>
            <a:xfrm flipV="1">
              <a:off x="8665759" y="1920432"/>
              <a:ext cx="1321475" cy="61773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5942AE3A-89B5-CD83-FAA5-808192C171A5}"/>
                </a:ext>
              </a:extLst>
            </p:cNvPr>
            <p:cNvCxnSpPr>
              <a:cxnSpLocks/>
            </p:cNvCxnSpPr>
            <p:nvPr/>
          </p:nvCxnSpPr>
          <p:spPr>
            <a:xfrm flipV="1">
              <a:off x="8665759" y="1920432"/>
              <a:ext cx="1321475" cy="123547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C1ADEC0A-CEDA-8AEB-ED80-2758DC366E85}"/>
                </a:ext>
              </a:extLst>
            </p:cNvPr>
            <p:cNvCxnSpPr>
              <a:cxnSpLocks/>
            </p:cNvCxnSpPr>
            <p:nvPr/>
          </p:nvCxnSpPr>
          <p:spPr>
            <a:xfrm flipV="1">
              <a:off x="8665759" y="1920432"/>
              <a:ext cx="1321475" cy="185320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9E213ECD-CA90-E08B-7B1E-BC467C56B0B2}"/>
                </a:ext>
              </a:extLst>
            </p:cNvPr>
            <p:cNvCxnSpPr>
              <a:cxnSpLocks/>
            </p:cNvCxnSpPr>
            <p:nvPr/>
          </p:nvCxnSpPr>
          <p:spPr>
            <a:xfrm flipV="1">
              <a:off x="8665759" y="1920432"/>
              <a:ext cx="1321475" cy="248334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81CFAE41-8DCC-A402-0D9B-6D4FE00E2778}"/>
                </a:ext>
              </a:extLst>
            </p:cNvPr>
            <p:cNvCxnSpPr>
              <a:cxnSpLocks/>
            </p:cNvCxnSpPr>
            <p:nvPr/>
          </p:nvCxnSpPr>
          <p:spPr>
            <a:xfrm>
              <a:off x="8665763" y="1880526"/>
              <a:ext cx="1321475"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E3E17000-8AC7-C523-2F5F-70613C22CD77}"/>
                </a:ext>
              </a:extLst>
            </p:cNvPr>
            <p:cNvCxnSpPr>
              <a:cxnSpLocks/>
              <a:stCxn id="82" idx="2"/>
              <a:endCxn id="68" idx="6"/>
            </p:cNvCxnSpPr>
            <p:nvPr/>
          </p:nvCxnSpPr>
          <p:spPr>
            <a:xfrm flipH="1">
              <a:off x="8700852" y="1868121"/>
              <a:ext cx="1274709" cy="3121759"/>
            </a:xfrm>
            <a:prstGeom prst="line">
              <a:avLst/>
            </a:prstGeom>
            <a:ln w="12700"/>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781887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5C75A-1FA7-1769-C081-9606DB36065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C8F90B-CA90-C7A9-DFB1-79355F6BAD10}"/>
              </a:ext>
            </a:extLst>
          </p:cNvPr>
          <p:cNvSpPr txBox="1"/>
          <p:nvPr/>
        </p:nvSpPr>
        <p:spPr>
          <a:xfrm>
            <a:off x="246491" y="318052"/>
            <a:ext cx="7609398" cy="338554"/>
          </a:xfrm>
          <a:prstGeom prst="rect">
            <a:avLst/>
          </a:prstGeom>
          <a:noFill/>
        </p:spPr>
        <p:txBody>
          <a:bodyPr wrap="square" rtlCol="0">
            <a:spAutoFit/>
          </a:bodyPr>
          <a:lstStyle/>
          <a:p>
            <a:r>
              <a:rPr lang="en-US" sz="1600" b="1" dirty="0">
                <a:solidFill>
                  <a:schemeClr val="bg1"/>
                </a:solidFill>
                <a:latin typeface="Poppins" pitchFamily="2" charset="77"/>
                <a:cs typeface="Poppins" pitchFamily="2" charset="77"/>
              </a:rPr>
              <a:t>Large Language Model Word Embeddings</a:t>
            </a:r>
          </a:p>
        </p:txBody>
      </p:sp>
      <p:pic>
        <p:nvPicPr>
          <p:cNvPr id="86" name="Picture 85">
            <a:extLst>
              <a:ext uri="{FF2B5EF4-FFF2-40B4-BE49-F238E27FC236}">
                <a16:creationId xmlns:a16="http://schemas.microsoft.com/office/drawing/2014/main" id="{0CBD7ED3-DB7C-5605-CF32-0E57E5270914}"/>
              </a:ext>
            </a:extLst>
          </p:cNvPr>
          <p:cNvPicPr>
            <a:picLocks noChangeAspect="1"/>
          </p:cNvPicPr>
          <p:nvPr/>
        </p:nvPicPr>
        <p:blipFill>
          <a:blip r:embed="rId4"/>
          <a:srcRect l="7063" t="13972" r="4751" b="6282"/>
          <a:stretch>
            <a:fillRect/>
          </a:stretch>
        </p:blipFill>
        <p:spPr>
          <a:xfrm>
            <a:off x="6293644" y="3157538"/>
            <a:ext cx="5346149" cy="3121272"/>
          </a:xfrm>
          <a:prstGeom prst="rect">
            <a:avLst/>
          </a:prstGeom>
        </p:spPr>
      </p:pic>
      <p:pic>
        <p:nvPicPr>
          <p:cNvPr id="87" name="Picture 86">
            <a:extLst>
              <a:ext uri="{FF2B5EF4-FFF2-40B4-BE49-F238E27FC236}">
                <a16:creationId xmlns:a16="http://schemas.microsoft.com/office/drawing/2014/main" id="{B77ADA71-F5B9-1062-5907-1BDEE059CD23}"/>
              </a:ext>
            </a:extLst>
          </p:cNvPr>
          <p:cNvPicPr>
            <a:picLocks noChangeAspect="1"/>
          </p:cNvPicPr>
          <p:nvPr/>
        </p:nvPicPr>
        <p:blipFill>
          <a:blip r:embed="rId5"/>
          <a:stretch>
            <a:fillRect/>
          </a:stretch>
        </p:blipFill>
        <p:spPr>
          <a:xfrm>
            <a:off x="845867" y="1296450"/>
            <a:ext cx="7869507" cy="1716319"/>
          </a:xfrm>
          <a:prstGeom prst="rect">
            <a:avLst/>
          </a:prstGeom>
        </p:spPr>
      </p:pic>
      <p:pic>
        <p:nvPicPr>
          <p:cNvPr id="88" name="Picture 87">
            <a:extLst>
              <a:ext uri="{FF2B5EF4-FFF2-40B4-BE49-F238E27FC236}">
                <a16:creationId xmlns:a16="http://schemas.microsoft.com/office/drawing/2014/main" id="{1B666CA5-268F-A48D-DA6D-FA7E4E50210C}"/>
              </a:ext>
            </a:extLst>
          </p:cNvPr>
          <p:cNvPicPr>
            <a:picLocks noChangeAspect="1"/>
          </p:cNvPicPr>
          <p:nvPr/>
        </p:nvPicPr>
        <p:blipFill>
          <a:blip r:embed="rId6"/>
          <a:stretch>
            <a:fillRect/>
          </a:stretch>
        </p:blipFill>
        <p:spPr>
          <a:xfrm>
            <a:off x="845868" y="3438868"/>
            <a:ext cx="5447776" cy="755531"/>
          </a:xfrm>
          <a:prstGeom prst="rect">
            <a:avLst/>
          </a:prstGeom>
        </p:spPr>
      </p:pic>
    </p:spTree>
    <p:extLst>
      <p:ext uri="{BB962C8B-B14F-4D97-AF65-F5344CB8AC3E}">
        <p14:creationId xmlns:p14="http://schemas.microsoft.com/office/powerpoint/2010/main" val="2009588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9CF55-EECA-F40E-E253-E5CC36ABF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1746D-4463-28CC-8180-C5FF1FE5C05A}"/>
              </a:ext>
            </a:extLst>
          </p:cNvPr>
          <p:cNvSpPr>
            <a:spLocks noGrp="1"/>
          </p:cNvSpPr>
          <p:nvPr>
            <p:ph type="title"/>
          </p:nvPr>
        </p:nvSpPr>
        <p:spPr/>
        <p:txBody>
          <a:bodyPr/>
          <a:lstStyle/>
          <a:p>
            <a:r>
              <a:rPr lang="en-US" b="1" dirty="0"/>
              <a:t>LLM – </a:t>
            </a:r>
            <a:r>
              <a:rPr lang="en-US" dirty="0"/>
              <a:t>Predicting the next most probable word (token)</a:t>
            </a:r>
          </a:p>
        </p:txBody>
      </p:sp>
      <p:grpSp>
        <p:nvGrpSpPr>
          <p:cNvPr id="3" name="Group 2">
            <a:extLst>
              <a:ext uri="{FF2B5EF4-FFF2-40B4-BE49-F238E27FC236}">
                <a16:creationId xmlns:a16="http://schemas.microsoft.com/office/drawing/2014/main" id="{3A3AA073-FEBD-4310-F1E0-9E1F6D50F9F3}"/>
              </a:ext>
            </a:extLst>
          </p:cNvPr>
          <p:cNvGrpSpPr/>
          <p:nvPr/>
        </p:nvGrpSpPr>
        <p:grpSpPr>
          <a:xfrm>
            <a:off x="4617631" y="2221612"/>
            <a:ext cx="5755495" cy="3295200"/>
            <a:chOff x="4617631" y="2221612"/>
            <a:chExt cx="5755495" cy="3295200"/>
          </a:xfrm>
        </p:grpSpPr>
        <p:sp>
          <p:nvSpPr>
            <p:cNvPr id="18" name="TextBox 17">
              <a:extLst>
                <a:ext uri="{FF2B5EF4-FFF2-40B4-BE49-F238E27FC236}">
                  <a16:creationId xmlns:a16="http://schemas.microsoft.com/office/drawing/2014/main" id="{A5FE7E7E-06FA-FCD2-5BF4-AEAE20576AAD}"/>
                </a:ext>
              </a:extLst>
            </p:cNvPr>
            <p:cNvSpPr txBox="1"/>
            <p:nvPr/>
          </p:nvSpPr>
          <p:spPr>
            <a:xfrm>
              <a:off x="9656904" y="3191902"/>
              <a:ext cx="689613" cy="307777"/>
            </a:xfrm>
            <a:prstGeom prst="rect">
              <a:avLst/>
            </a:prstGeom>
            <a:noFill/>
          </p:spPr>
          <p:txBody>
            <a:bodyPr wrap="none" rtlCol="0">
              <a:spAutoFit/>
            </a:bodyPr>
            <a:lstStyle/>
            <a:p>
              <a:r>
                <a:rPr lang="en-US" sz="1400" kern="0" spc="-30" dirty="0">
                  <a:solidFill>
                    <a:schemeClr val="accent2"/>
                  </a:solidFill>
                  <a:latin typeface="Poppins Medium" pitchFamily="2" charset="77"/>
                  <a:cs typeface="Poppins Medium" pitchFamily="2" charset="77"/>
                </a:rPr>
                <a:t>pants</a:t>
              </a:r>
            </a:p>
          </p:txBody>
        </p:sp>
        <p:sp>
          <p:nvSpPr>
            <p:cNvPr id="19" name="Oval 18">
              <a:extLst>
                <a:ext uri="{FF2B5EF4-FFF2-40B4-BE49-F238E27FC236}">
                  <a16:creationId xmlns:a16="http://schemas.microsoft.com/office/drawing/2014/main" id="{F76509DD-2A79-82A2-A3EF-FB7C0AE7A6DA}"/>
                </a:ext>
              </a:extLst>
            </p:cNvPr>
            <p:cNvSpPr/>
            <p:nvPr/>
          </p:nvSpPr>
          <p:spPr>
            <a:xfrm>
              <a:off x="4617631" y="2221612"/>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0FA4BF0B-1EC3-86DD-2B03-17BB6E5815BE}"/>
                </a:ext>
              </a:extLst>
            </p:cNvPr>
            <p:cNvSpPr/>
            <p:nvPr/>
          </p:nvSpPr>
          <p:spPr>
            <a:xfrm>
              <a:off x="4617631" y="2706830"/>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9A57747A-985A-90E2-0156-5504FCC30641}"/>
                </a:ext>
              </a:extLst>
            </p:cNvPr>
            <p:cNvSpPr/>
            <p:nvPr/>
          </p:nvSpPr>
          <p:spPr>
            <a:xfrm>
              <a:off x="4617631" y="3192048"/>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9F744FB5-63B6-D8CA-D929-84DAE17B9684}"/>
                </a:ext>
              </a:extLst>
            </p:cNvPr>
            <p:cNvSpPr/>
            <p:nvPr/>
          </p:nvSpPr>
          <p:spPr>
            <a:xfrm>
              <a:off x="4617631" y="3683763"/>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5CBED595-CF45-B116-3F7B-DF9D70E0F2A6}"/>
                </a:ext>
              </a:extLst>
            </p:cNvPr>
            <p:cNvSpPr/>
            <p:nvPr/>
          </p:nvSpPr>
          <p:spPr>
            <a:xfrm>
              <a:off x="4617634" y="4172229"/>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A79551EE-55C5-0D51-0A01-A96F1EBCFDE0}"/>
                </a:ext>
              </a:extLst>
            </p:cNvPr>
            <p:cNvSpPr/>
            <p:nvPr/>
          </p:nvSpPr>
          <p:spPr>
            <a:xfrm>
              <a:off x="4617631" y="4660696"/>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EA45FA5A-F650-0119-97B3-27C5B4584919}"/>
                </a:ext>
              </a:extLst>
            </p:cNvPr>
            <p:cNvSpPr/>
            <p:nvPr/>
          </p:nvSpPr>
          <p:spPr>
            <a:xfrm>
              <a:off x="4617631" y="5149162"/>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8BD303F4-1193-2A58-4E0F-593B8EB18A82}"/>
                </a:ext>
              </a:extLst>
            </p:cNvPr>
            <p:cNvSpPr/>
            <p:nvPr/>
          </p:nvSpPr>
          <p:spPr>
            <a:xfrm>
              <a:off x="6021972" y="2706830"/>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BDA4F1C3-4549-F351-99B0-9F8DC40AAB3C}"/>
                </a:ext>
              </a:extLst>
            </p:cNvPr>
            <p:cNvSpPr/>
            <p:nvPr/>
          </p:nvSpPr>
          <p:spPr>
            <a:xfrm>
              <a:off x="6021972" y="3192048"/>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48F906EE-300A-9BDC-8490-3A36CCD25F68}"/>
                </a:ext>
              </a:extLst>
            </p:cNvPr>
            <p:cNvSpPr/>
            <p:nvPr/>
          </p:nvSpPr>
          <p:spPr>
            <a:xfrm>
              <a:off x="6021972" y="3677266"/>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EE7BF417-4325-A083-50D9-79051F67CF6B}"/>
                </a:ext>
              </a:extLst>
            </p:cNvPr>
            <p:cNvSpPr/>
            <p:nvPr/>
          </p:nvSpPr>
          <p:spPr>
            <a:xfrm>
              <a:off x="6021972" y="4172229"/>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5190B5F3-0B3F-6EE3-2DDB-DA1BBFD40050}"/>
                </a:ext>
              </a:extLst>
            </p:cNvPr>
            <p:cNvSpPr/>
            <p:nvPr/>
          </p:nvSpPr>
          <p:spPr>
            <a:xfrm>
              <a:off x="6021972" y="4660696"/>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31" name="Straight Connector 30">
              <a:extLst>
                <a:ext uri="{FF2B5EF4-FFF2-40B4-BE49-F238E27FC236}">
                  <a16:creationId xmlns:a16="http://schemas.microsoft.com/office/drawing/2014/main" id="{799269A7-185C-24DD-E8E7-2F2E4027BAFC}"/>
                </a:ext>
              </a:extLst>
            </p:cNvPr>
            <p:cNvCxnSpPr>
              <a:stCxn id="19" idx="6"/>
              <a:endCxn id="26" idx="2"/>
            </p:cNvCxnSpPr>
            <p:nvPr/>
          </p:nvCxnSpPr>
          <p:spPr>
            <a:xfrm>
              <a:off x="4983981" y="2405438"/>
              <a:ext cx="1037991" cy="485218"/>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341E8EB-2144-548F-7513-60B982F2048B}"/>
                </a:ext>
              </a:extLst>
            </p:cNvPr>
            <p:cNvCxnSpPr>
              <a:cxnSpLocks/>
              <a:stCxn id="19" idx="6"/>
              <a:endCxn id="27" idx="2"/>
            </p:cNvCxnSpPr>
            <p:nvPr/>
          </p:nvCxnSpPr>
          <p:spPr>
            <a:xfrm>
              <a:off x="4983981" y="2405438"/>
              <a:ext cx="1037991" cy="97043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828F4F3A-1D15-503B-518A-DFCA09FFE118}"/>
                </a:ext>
              </a:extLst>
            </p:cNvPr>
            <p:cNvCxnSpPr>
              <a:cxnSpLocks/>
              <a:stCxn id="19" idx="6"/>
              <a:endCxn id="28" idx="2"/>
            </p:cNvCxnSpPr>
            <p:nvPr/>
          </p:nvCxnSpPr>
          <p:spPr>
            <a:xfrm>
              <a:off x="4983981" y="2405438"/>
              <a:ext cx="1037991" cy="145565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154DD4DF-44E5-7494-9BA3-92B2AD9A6B70}"/>
                </a:ext>
              </a:extLst>
            </p:cNvPr>
            <p:cNvCxnSpPr>
              <a:cxnSpLocks/>
              <a:stCxn id="19" idx="6"/>
              <a:endCxn id="29" idx="2"/>
            </p:cNvCxnSpPr>
            <p:nvPr/>
          </p:nvCxnSpPr>
          <p:spPr>
            <a:xfrm>
              <a:off x="4983981" y="2405438"/>
              <a:ext cx="1037991" cy="195061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58BE6A3-419A-585D-EC7C-AE865F8D89B0}"/>
                </a:ext>
              </a:extLst>
            </p:cNvPr>
            <p:cNvCxnSpPr>
              <a:cxnSpLocks/>
              <a:stCxn id="19" idx="6"/>
              <a:endCxn id="30" idx="2"/>
            </p:cNvCxnSpPr>
            <p:nvPr/>
          </p:nvCxnSpPr>
          <p:spPr>
            <a:xfrm>
              <a:off x="4983981" y="2405438"/>
              <a:ext cx="1037991" cy="243908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51DBEC1-3957-263E-95CB-D89F119745B5}"/>
                </a:ext>
              </a:extLst>
            </p:cNvPr>
            <p:cNvCxnSpPr>
              <a:cxnSpLocks/>
              <a:stCxn id="20" idx="6"/>
              <a:endCxn id="27" idx="2"/>
            </p:cNvCxnSpPr>
            <p:nvPr/>
          </p:nvCxnSpPr>
          <p:spPr>
            <a:xfrm>
              <a:off x="4983981" y="2890656"/>
              <a:ext cx="1037991" cy="485218"/>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25B2877-FAD0-F2E5-C48C-F90915198F4C}"/>
                </a:ext>
              </a:extLst>
            </p:cNvPr>
            <p:cNvCxnSpPr>
              <a:cxnSpLocks/>
              <a:stCxn id="20" idx="6"/>
              <a:endCxn id="28" idx="2"/>
            </p:cNvCxnSpPr>
            <p:nvPr/>
          </p:nvCxnSpPr>
          <p:spPr>
            <a:xfrm>
              <a:off x="4983981" y="2890656"/>
              <a:ext cx="1037991" cy="97043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0A4F4A4-CBB6-A110-689D-B4DF4590DB0B}"/>
                </a:ext>
              </a:extLst>
            </p:cNvPr>
            <p:cNvCxnSpPr>
              <a:cxnSpLocks/>
              <a:stCxn id="20" idx="6"/>
              <a:endCxn id="29" idx="2"/>
            </p:cNvCxnSpPr>
            <p:nvPr/>
          </p:nvCxnSpPr>
          <p:spPr>
            <a:xfrm>
              <a:off x="4983981" y="2890656"/>
              <a:ext cx="1037991" cy="146539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514BC87-0C79-BB4C-DDC8-DEF0666F9366}"/>
                </a:ext>
              </a:extLst>
            </p:cNvPr>
            <p:cNvCxnSpPr>
              <a:cxnSpLocks/>
              <a:stCxn id="20" idx="6"/>
              <a:endCxn id="30" idx="2"/>
            </p:cNvCxnSpPr>
            <p:nvPr/>
          </p:nvCxnSpPr>
          <p:spPr>
            <a:xfrm>
              <a:off x="4983981" y="2890656"/>
              <a:ext cx="1037991" cy="195386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333B97FF-3079-DBF8-9240-BC271EC559A4}"/>
                </a:ext>
              </a:extLst>
            </p:cNvPr>
            <p:cNvCxnSpPr>
              <a:cxnSpLocks/>
              <a:stCxn id="20" idx="6"/>
              <a:endCxn id="26" idx="2"/>
            </p:cNvCxnSpPr>
            <p:nvPr/>
          </p:nvCxnSpPr>
          <p:spPr>
            <a:xfrm>
              <a:off x="4983981" y="2890656"/>
              <a:ext cx="1037991"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EE4D14A-F887-8B33-5016-04AB7B45A061}"/>
                </a:ext>
              </a:extLst>
            </p:cNvPr>
            <p:cNvCxnSpPr>
              <a:cxnSpLocks/>
              <a:stCxn id="21" idx="6"/>
              <a:endCxn id="26" idx="2"/>
            </p:cNvCxnSpPr>
            <p:nvPr/>
          </p:nvCxnSpPr>
          <p:spPr>
            <a:xfrm flipV="1">
              <a:off x="4983981" y="2890656"/>
              <a:ext cx="1037991" cy="485218"/>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D14F346-1DDC-BCE0-2621-CE5535D98841}"/>
                </a:ext>
              </a:extLst>
            </p:cNvPr>
            <p:cNvCxnSpPr>
              <a:cxnSpLocks/>
              <a:stCxn id="21" idx="6"/>
              <a:endCxn id="27" idx="2"/>
            </p:cNvCxnSpPr>
            <p:nvPr/>
          </p:nvCxnSpPr>
          <p:spPr>
            <a:xfrm>
              <a:off x="4983981" y="3375874"/>
              <a:ext cx="1037991"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9BA0EF77-A922-DAD0-567E-CCCF34642801}"/>
                </a:ext>
              </a:extLst>
            </p:cNvPr>
            <p:cNvCxnSpPr>
              <a:cxnSpLocks/>
              <a:stCxn id="21" idx="6"/>
              <a:endCxn id="28" idx="2"/>
            </p:cNvCxnSpPr>
            <p:nvPr/>
          </p:nvCxnSpPr>
          <p:spPr>
            <a:xfrm>
              <a:off x="4983981" y="3375874"/>
              <a:ext cx="1037991" cy="485218"/>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9066DFC-F28A-0400-AF01-435CD49F679B}"/>
                </a:ext>
              </a:extLst>
            </p:cNvPr>
            <p:cNvCxnSpPr>
              <a:cxnSpLocks/>
              <a:stCxn id="21" idx="6"/>
              <a:endCxn id="29" idx="2"/>
            </p:cNvCxnSpPr>
            <p:nvPr/>
          </p:nvCxnSpPr>
          <p:spPr>
            <a:xfrm>
              <a:off x="4983981" y="3375874"/>
              <a:ext cx="1037991" cy="98018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FC4BF85F-7DE8-A6F0-959D-CC4FAAB86EF2}"/>
                </a:ext>
              </a:extLst>
            </p:cNvPr>
            <p:cNvCxnSpPr>
              <a:cxnSpLocks/>
              <a:stCxn id="21" idx="6"/>
              <a:endCxn id="30" idx="2"/>
            </p:cNvCxnSpPr>
            <p:nvPr/>
          </p:nvCxnSpPr>
          <p:spPr>
            <a:xfrm>
              <a:off x="4983981" y="3375874"/>
              <a:ext cx="1037991" cy="1468648"/>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6FB98EF9-F414-30CC-DB25-53C4754FCDA1}"/>
                </a:ext>
              </a:extLst>
            </p:cNvPr>
            <p:cNvCxnSpPr>
              <a:cxnSpLocks/>
              <a:stCxn id="22" idx="6"/>
              <a:endCxn id="26" idx="2"/>
            </p:cNvCxnSpPr>
            <p:nvPr/>
          </p:nvCxnSpPr>
          <p:spPr>
            <a:xfrm flipV="1">
              <a:off x="4983981" y="2890656"/>
              <a:ext cx="1037991" cy="97693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9E0F76B-6046-27D1-E6E0-D2FCCB1A3864}"/>
                </a:ext>
              </a:extLst>
            </p:cNvPr>
            <p:cNvCxnSpPr>
              <a:cxnSpLocks/>
              <a:stCxn id="22" idx="6"/>
              <a:endCxn id="27" idx="2"/>
            </p:cNvCxnSpPr>
            <p:nvPr/>
          </p:nvCxnSpPr>
          <p:spPr>
            <a:xfrm flipV="1">
              <a:off x="4983981" y="3375874"/>
              <a:ext cx="1037991" cy="491715"/>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17CAEE61-50E3-C33D-F2B8-01E910C79F2D}"/>
                </a:ext>
              </a:extLst>
            </p:cNvPr>
            <p:cNvCxnSpPr>
              <a:cxnSpLocks/>
              <a:stCxn id="22" idx="6"/>
              <a:endCxn id="28" idx="2"/>
            </p:cNvCxnSpPr>
            <p:nvPr/>
          </p:nvCxnSpPr>
          <p:spPr>
            <a:xfrm flipV="1">
              <a:off x="4983981" y="3861092"/>
              <a:ext cx="1037991" cy="649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935321E9-A0CE-DAF8-D001-8B1718BA18C8}"/>
                </a:ext>
              </a:extLst>
            </p:cNvPr>
            <p:cNvCxnSpPr>
              <a:cxnSpLocks/>
              <a:stCxn id="22" idx="6"/>
              <a:endCxn id="29" idx="2"/>
            </p:cNvCxnSpPr>
            <p:nvPr/>
          </p:nvCxnSpPr>
          <p:spPr>
            <a:xfrm>
              <a:off x="4983981" y="3867589"/>
              <a:ext cx="1037991" cy="48846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A410CA3-AF4B-62B7-73BF-DCC01350F87D}"/>
                </a:ext>
              </a:extLst>
            </p:cNvPr>
            <p:cNvCxnSpPr>
              <a:cxnSpLocks/>
              <a:stCxn id="22" idx="6"/>
              <a:endCxn id="30" idx="2"/>
            </p:cNvCxnSpPr>
            <p:nvPr/>
          </p:nvCxnSpPr>
          <p:spPr>
            <a:xfrm>
              <a:off x="4983981" y="3867589"/>
              <a:ext cx="1037991" cy="97693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4CD7DAFC-BF45-00A1-2496-E61AFB0A52FC}"/>
                </a:ext>
              </a:extLst>
            </p:cNvPr>
            <p:cNvCxnSpPr>
              <a:cxnSpLocks/>
              <a:stCxn id="23" idx="6"/>
              <a:endCxn id="26" idx="2"/>
            </p:cNvCxnSpPr>
            <p:nvPr/>
          </p:nvCxnSpPr>
          <p:spPr>
            <a:xfrm flipV="1">
              <a:off x="4983984" y="2890656"/>
              <a:ext cx="1037988" cy="146539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CDC52B7-AE40-C3E5-48BD-C6A38F74EE9A}"/>
                </a:ext>
              </a:extLst>
            </p:cNvPr>
            <p:cNvCxnSpPr>
              <a:cxnSpLocks/>
              <a:stCxn id="23" idx="6"/>
              <a:endCxn id="27" idx="2"/>
            </p:cNvCxnSpPr>
            <p:nvPr/>
          </p:nvCxnSpPr>
          <p:spPr>
            <a:xfrm flipV="1">
              <a:off x="4983984" y="3375874"/>
              <a:ext cx="1037988" cy="980181"/>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D77B12A4-C015-709F-CE9E-C222F6013DFA}"/>
                </a:ext>
              </a:extLst>
            </p:cNvPr>
            <p:cNvCxnSpPr>
              <a:cxnSpLocks/>
              <a:stCxn id="23" idx="6"/>
              <a:endCxn id="28" idx="2"/>
            </p:cNvCxnSpPr>
            <p:nvPr/>
          </p:nvCxnSpPr>
          <p:spPr>
            <a:xfrm flipV="1">
              <a:off x="4983984" y="3861092"/>
              <a:ext cx="1037988" cy="49496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0580805E-D482-E14E-6F68-78B9DC23CC18}"/>
                </a:ext>
              </a:extLst>
            </p:cNvPr>
            <p:cNvCxnSpPr>
              <a:cxnSpLocks/>
              <a:stCxn id="23" idx="6"/>
              <a:endCxn id="29" idx="2"/>
            </p:cNvCxnSpPr>
            <p:nvPr/>
          </p:nvCxnSpPr>
          <p:spPr>
            <a:xfrm>
              <a:off x="4983984" y="4356055"/>
              <a:ext cx="1037988"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9F3406DC-06BB-7C6D-9675-F502357AB80B}"/>
                </a:ext>
              </a:extLst>
            </p:cNvPr>
            <p:cNvCxnSpPr>
              <a:cxnSpLocks/>
              <a:stCxn id="23" idx="6"/>
              <a:endCxn id="30" idx="2"/>
            </p:cNvCxnSpPr>
            <p:nvPr/>
          </p:nvCxnSpPr>
          <p:spPr>
            <a:xfrm>
              <a:off x="4983984" y="4356055"/>
              <a:ext cx="1037988" cy="48846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97F64BDE-8B11-6AC0-94EE-C0818A1724AA}"/>
                </a:ext>
              </a:extLst>
            </p:cNvPr>
            <p:cNvCxnSpPr>
              <a:cxnSpLocks/>
              <a:stCxn id="24" idx="6"/>
              <a:endCxn id="26" idx="2"/>
            </p:cNvCxnSpPr>
            <p:nvPr/>
          </p:nvCxnSpPr>
          <p:spPr>
            <a:xfrm flipV="1">
              <a:off x="4983981" y="2890656"/>
              <a:ext cx="1037991" cy="195386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6D642CF3-BC84-656C-2922-EC00B6CECBCA}"/>
                </a:ext>
              </a:extLst>
            </p:cNvPr>
            <p:cNvCxnSpPr>
              <a:cxnSpLocks/>
              <a:stCxn id="24" idx="6"/>
              <a:endCxn id="27" idx="2"/>
            </p:cNvCxnSpPr>
            <p:nvPr/>
          </p:nvCxnSpPr>
          <p:spPr>
            <a:xfrm flipV="1">
              <a:off x="4983981" y="3375874"/>
              <a:ext cx="1037991" cy="1468648"/>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B1276D8A-6E05-D71B-D7A8-0A4CE4A2461C}"/>
                </a:ext>
              </a:extLst>
            </p:cNvPr>
            <p:cNvCxnSpPr>
              <a:cxnSpLocks/>
              <a:stCxn id="24" idx="6"/>
              <a:endCxn id="28" idx="2"/>
            </p:cNvCxnSpPr>
            <p:nvPr/>
          </p:nvCxnSpPr>
          <p:spPr>
            <a:xfrm flipV="1">
              <a:off x="4983981" y="3861092"/>
              <a:ext cx="1037991" cy="98343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5E9F37D2-643A-59E4-E6F7-725BE3EF9CF4}"/>
                </a:ext>
              </a:extLst>
            </p:cNvPr>
            <p:cNvCxnSpPr>
              <a:cxnSpLocks/>
              <a:stCxn id="24" idx="6"/>
              <a:endCxn id="29" idx="2"/>
            </p:cNvCxnSpPr>
            <p:nvPr/>
          </p:nvCxnSpPr>
          <p:spPr>
            <a:xfrm flipV="1">
              <a:off x="4983981" y="4356055"/>
              <a:ext cx="1037991" cy="48846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3DCCB94E-42D1-4A4C-CE81-14808FE3E6B8}"/>
                </a:ext>
              </a:extLst>
            </p:cNvPr>
            <p:cNvCxnSpPr>
              <a:cxnSpLocks/>
              <a:stCxn id="24" idx="6"/>
              <a:endCxn id="30" idx="2"/>
            </p:cNvCxnSpPr>
            <p:nvPr/>
          </p:nvCxnSpPr>
          <p:spPr>
            <a:xfrm>
              <a:off x="4983981" y="4844522"/>
              <a:ext cx="1037991"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0E5BF2A7-F15C-E756-CEB3-C8279728D011}"/>
                </a:ext>
              </a:extLst>
            </p:cNvPr>
            <p:cNvCxnSpPr>
              <a:cxnSpLocks/>
              <a:stCxn id="25" idx="6"/>
              <a:endCxn id="26" idx="2"/>
            </p:cNvCxnSpPr>
            <p:nvPr/>
          </p:nvCxnSpPr>
          <p:spPr>
            <a:xfrm flipV="1">
              <a:off x="4983981" y="2890656"/>
              <a:ext cx="1037991" cy="244233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408412E0-E8A5-D8C6-0BAE-A7451A2B5DCD}"/>
                </a:ext>
              </a:extLst>
            </p:cNvPr>
            <p:cNvCxnSpPr>
              <a:cxnSpLocks/>
              <a:stCxn id="25" idx="6"/>
              <a:endCxn id="27" idx="2"/>
            </p:cNvCxnSpPr>
            <p:nvPr/>
          </p:nvCxnSpPr>
          <p:spPr>
            <a:xfrm flipV="1">
              <a:off x="4983981" y="3375874"/>
              <a:ext cx="1037991" cy="1957114"/>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F1E09DDC-5EAC-8492-FAB8-8F6964F147DD}"/>
                </a:ext>
              </a:extLst>
            </p:cNvPr>
            <p:cNvCxnSpPr>
              <a:cxnSpLocks/>
              <a:stCxn id="25" idx="6"/>
              <a:endCxn id="28" idx="2"/>
            </p:cNvCxnSpPr>
            <p:nvPr/>
          </p:nvCxnSpPr>
          <p:spPr>
            <a:xfrm flipV="1">
              <a:off x="4983981" y="3861092"/>
              <a:ext cx="1037991" cy="147189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99FD5060-4938-BA29-E121-72C291516A42}"/>
                </a:ext>
              </a:extLst>
            </p:cNvPr>
            <p:cNvCxnSpPr>
              <a:cxnSpLocks/>
              <a:stCxn id="25" idx="6"/>
              <a:endCxn id="29" idx="2"/>
            </p:cNvCxnSpPr>
            <p:nvPr/>
          </p:nvCxnSpPr>
          <p:spPr>
            <a:xfrm flipV="1">
              <a:off x="4983981" y="4356055"/>
              <a:ext cx="1037991" cy="976933"/>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50C54406-33CF-0CDA-E8A2-C417E1B162FF}"/>
                </a:ext>
              </a:extLst>
            </p:cNvPr>
            <p:cNvCxnSpPr>
              <a:cxnSpLocks/>
              <a:stCxn id="25" idx="6"/>
              <a:endCxn id="30" idx="2"/>
            </p:cNvCxnSpPr>
            <p:nvPr/>
          </p:nvCxnSpPr>
          <p:spPr>
            <a:xfrm flipV="1">
              <a:off x="4983981" y="4844522"/>
              <a:ext cx="1037991" cy="488466"/>
            </a:xfrm>
            <a:prstGeom prst="line">
              <a:avLst/>
            </a:prstGeom>
            <a:ln w="12700"/>
            <a:effectLst/>
          </p:spPr>
          <p:style>
            <a:lnRef idx="2">
              <a:schemeClr val="accent1"/>
            </a:lnRef>
            <a:fillRef idx="0">
              <a:schemeClr val="accent1"/>
            </a:fillRef>
            <a:effectRef idx="1">
              <a:schemeClr val="accent1"/>
            </a:effectRef>
            <a:fontRef idx="minor">
              <a:schemeClr val="tx1"/>
            </a:fontRef>
          </p:style>
        </p:cxnSp>
        <p:sp>
          <p:nvSpPr>
            <p:cNvPr id="66" name="Oval 65">
              <a:extLst>
                <a:ext uri="{FF2B5EF4-FFF2-40B4-BE49-F238E27FC236}">
                  <a16:creationId xmlns:a16="http://schemas.microsoft.com/office/drawing/2014/main" id="{B588E966-FDEB-B3A6-1561-9E7126E5FB41}"/>
                </a:ext>
              </a:extLst>
            </p:cNvPr>
            <p:cNvSpPr/>
            <p:nvPr/>
          </p:nvSpPr>
          <p:spPr>
            <a:xfrm>
              <a:off x="7404878" y="3192048"/>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7" name="Oval 66">
              <a:extLst>
                <a:ext uri="{FF2B5EF4-FFF2-40B4-BE49-F238E27FC236}">
                  <a16:creationId xmlns:a16="http://schemas.microsoft.com/office/drawing/2014/main" id="{72C6978A-BE7C-79F6-286E-F42250DBF80B}"/>
                </a:ext>
              </a:extLst>
            </p:cNvPr>
            <p:cNvSpPr/>
            <p:nvPr/>
          </p:nvSpPr>
          <p:spPr>
            <a:xfrm>
              <a:off x="7404878" y="3677266"/>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691CAD10-299C-FE72-789C-6F862237E909}"/>
                </a:ext>
              </a:extLst>
            </p:cNvPr>
            <p:cNvSpPr/>
            <p:nvPr/>
          </p:nvSpPr>
          <p:spPr>
            <a:xfrm>
              <a:off x="7404878" y="4172229"/>
              <a:ext cx="366350" cy="36765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69" name="Straight Connector 68">
              <a:extLst>
                <a:ext uri="{FF2B5EF4-FFF2-40B4-BE49-F238E27FC236}">
                  <a16:creationId xmlns:a16="http://schemas.microsoft.com/office/drawing/2014/main" id="{AD63E333-95B5-E8B2-A2A4-3EF51A51C2F7}"/>
                </a:ext>
              </a:extLst>
            </p:cNvPr>
            <p:cNvCxnSpPr>
              <a:cxnSpLocks/>
              <a:endCxn id="66" idx="2"/>
            </p:cNvCxnSpPr>
            <p:nvPr/>
          </p:nvCxnSpPr>
          <p:spPr>
            <a:xfrm>
              <a:off x="6366887" y="2891305"/>
              <a:ext cx="1037991" cy="48456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F154A1A4-BF54-2ED7-CD2D-E692050DB204}"/>
                </a:ext>
              </a:extLst>
            </p:cNvPr>
            <p:cNvCxnSpPr>
              <a:cxnSpLocks/>
              <a:endCxn id="67" idx="2"/>
            </p:cNvCxnSpPr>
            <p:nvPr/>
          </p:nvCxnSpPr>
          <p:spPr>
            <a:xfrm>
              <a:off x="6366887" y="2891305"/>
              <a:ext cx="1037991" cy="96978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509CF72A-8652-189E-BE37-28B017102586}"/>
                </a:ext>
              </a:extLst>
            </p:cNvPr>
            <p:cNvCxnSpPr>
              <a:cxnSpLocks/>
              <a:endCxn id="68" idx="2"/>
            </p:cNvCxnSpPr>
            <p:nvPr/>
          </p:nvCxnSpPr>
          <p:spPr>
            <a:xfrm>
              <a:off x="6366887" y="2891305"/>
              <a:ext cx="1037991" cy="146475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D347ED4F-92BC-8418-5EC9-DF41E982FA97}"/>
                </a:ext>
              </a:extLst>
            </p:cNvPr>
            <p:cNvCxnSpPr>
              <a:cxnSpLocks/>
              <a:endCxn id="66" idx="2"/>
            </p:cNvCxnSpPr>
            <p:nvPr/>
          </p:nvCxnSpPr>
          <p:spPr>
            <a:xfrm flipV="1">
              <a:off x="6366887" y="3375874"/>
              <a:ext cx="1037991" cy="64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781ABC2E-758D-6225-B1F9-B109DCE3AB46}"/>
                </a:ext>
              </a:extLst>
            </p:cNvPr>
            <p:cNvCxnSpPr>
              <a:cxnSpLocks/>
              <a:endCxn id="67" idx="2"/>
            </p:cNvCxnSpPr>
            <p:nvPr/>
          </p:nvCxnSpPr>
          <p:spPr>
            <a:xfrm>
              <a:off x="6366887" y="3376523"/>
              <a:ext cx="1037991" cy="48456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E4169799-0752-E4BF-58E0-FB149B67F7C2}"/>
                </a:ext>
              </a:extLst>
            </p:cNvPr>
            <p:cNvCxnSpPr>
              <a:cxnSpLocks/>
              <a:endCxn id="68" idx="2"/>
            </p:cNvCxnSpPr>
            <p:nvPr/>
          </p:nvCxnSpPr>
          <p:spPr>
            <a:xfrm>
              <a:off x="6366887" y="3376523"/>
              <a:ext cx="1037991" cy="97953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F50575F3-0269-C7D5-6CB8-03614C24CD1C}"/>
                </a:ext>
              </a:extLst>
            </p:cNvPr>
            <p:cNvCxnSpPr>
              <a:cxnSpLocks/>
              <a:endCxn id="66" idx="2"/>
            </p:cNvCxnSpPr>
            <p:nvPr/>
          </p:nvCxnSpPr>
          <p:spPr>
            <a:xfrm flipV="1">
              <a:off x="6366887" y="3375874"/>
              <a:ext cx="1037991" cy="49236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51927150-1724-00E6-D979-CD37B6221A89}"/>
                </a:ext>
              </a:extLst>
            </p:cNvPr>
            <p:cNvCxnSpPr>
              <a:cxnSpLocks/>
              <a:endCxn id="67" idx="2"/>
            </p:cNvCxnSpPr>
            <p:nvPr/>
          </p:nvCxnSpPr>
          <p:spPr>
            <a:xfrm flipV="1">
              <a:off x="6366887" y="3861092"/>
              <a:ext cx="1037991" cy="714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36552C81-7E48-28E6-18A7-758880D0E094}"/>
                </a:ext>
              </a:extLst>
            </p:cNvPr>
            <p:cNvCxnSpPr>
              <a:cxnSpLocks/>
              <a:endCxn id="68" idx="2"/>
            </p:cNvCxnSpPr>
            <p:nvPr/>
          </p:nvCxnSpPr>
          <p:spPr>
            <a:xfrm>
              <a:off x="6366887" y="3868238"/>
              <a:ext cx="1037991" cy="487817"/>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CBF85B5B-66F0-FE55-A360-7D6CCF27243F}"/>
                </a:ext>
              </a:extLst>
            </p:cNvPr>
            <p:cNvCxnSpPr>
              <a:cxnSpLocks/>
              <a:endCxn id="66" idx="2"/>
            </p:cNvCxnSpPr>
            <p:nvPr/>
          </p:nvCxnSpPr>
          <p:spPr>
            <a:xfrm flipV="1">
              <a:off x="6366890" y="3375874"/>
              <a:ext cx="1037988" cy="98083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76853341-C0F1-136C-A654-710CFE2C9002}"/>
                </a:ext>
              </a:extLst>
            </p:cNvPr>
            <p:cNvCxnSpPr>
              <a:cxnSpLocks/>
              <a:endCxn id="67" idx="2"/>
            </p:cNvCxnSpPr>
            <p:nvPr/>
          </p:nvCxnSpPr>
          <p:spPr>
            <a:xfrm flipV="1">
              <a:off x="6366890" y="3861092"/>
              <a:ext cx="1037988" cy="495612"/>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D5F204B7-5696-56B8-747D-F76268929295}"/>
                </a:ext>
              </a:extLst>
            </p:cNvPr>
            <p:cNvCxnSpPr>
              <a:cxnSpLocks/>
              <a:endCxn id="68" idx="2"/>
            </p:cNvCxnSpPr>
            <p:nvPr/>
          </p:nvCxnSpPr>
          <p:spPr>
            <a:xfrm flipV="1">
              <a:off x="6366890" y="4356055"/>
              <a:ext cx="1037988" cy="64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9792D40A-E1BD-AD37-D868-E4FB99D1810C}"/>
                </a:ext>
              </a:extLst>
            </p:cNvPr>
            <p:cNvCxnSpPr>
              <a:cxnSpLocks/>
              <a:endCxn id="66" idx="2"/>
            </p:cNvCxnSpPr>
            <p:nvPr/>
          </p:nvCxnSpPr>
          <p:spPr>
            <a:xfrm flipV="1">
              <a:off x="6366887" y="3375874"/>
              <a:ext cx="1037991" cy="146929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242534B1-485A-9C38-411A-ECE81BDB3DCC}"/>
                </a:ext>
              </a:extLst>
            </p:cNvPr>
            <p:cNvCxnSpPr>
              <a:cxnSpLocks/>
              <a:endCxn id="67" idx="2"/>
            </p:cNvCxnSpPr>
            <p:nvPr/>
          </p:nvCxnSpPr>
          <p:spPr>
            <a:xfrm flipV="1">
              <a:off x="6366887" y="3861092"/>
              <a:ext cx="1037991" cy="984079"/>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7CAD1899-5838-B957-0A04-3AA11D67118E}"/>
                </a:ext>
              </a:extLst>
            </p:cNvPr>
            <p:cNvCxnSpPr>
              <a:cxnSpLocks/>
              <a:endCxn id="68" idx="2"/>
            </p:cNvCxnSpPr>
            <p:nvPr/>
          </p:nvCxnSpPr>
          <p:spPr>
            <a:xfrm flipV="1">
              <a:off x="6366887" y="4356055"/>
              <a:ext cx="1037991" cy="489116"/>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EE15B5A0-A59E-DBBD-3F35-E3DA9EDB4A5B}"/>
                </a:ext>
              </a:extLst>
            </p:cNvPr>
            <p:cNvCxnSpPr>
              <a:cxnSpLocks/>
            </p:cNvCxnSpPr>
            <p:nvPr/>
          </p:nvCxnSpPr>
          <p:spPr>
            <a:xfrm>
              <a:off x="8132395" y="3337740"/>
              <a:ext cx="1314420" cy="0"/>
            </a:xfrm>
            <a:prstGeom prst="straightConnector1">
              <a:avLst/>
            </a:prstGeom>
            <a:ln w="12700">
              <a:tailEnd type="triangle"/>
            </a:ln>
            <a:effectLst/>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72EEF3C1-F94D-E118-8366-EB65B6C6B516}"/>
                </a:ext>
              </a:extLst>
            </p:cNvPr>
            <p:cNvSpPr txBox="1"/>
            <p:nvPr/>
          </p:nvSpPr>
          <p:spPr>
            <a:xfrm>
              <a:off x="8417653" y="3045486"/>
              <a:ext cx="631904" cy="307777"/>
            </a:xfrm>
            <a:prstGeom prst="rect">
              <a:avLst/>
            </a:prstGeom>
            <a:noFill/>
          </p:spPr>
          <p:txBody>
            <a:bodyPr wrap="none" rtlCol="0">
              <a:spAutoFit/>
            </a:bodyPr>
            <a:lstStyle/>
            <a:p>
              <a:r>
                <a:rPr lang="en-US" sz="1400" kern="0" spc="-30" dirty="0">
                  <a:solidFill>
                    <a:schemeClr val="accent2"/>
                  </a:solidFill>
                  <a:latin typeface="Poppins Medium" pitchFamily="2" charset="77"/>
                  <a:cs typeface="Poppins Medium" pitchFamily="2" charset="77"/>
                </a:rPr>
                <a:t>91.2%</a:t>
              </a:r>
            </a:p>
          </p:txBody>
        </p:sp>
        <p:sp>
          <p:nvSpPr>
            <p:cNvPr id="86" name="TextBox 85">
              <a:extLst>
                <a:ext uri="{FF2B5EF4-FFF2-40B4-BE49-F238E27FC236}">
                  <a16:creationId xmlns:a16="http://schemas.microsoft.com/office/drawing/2014/main" id="{A0D2E8D6-4C69-041B-FB81-175A25F270D7}"/>
                </a:ext>
              </a:extLst>
            </p:cNvPr>
            <p:cNvSpPr txBox="1"/>
            <p:nvPr/>
          </p:nvSpPr>
          <p:spPr>
            <a:xfrm>
              <a:off x="9656904" y="3698539"/>
              <a:ext cx="399148" cy="307777"/>
            </a:xfrm>
            <a:prstGeom prst="rect">
              <a:avLst/>
            </a:prstGeom>
            <a:noFill/>
          </p:spPr>
          <p:txBody>
            <a:bodyPr wrap="none" rtlCol="0">
              <a:spAutoFit/>
            </a:bodyPr>
            <a:lstStyle/>
            <a:p>
              <a:r>
                <a:rPr lang="en-US" sz="1400" kern="0" spc="-30" dirty="0">
                  <a:solidFill>
                    <a:schemeClr val="accent2"/>
                  </a:solidFill>
                  <a:latin typeface="Poppins Medium" pitchFamily="2" charset="77"/>
                  <a:cs typeface="Poppins Medium" pitchFamily="2" charset="77"/>
                </a:rPr>
                <a:t>tie</a:t>
              </a:r>
            </a:p>
          </p:txBody>
        </p:sp>
        <p:cxnSp>
          <p:nvCxnSpPr>
            <p:cNvPr id="87" name="Straight Arrow Connector 86">
              <a:extLst>
                <a:ext uri="{FF2B5EF4-FFF2-40B4-BE49-F238E27FC236}">
                  <a16:creationId xmlns:a16="http://schemas.microsoft.com/office/drawing/2014/main" id="{AA3928A7-67DC-7D12-08E4-1AFA998859B9}"/>
                </a:ext>
              </a:extLst>
            </p:cNvPr>
            <p:cNvCxnSpPr>
              <a:cxnSpLocks/>
            </p:cNvCxnSpPr>
            <p:nvPr/>
          </p:nvCxnSpPr>
          <p:spPr>
            <a:xfrm>
              <a:off x="8132395" y="3844382"/>
              <a:ext cx="1314420" cy="0"/>
            </a:xfrm>
            <a:prstGeom prst="straightConnector1">
              <a:avLst/>
            </a:prstGeom>
            <a:ln w="12700">
              <a:tailEnd type="triangle"/>
            </a:ln>
            <a:effectLst/>
          </p:spPr>
          <p:style>
            <a:lnRef idx="2">
              <a:schemeClr val="accent1"/>
            </a:lnRef>
            <a:fillRef idx="0">
              <a:schemeClr val="accent1"/>
            </a:fillRef>
            <a:effectRef idx="1">
              <a:schemeClr val="accent1"/>
            </a:effectRef>
            <a:fontRef idx="minor">
              <a:schemeClr val="tx1"/>
            </a:fontRef>
          </p:style>
        </p:cxnSp>
        <p:sp>
          <p:nvSpPr>
            <p:cNvPr id="88" name="TextBox 87">
              <a:extLst>
                <a:ext uri="{FF2B5EF4-FFF2-40B4-BE49-F238E27FC236}">
                  <a16:creationId xmlns:a16="http://schemas.microsoft.com/office/drawing/2014/main" id="{3C336A24-3AD2-08E2-8505-E03CD57A5FFF}"/>
                </a:ext>
              </a:extLst>
            </p:cNvPr>
            <p:cNvSpPr txBox="1"/>
            <p:nvPr/>
          </p:nvSpPr>
          <p:spPr>
            <a:xfrm>
              <a:off x="8417653" y="3552127"/>
              <a:ext cx="578043" cy="307777"/>
            </a:xfrm>
            <a:prstGeom prst="rect">
              <a:avLst/>
            </a:prstGeom>
            <a:noFill/>
          </p:spPr>
          <p:txBody>
            <a:bodyPr wrap="none" rtlCol="0">
              <a:spAutoFit/>
            </a:bodyPr>
            <a:lstStyle/>
            <a:p>
              <a:r>
                <a:rPr lang="en-US" sz="1400" kern="0" spc="-30" dirty="0">
                  <a:solidFill>
                    <a:schemeClr val="accent2"/>
                  </a:solidFill>
                  <a:latin typeface="Poppins Medium" pitchFamily="2" charset="77"/>
                  <a:cs typeface="Poppins Medium" pitchFamily="2" charset="77"/>
                </a:rPr>
                <a:t>6.3%</a:t>
              </a:r>
            </a:p>
          </p:txBody>
        </p:sp>
        <p:sp>
          <p:nvSpPr>
            <p:cNvPr id="89" name="TextBox 88">
              <a:extLst>
                <a:ext uri="{FF2B5EF4-FFF2-40B4-BE49-F238E27FC236}">
                  <a16:creationId xmlns:a16="http://schemas.microsoft.com/office/drawing/2014/main" id="{673863C5-928A-E52E-B2D9-EAD5122BB951}"/>
                </a:ext>
              </a:extLst>
            </p:cNvPr>
            <p:cNvSpPr txBox="1"/>
            <p:nvPr/>
          </p:nvSpPr>
          <p:spPr>
            <a:xfrm>
              <a:off x="9656904" y="4205182"/>
              <a:ext cx="716222" cy="307777"/>
            </a:xfrm>
            <a:prstGeom prst="rect">
              <a:avLst/>
            </a:prstGeom>
            <a:noFill/>
          </p:spPr>
          <p:txBody>
            <a:bodyPr wrap="none" rtlCol="0">
              <a:spAutoFit/>
            </a:bodyPr>
            <a:lstStyle/>
            <a:p>
              <a:r>
                <a:rPr lang="en-US" sz="1400" kern="0" spc="-30" dirty="0">
                  <a:solidFill>
                    <a:schemeClr val="accent2"/>
                  </a:solidFill>
                  <a:latin typeface="Poppins Medium" pitchFamily="2" charset="77"/>
                  <a:cs typeface="Poppins Medium" pitchFamily="2" charset="77"/>
                </a:rPr>
                <a:t>jacket</a:t>
              </a:r>
            </a:p>
          </p:txBody>
        </p:sp>
        <p:cxnSp>
          <p:nvCxnSpPr>
            <p:cNvPr id="90" name="Straight Arrow Connector 89">
              <a:extLst>
                <a:ext uri="{FF2B5EF4-FFF2-40B4-BE49-F238E27FC236}">
                  <a16:creationId xmlns:a16="http://schemas.microsoft.com/office/drawing/2014/main" id="{1601E419-9060-D0E0-7C7F-D3DAA09EEF6C}"/>
                </a:ext>
              </a:extLst>
            </p:cNvPr>
            <p:cNvCxnSpPr>
              <a:cxnSpLocks/>
            </p:cNvCxnSpPr>
            <p:nvPr/>
          </p:nvCxnSpPr>
          <p:spPr>
            <a:xfrm>
              <a:off x="8132395" y="4351021"/>
              <a:ext cx="1314420" cy="0"/>
            </a:xfrm>
            <a:prstGeom prst="straightConnector1">
              <a:avLst/>
            </a:prstGeom>
            <a:ln w="12700">
              <a:tailEnd type="triangle"/>
            </a:ln>
            <a:effectLst/>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9C3E389F-F99A-F72E-4763-E08D8FCF3605}"/>
                </a:ext>
              </a:extLst>
            </p:cNvPr>
            <p:cNvSpPr txBox="1"/>
            <p:nvPr/>
          </p:nvSpPr>
          <p:spPr>
            <a:xfrm>
              <a:off x="8417653" y="4058765"/>
              <a:ext cx="571631" cy="307777"/>
            </a:xfrm>
            <a:prstGeom prst="rect">
              <a:avLst/>
            </a:prstGeom>
            <a:noFill/>
          </p:spPr>
          <p:txBody>
            <a:bodyPr wrap="none" rtlCol="0">
              <a:spAutoFit/>
            </a:bodyPr>
            <a:lstStyle/>
            <a:p>
              <a:r>
                <a:rPr lang="en-US" sz="1400" kern="0" spc="-30" dirty="0">
                  <a:solidFill>
                    <a:schemeClr val="accent2"/>
                  </a:solidFill>
                  <a:latin typeface="Poppins Medium" pitchFamily="2" charset="77"/>
                  <a:cs typeface="Poppins Medium" pitchFamily="2" charset="77"/>
                </a:rPr>
                <a:t>5.7%</a:t>
              </a:r>
            </a:p>
          </p:txBody>
        </p:sp>
      </p:grpSp>
      <p:sp>
        <p:nvSpPr>
          <p:cNvPr id="92" name="TextBox 91">
            <a:extLst>
              <a:ext uri="{FF2B5EF4-FFF2-40B4-BE49-F238E27FC236}">
                <a16:creationId xmlns:a16="http://schemas.microsoft.com/office/drawing/2014/main" id="{4A631F5D-FB52-F8F1-350B-6E1A7E4FD443}"/>
              </a:ext>
            </a:extLst>
          </p:cNvPr>
          <p:cNvSpPr txBox="1"/>
          <p:nvPr/>
        </p:nvSpPr>
        <p:spPr>
          <a:xfrm>
            <a:off x="4617631" y="1138972"/>
            <a:ext cx="5904066" cy="461665"/>
          </a:xfrm>
          <a:prstGeom prst="rect">
            <a:avLst/>
          </a:prstGeom>
          <a:noFill/>
        </p:spPr>
        <p:txBody>
          <a:bodyPr wrap="square" rtlCol="0">
            <a:spAutoFit/>
          </a:bodyPr>
          <a:lstStyle/>
          <a:p>
            <a:r>
              <a:rPr lang="en-US" sz="2400" kern="0" spc="-30" dirty="0">
                <a:solidFill>
                  <a:schemeClr val="accent2"/>
                </a:solidFill>
                <a:latin typeface="Poppins Medium" pitchFamily="2" charset="77"/>
                <a:cs typeface="Poppins Medium" pitchFamily="2" charset="77"/>
              </a:rPr>
              <a:t>After he put on his shirt, he put on his…</a:t>
            </a:r>
          </a:p>
        </p:txBody>
      </p:sp>
    </p:spTree>
    <p:extLst>
      <p:ext uri="{BB962C8B-B14F-4D97-AF65-F5344CB8AC3E}">
        <p14:creationId xmlns:p14="http://schemas.microsoft.com/office/powerpoint/2010/main" val="1753425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190EE-32EC-01C8-FFCC-0806E27B5DE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581E79D-DC23-4118-017A-217411A6C2A9}"/>
              </a:ext>
            </a:extLst>
          </p:cNvPr>
          <p:cNvSpPr>
            <a:spLocks noGrp="1"/>
          </p:cNvSpPr>
          <p:nvPr>
            <p:ph type="body" sz="half" idx="4294967295"/>
          </p:nvPr>
        </p:nvSpPr>
        <p:spPr>
          <a:xfrm>
            <a:off x="1097280" y="2462546"/>
            <a:ext cx="4003358" cy="3401095"/>
          </a:xfrm>
        </p:spPr>
        <p:txBody>
          <a:bodyPr>
            <a:normAutofit/>
          </a:bodyPr>
          <a:lstStyle/>
          <a:p>
            <a:pPr marL="0" indent="0">
              <a:buClr>
                <a:schemeClr val="bg2">
                  <a:lumMod val="20000"/>
                  <a:lumOff val="80000"/>
                </a:schemeClr>
              </a:buClr>
              <a:buNone/>
            </a:pPr>
            <a:r>
              <a:rPr lang="en-US" sz="1600" dirty="0">
                <a:solidFill>
                  <a:schemeClr val="accent1">
                    <a:lumMod val="75000"/>
                  </a:schemeClr>
                </a:solidFill>
              </a:rPr>
              <a:t>Example use cases</a:t>
            </a:r>
          </a:p>
          <a:p>
            <a:pPr marL="285750" indent="-285750">
              <a:buClr>
                <a:schemeClr val="accent1">
                  <a:lumMod val="75000"/>
                </a:schemeClr>
              </a:buClr>
              <a:buFont typeface="Arial" panose="020B0604020202020204" pitchFamily="34" charset="0"/>
              <a:buChar char="•"/>
            </a:pPr>
            <a:r>
              <a:rPr lang="en-US" sz="1600" dirty="0">
                <a:solidFill>
                  <a:schemeClr val="accent1">
                    <a:lumMod val="75000"/>
                  </a:schemeClr>
                </a:solidFill>
              </a:rPr>
              <a:t>Image recognition</a:t>
            </a:r>
          </a:p>
          <a:p>
            <a:pPr marL="285750" indent="-285750">
              <a:buClr>
                <a:schemeClr val="accent1">
                  <a:lumMod val="75000"/>
                </a:schemeClr>
              </a:buClr>
              <a:buFont typeface="Arial" panose="020B0604020202020204" pitchFamily="34" charset="0"/>
              <a:buChar char="•"/>
            </a:pPr>
            <a:r>
              <a:rPr lang="en-US" sz="1600" dirty="0">
                <a:solidFill>
                  <a:schemeClr val="accent1">
                    <a:lumMod val="75000"/>
                  </a:schemeClr>
                </a:solidFill>
              </a:rPr>
              <a:t>Translation</a:t>
            </a:r>
          </a:p>
          <a:p>
            <a:pPr marL="285750" indent="-285750">
              <a:buClr>
                <a:schemeClr val="accent1">
                  <a:lumMod val="75000"/>
                </a:schemeClr>
              </a:buClr>
              <a:buFont typeface="Arial" panose="020B0604020202020204" pitchFamily="34" charset="0"/>
              <a:buChar char="•"/>
            </a:pPr>
            <a:r>
              <a:rPr lang="en-US" sz="1600" dirty="0">
                <a:solidFill>
                  <a:schemeClr val="accent1">
                    <a:lumMod val="75000"/>
                  </a:schemeClr>
                </a:solidFill>
              </a:rPr>
              <a:t>Classification</a:t>
            </a:r>
          </a:p>
          <a:p>
            <a:pPr marL="0" indent="0">
              <a:buNone/>
            </a:pPr>
            <a:endParaRPr lang="en-CA" sz="1050" i="1" dirty="0">
              <a:solidFill>
                <a:schemeClr val="accent1">
                  <a:lumMod val="75000"/>
                </a:schemeClr>
              </a:solidFill>
              <a:cs typeface="Poppins" pitchFamily="2" charset="77"/>
              <a:hlinkClick r:id="" action="ppaction://noaction">
                <a:extLst>
                  <a:ext uri="{A12FA001-AC4F-418D-AE19-62706E023703}">
                    <ahyp:hlinkClr xmlns:ahyp="http://schemas.microsoft.com/office/drawing/2018/hyperlinkcolor" val="tx"/>
                  </a:ext>
                </a:extLst>
              </a:hlinkClick>
            </a:endParaRPr>
          </a:p>
          <a:p>
            <a:pPr marL="0" indent="0">
              <a:lnSpc>
                <a:spcPct val="100000"/>
              </a:lnSpc>
              <a:buNone/>
            </a:pPr>
            <a:endParaRPr lang="en-CA" sz="1050" i="1" dirty="0">
              <a:solidFill>
                <a:schemeClr val="accent1">
                  <a:lumMod val="75000"/>
                </a:schemeClr>
              </a:solidFill>
              <a:cs typeface="Poppins" pitchFamily="2" charset="77"/>
              <a:hlinkClick r:id="" action="ppaction://noaction">
                <a:extLst>
                  <a:ext uri="{A12FA001-AC4F-418D-AE19-62706E023703}">
                    <ahyp:hlinkClr xmlns:ahyp="http://schemas.microsoft.com/office/drawing/2018/hyperlinkcolor" val="tx"/>
                  </a:ext>
                </a:extLst>
              </a:hlinkClick>
            </a:endParaRPr>
          </a:p>
          <a:p>
            <a:pPr marL="0" indent="0">
              <a:lnSpc>
                <a:spcPct val="100000"/>
              </a:lnSpc>
              <a:buNone/>
            </a:pPr>
            <a:endParaRPr lang="en-CA" sz="1050" i="1" dirty="0">
              <a:solidFill>
                <a:schemeClr val="accent1">
                  <a:lumMod val="75000"/>
                </a:schemeClr>
              </a:solidFill>
              <a:cs typeface="Poppins" pitchFamily="2" charset="77"/>
              <a:hlinkClick r:id="" action="ppaction://noaction">
                <a:extLst>
                  <a:ext uri="{A12FA001-AC4F-418D-AE19-62706E023703}">
                    <ahyp:hlinkClr xmlns:ahyp="http://schemas.microsoft.com/office/drawing/2018/hyperlinkcolor" val="tx"/>
                  </a:ext>
                </a:extLst>
              </a:hlinkClick>
            </a:endParaRPr>
          </a:p>
          <a:p>
            <a:pPr marL="0" indent="0">
              <a:lnSpc>
                <a:spcPct val="100000"/>
              </a:lnSpc>
              <a:buNone/>
            </a:pPr>
            <a:r>
              <a:rPr lang="en-CA" sz="1050" i="1" dirty="0">
                <a:solidFill>
                  <a:schemeClr val="accent1">
                    <a:lumMod val="75000"/>
                  </a:schemeClr>
                </a:solidFill>
                <a:cs typeface="Poppins" pitchFamily="2" charset="77"/>
                <a:hlinkClick r:id="" action="ppaction://noaction">
                  <a:extLst>
                    <a:ext uri="{A12FA001-AC4F-418D-AE19-62706E023703}">
                      <ahyp:hlinkClr xmlns:ahyp="http://schemas.microsoft.com/office/drawing/2018/hyperlinkcolor" val="tx"/>
                    </a:ext>
                  </a:extLst>
                </a:hlinkClick>
              </a:rPr>
              <a:t>Attention is all you need</a:t>
            </a:r>
            <a:br>
              <a:rPr lang="en-CA" sz="1050" i="1" dirty="0">
                <a:solidFill>
                  <a:schemeClr val="accent1">
                    <a:lumMod val="75000"/>
                  </a:schemeClr>
                </a:solidFill>
                <a:cs typeface="Poppins" pitchFamily="2" charset="77"/>
                <a:hlinkClick r:id="" action="ppaction://noaction">
                  <a:extLst>
                    <a:ext uri="{A12FA001-AC4F-418D-AE19-62706E023703}">
                      <ahyp:hlinkClr xmlns:ahyp="http://schemas.microsoft.com/office/drawing/2018/hyperlinkcolor" val="tx"/>
                    </a:ext>
                  </a:extLst>
                </a:hlinkClick>
              </a:rPr>
            </a:br>
            <a:r>
              <a:rPr lang="en-CA" sz="1050" i="1" dirty="0">
                <a:solidFill>
                  <a:schemeClr val="accent1">
                    <a:lumMod val="75000"/>
                  </a:schemeClr>
                </a:solidFill>
                <a:cs typeface="Poppins" pitchFamily="2" charset="77"/>
                <a:hlinkClick r:id="" action="ppaction://noaction">
                  <a:extLst>
                    <a:ext uri="{A12FA001-AC4F-418D-AE19-62706E023703}">
                      <ahyp:hlinkClr xmlns:ahyp="http://schemas.microsoft.com/office/drawing/2018/hyperlinkcolor" val="tx"/>
                    </a:ext>
                  </a:extLst>
                </a:hlinkClick>
              </a:rPr>
              <a:t>NIPS'17: Proceedings of the 31st International Conference on Neural Information Processing Systems</a:t>
            </a:r>
            <a:br>
              <a:rPr lang="en-CA" sz="1050" i="1" dirty="0">
                <a:solidFill>
                  <a:schemeClr val="accent1">
                    <a:lumMod val="75000"/>
                  </a:schemeClr>
                </a:solidFill>
                <a:cs typeface="Poppins" pitchFamily="2" charset="77"/>
              </a:rPr>
            </a:br>
            <a:r>
              <a:rPr lang="en-CA" sz="1050" i="1" dirty="0">
                <a:solidFill>
                  <a:schemeClr val="accent1">
                    <a:lumMod val="75000"/>
                  </a:schemeClr>
                </a:solidFill>
                <a:cs typeface="Poppins" pitchFamily="2" charset="77"/>
                <a:hlinkClick r:id="rId3" tooltip="NIPS'17: Proceedings of the 31st International Conference on Neural Information Processing Systems">
                  <a:extLst>
                    <a:ext uri="{A12FA001-AC4F-418D-AE19-62706E023703}">
                      <ahyp:hlinkClr xmlns:ahyp="http://schemas.microsoft.com/office/drawing/2018/hyperlinkcolor" val="tx"/>
                    </a:ext>
                  </a:extLst>
                </a:hlinkClick>
              </a:rPr>
              <a:t>December 2017 Pages 6000–6010</a:t>
            </a:r>
            <a:endParaRPr lang="en-US" sz="1050" i="1" dirty="0">
              <a:solidFill>
                <a:schemeClr val="accent1">
                  <a:lumMod val="75000"/>
                </a:schemeClr>
              </a:solidFill>
              <a:cs typeface="Poppins" pitchFamily="2" charset="77"/>
            </a:endParaRPr>
          </a:p>
        </p:txBody>
      </p:sp>
      <p:sp>
        <p:nvSpPr>
          <p:cNvPr id="8" name="Rectangle 7">
            <a:extLst>
              <a:ext uri="{FF2B5EF4-FFF2-40B4-BE49-F238E27FC236}">
                <a16:creationId xmlns:a16="http://schemas.microsoft.com/office/drawing/2014/main" id="{F3A35163-AB45-BE33-E5AA-F8142E3A3464}"/>
              </a:ext>
            </a:extLst>
          </p:cNvPr>
          <p:cNvSpPr/>
          <p:nvPr/>
        </p:nvSpPr>
        <p:spPr>
          <a:xfrm rot="16200000">
            <a:off x="8843467" y="4224813"/>
            <a:ext cx="365760" cy="4900614"/>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AE2A3D-E09C-8A03-F2C8-07D377BDDB9E}"/>
              </a:ext>
            </a:extLst>
          </p:cNvPr>
          <p:cNvSpPr/>
          <p:nvPr/>
        </p:nvSpPr>
        <p:spPr>
          <a:xfrm rot="5400000">
            <a:off x="2302284" y="-1725263"/>
            <a:ext cx="2028827" cy="54793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A455309F-603F-A0AF-7D73-374A78536D0B}"/>
              </a:ext>
            </a:extLst>
          </p:cNvPr>
          <p:cNvSpPr txBox="1">
            <a:spLocks/>
          </p:cNvSpPr>
          <p:nvPr/>
        </p:nvSpPr>
        <p:spPr>
          <a:xfrm>
            <a:off x="969642" y="303988"/>
            <a:ext cx="4743449" cy="1353361"/>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3600" b="0" i="0" kern="1200" spc="-60" baseline="0">
                <a:solidFill>
                  <a:srgbClr val="FFFFFF"/>
                </a:solidFill>
                <a:latin typeface="Poppins" pitchFamily="2" charset="77"/>
                <a:ea typeface="+mj-ea"/>
                <a:cs typeface="+mj-cs"/>
              </a:defRPr>
            </a:lvl1pPr>
          </a:lstStyle>
          <a:p>
            <a:pPr>
              <a:lnSpc>
                <a:spcPct val="120000"/>
              </a:lnSpc>
            </a:pPr>
            <a:r>
              <a:rPr lang="en-US" sz="6200" b="1" dirty="0">
                <a:cs typeface="Poppins" pitchFamily="2" charset="77"/>
              </a:rPr>
              <a:t>Transformers</a:t>
            </a:r>
            <a:br>
              <a:rPr lang="en-US" sz="5500" dirty="0"/>
            </a:br>
            <a:r>
              <a:rPr lang="en-US" dirty="0"/>
              <a:t>Multiple layers of neural networks</a:t>
            </a:r>
            <a:br>
              <a:rPr lang="en-US" dirty="0"/>
            </a:br>
            <a:r>
              <a:rPr lang="en-US" dirty="0"/>
              <a:t>Ex. Transformer networks</a:t>
            </a:r>
            <a:endParaRPr lang="en-US" sz="2600" dirty="0">
              <a:solidFill>
                <a:schemeClr val="bg1"/>
              </a:solidFill>
              <a:cs typeface="Poppins" pitchFamily="2" charset="77"/>
            </a:endParaRPr>
          </a:p>
        </p:txBody>
      </p:sp>
      <p:sp>
        <p:nvSpPr>
          <p:cNvPr id="16" name="TextBox 15">
            <a:extLst>
              <a:ext uri="{FF2B5EF4-FFF2-40B4-BE49-F238E27FC236}">
                <a16:creationId xmlns:a16="http://schemas.microsoft.com/office/drawing/2014/main" id="{F4468192-1797-3F77-6067-FB2867D18337}"/>
              </a:ext>
            </a:extLst>
          </p:cNvPr>
          <p:cNvSpPr txBox="1"/>
          <p:nvPr/>
        </p:nvSpPr>
        <p:spPr>
          <a:xfrm>
            <a:off x="7167037" y="6545439"/>
            <a:ext cx="3977213" cy="276999"/>
          </a:xfrm>
          <a:prstGeom prst="rect">
            <a:avLst/>
          </a:prstGeom>
          <a:noFill/>
        </p:spPr>
        <p:txBody>
          <a:bodyPr wrap="square">
            <a:spAutoFit/>
          </a:bodyPr>
          <a:lstStyle/>
          <a:p>
            <a:pPr algn="ctr"/>
            <a:r>
              <a:rPr lang="en-US" sz="1200" i="1" dirty="0">
                <a:latin typeface="Poppins" pitchFamily="2" charset="77"/>
                <a:cs typeface="Poppins" pitchFamily="2" charset="77"/>
              </a:rPr>
              <a:t>Figure 1 : The Transformer – model architecture.</a:t>
            </a:r>
          </a:p>
        </p:txBody>
      </p:sp>
      <p:pic>
        <p:nvPicPr>
          <p:cNvPr id="17" name="Picture 16">
            <a:extLst>
              <a:ext uri="{FF2B5EF4-FFF2-40B4-BE49-F238E27FC236}">
                <a16:creationId xmlns:a16="http://schemas.microsoft.com/office/drawing/2014/main" id="{B625C8ED-728D-97CE-0272-CE50B24C3B7A}"/>
              </a:ext>
            </a:extLst>
          </p:cNvPr>
          <p:cNvPicPr>
            <a:picLocks noChangeAspect="1"/>
          </p:cNvPicPr>
          <p:nvPr/>
        </p:nvPicPr>
        <p:blipFill>
          <a:blip r:embed="rId4"/>
          <a:stretch>
            <a:fillRect/>
          </a:stretch>
        </p:blipFill>
        <p:spPr>
          <a:xfrm>
            <a:off x="6957975" y="332564"/>
            <a:ext cx="4136745" cy="5982512"/>
          </a:xfrm>
          <a:prstGeom prst="rect">
            <a:avLst/>
          </a:prstGeom>
        </p:spPr>
      </p:pic>
    </p:spTree>
    <p:extLst>
      <p:ext uri="{BB962C8B-B14F-4D97-AF65-F5344CB8AC3E}">
        <p14:creationId xmlns:p14="http://schemas.microsoft.com/office/powerpoint/2010/main" val="2066036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07B64D-A5F8-2C3B-9CC3-2C83C57942CF}"/>
              </a:ext>
            </a:extLst>
          </p:cNvPr>
          <p:cNvSpPr/>
          <p:nvPr/>
        </p:nvSpPr>
        <p:spPr>
          <a:xfrm>
            <a:off x="0" y="0"/>
            <a:ext cx="12192000" cy="6858000"/>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31707976-964A-A235-464E-0CDF194E295D}"/>
              </a:ext>
            </a:extLst>
          </p:cNvPr>
          <p:cNvSpPr txBox="1"/>
          <p:nvPr/>
        </p:nvSpPr>
        <p:spPr>
          <a:xfrm>
            <a:off x="3568224" y="1802049"/>
            <a:ext cx="5055551" cy="338554"/>
          </a:xfrm>
          <a:prstGeom prst="rect">
            <a:avLst/>
          </a:prstGeom>
          <a:noFill/>
        </p:spPr>
        <p:txBody>
          <a:bodyPr wrap="none" rtlCol="0">
            <a:spAutoFit/>
          </a:bodyPr>
          <a:lstStyle/>
          <a:p>
            <a:r>
              <a:rPr lang="en-US" sz="1600" kern="0" spc="-30" dirty="0">
                <a:solidFill>
                  <a:schemeClr val="bg1"/>
                </a:solidFill>
                <a:latin typeface="Poppins" pitchFamily="2" charset="77"/>
                <a:cs typeface="Poppins" pitchFamily="2" charset="77"/>
              </a:rPr>
              <a:t>The meaning of a token depends on the context.</a:t>
            </a:r>
          </a:p>
        </p:txBody>
      </p:sp>
      <p:sp>
        <p:nvSpPr>
          <p:cNvPr id="3" name="TextBox 2">
            <a:extLst>
              <a:ext uri="{FF2B5EF4-FFF2-40B4-BE49-F238E27FC236}">
                <a16:creationId xmlns:a16="http://schemas.microsoft.com/office/drawing/2014/main" id="{8F2E330A-D95D-EB84-C476-D59F8FCEFC45}"/>
              </a:ext>
            </a:extLst>
          </p:cNvPr>
          <p:cNvSpPr txBox="1"/>
          <p:nvPr/>
        </p:nvSpPr>
        <p:spPr>
          <a:xfrm>
            <a:off x="1050758" y="2828836"/>
            <a:ext cx="10090484" cy="1200329"/>
          </a:xfrm>
          <a:prstGeom prst="rect">
            <a:avLst/>
          </a:prstGeom>
          <a:noFill/>
        </p:spPr>
        <p:txBody>
          <a:bodyPr wrap="square" rtlCol="0">
            <a:spAutoFit/>
          </a:bodyPr>
          <a:lstStyle/>
          <a:p>
            <a:pPr algn="ctr"/>
            <a:r>
              <a:rPr lang="en-US" sz="3600" b="1" kern="0" spc="-30" dirty="0">
                <a:solidFill>
                  <a:schemeClr val="bg1"/>
                </a:solidFill>
                <a:latin typeface="Poppins" pitchFamily="2" charset="77"/>
                <a:cs typeface="Poppins" pitchFamily="2" charset="77"/>
              </a:rPr>
              <a:t>Due to a shortage of staff, a </a:t>
            </a:r>
            <a:r>
              <a:rPr lang="en-US" sz="3600" b="1" kern="0" spc="-30" dirty="0">
                <a:solidFill>
                  <a:schemeClr val="accent2">
                    <a:lumMod val="60000"/>
                    <a:lumOff val="40000"/>
                  </a:schemeClr>
                </a:solidFill>
                <a:latin typeface="Poppins" pitchFamily="2" charset="77"/>
                <a:cs typeface="Poppins" pitchFamily="2" charset="77"/>
              </a:rPr>
              <a:t>patient</a:t>
            </a:r>
            <a:r>
              <a:rPr lang="en-US" sz="3600" b="1" kern="0" spc="-30" dirty="0">
                <a:solidFill>
                  <a:schemeClr val="bg1"/>
                </a:solidFill>
                <a:latin typeface="Poppins" pitchFamily="2" charset="77"/>
                <a:cs typeface="Poppins" pitchFamily="2" charset="77"/>
              </a:rPr>
              <a:t> seeking healthcare must be </a:t>
            </a:r>
            <a:r>
              <a:rPr lang="en-US" sz="3600" b="1" kern="0" spc="-30" dirty="0">
                <a:solidFill>
                  <a:schemeClr val="accent2">
                    <a:lumMod val="60000"/>
                    <a:lumOff val="40000"/>
                  </a:schemeClr>
                </a:solidFill>
                <a:latin typeface="Poppins" pitchFamily="2" charset="77"/>
                <a:cs typeface="Poppins" pitchFamily="2" charset="77"/>
              </a:rPr>
              <a:t>patient</a:t>
            </a:r>
            <a:r>
              <a:rPr lang="en-US" sz="3600" b="1" kern="0" spc="-30" dirty="0">
                <a:solidFill>
                  <a:schemeClr val="bg1"/>
                </a:solidFill>
                <a:latin typeface="Poppins" pitchFamily="2" charset="77"/>
                <a:cs typeface="Poppins" pitchFamily="2" charset="77"/>
              </a:rPr>
              <a:t>.</a:t>
            </a:r>
          </a:p>
        </p:txBody>
      </p:sp>
      <p:sp>
        <p:nvSpPr>
          <p:cNvPr id="4" name="TextBox 3">
            <a:extLst>
              <a:ext uri="{FF2B5EF4-FFF2-40B4-BE49-F238E27FC236}">
                <a16:creationId xmlns:a16="http://schemas.microsoft.com/office/drawing/2014/main" id="{B9E15D29-905F-89D4-5BD0-6DD4F1D55DEE}"/>
              </a:ext>
            </a:extLst>
          </p:cNvPr>
          <p:cNvSpPr txBox="1"/>
          <p:nvPr/>
        </p:nvSpPr>
        <p:spPr>
          <a:xfrm>
            <a:off x="3334825" y="4825721"/>
            <a:ext cx="5738750" cy="338554"/>
          </a:xfrm>
          <a:prstGeom prst="rect">
            <a:avLst/>
          </a:prstGeom>
          <a:noFill/>
        </p:spPr>
        <p:txBody>
          <a:bodyPr wrap="none" rtlCol="0">
            <a:spAutoFit/>
          </a:bodyPr>
          <a:lstStyle/>
          <a:p>
            <a:r>
              <a:rPr lang="en-US" sz="1600" kern="0" spc="-30" dirty="0">
                <a:solidFill>
                  <a:schemeClr val="bg1"/>
                </a:solidFill>
                <a:latin typeface="Poppins" pitchFamily="2" charset="77"/>
                <a:cs typeface="Poppins" pitchFamily="2" charset="77"/>
              </a:rPr>
              <a:t>A transformer model can pay attention to other tokens</a:t>
            </a:r>
          </a:p>
        </p:txBody>
      </p:sp>
    </p:spTree>
    <p:extLst>
      <p:ext uri="{BB962C8B-B14F-4D97-AF65-F5344CB8AC3E}">
        <p14:creationId xmlns:p14="http://schemas.microsoft.com/office/powerpoint/2010/main" val="338159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C0CAF-E1EE-B792-4A46-8FBDAB7E601D}"/>
              </a:ext>
            </a:extLst>
          </p:cNvPr>
          <p:cNvSpPr>
            <a:spLocks noGrp="1"/>
          </p:cNvSpPr>
          <p:nvPr>
            <p:ph type="title"/>
          </p:nvPr>
        </p:nvSpPr>
        <p:spPr/>
        <p:txBody>
          <a:bodyPr/>
          <a:lstStyle/>
          <a:p>
            <a:r>
              <a:rPr lang="en-US" b="1" dirty="0">
                <a:cs typeface="Poppins" pitchFamily="2" charset="77"/>
              </a:rPr>
              <a:t>Self Attention</a:t>
            </a:r>
          </a:p>
        </p:txBody>
      </p:sp>
      <p:pic>
        <p:nvPicPr>
          <p:cNvPr id="4" name="Picture 3">
            <a:extLst>
              <a:ext uri="{FF2B5EF4-FFF2-40B4-BE49-F238E27FC236}">
                <a16:creationId xmlns:a16="http://schemas.microsoft.com/office/drawing/2014/main" id="{8628D211-13F3-25E6-C61B-7F3CF3E4920E}"/>
              </a:ext>
            </a:extLst>
          </p:cNvPr>
          <p:cNvPicPr>
            <a:picLocks noChangeAspect="1"/>
          </p:cNvPicPr>
          <p:nvPr/>
        </p:nvPicPr>
        <p:blipFill>
          <a:blip r:embed="rId2"/>
          <a:stretch>
            <a:fillRect/>
          </a:stretch>
        </p:blipFill>
        <p:spPr>
          <a:xfrm>
            <a:off x="3935892" y="712595"/>
            <a:ext cx="6857025" cy="5541901"/>
          </a:xfrm>
          <a:prstGeom prst="rect">
            <a:avLst/>
          </a:prstGeom>
        </p:spPr>
      </p:pic>
    </p:spTree>
    <p:extLst>
      <p:ext uri="{BB962C8B-B14F-4D97-AF65-F5344CB8AC3E}">
        <p14:creationId xmlns:p14="http://schemas.microsoft.com/office/powerpoint/2010/main" val="4195022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AE1CB-96E6-F23E-16D8-81FC03236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2BA75-77E8-059C-4374-E177242B2674}"/>
              </a:ext>
            </a:extLst>
          </p:cNvPr>
          <p:cNvSpPr>
            <a:spLocks noGrp="1"/>
          </p:cNvSpPr>
          <p:nvPr>
            <p:ph type="title"/>
          </p:nvPr>
        </p:nvSpPr>
        <p:spPr/>
        <p:txBody>
          <a:bodyPr>
            <a:normAutofit/>
          </a:bodyPr>
          <a:lstStyle/>
          <a:p>
            <a:r>
              <a:rPr lang="en-US" sz="3400" b="1" dirty="0"/>
              <a:t>Customizing Responses</a:t>
            </a:r>
          </a:p>
        </p:txBody>
      </p:sp>
      <p:sp>
        <p:nvSpPr>
          <p:cNvPr id="3" name="Text Placeholder 2">
            <a:extLst>
              <a:ext uri="{FF2B5EF4-FFF2-40B4-BE49-F238E27FC236}">
                <a16:creationId xmlns:a16="http://schemas.microsoft.com/office/drawing/2014/main" id="{99D54878-AF2D-5BEB-E514-B2171160BA95}"/>
              </a:ext>
            </a:extLst>
          </p:cNvPr>
          <p:cNvSpPr>
            <a:spLocks noGrp="1"/>
          </p:cNvSpPr>
          <p:nvPr>
            <p:ph type="body" idx="1"/>
          </p:nvPr>
        </p:nvSpPr>
        <p:spPr>
          <a:xfrm>
            <a:off x="3867912" y="680773"/>
            <a:ext cx="3474720" cy="807720"/>
          </a:xfrm>
        </p:spPr>
        <p:txBody>
          <a:bodyPr/>
          <a:lstStyle/>
          <a:p>
            <a:r>
              <a:rPr lang="en-US" dirty="0">
                <a:solidFill>
                  <a:schemeClr val="accent2"/>
                </a:solidFill>
              </a:rPr>
              <a:t>Model</a:t>
            </a:r>
          </a:p>
        </p:txBody>
      </p:sp>
      <p:sp>
        <p:nvSpPr>
          <p:cNvPr id="4" name="Content Placeholder 3">
            <a:extLst>
              <a:ext uri="{FF2B5EF4-FFF2-40B4-BE49-F238E27FC236}">
                <a16:creationId xmlns:a16="http://schemas.microsoft.com/office/drawing/2014/main" id="{7313D066-C923-39A5-DBF1-ACEFED73DCAB}"/>
              </a:ext>
            </a:extLst>
          </p:cNvPr>
          <p:cNvSpPr>
            <a:spLocks noGrp="1"/>
          </p:cNvSpPr>
          <p:nvPr>
            <p:ph sz="half" idx="2"/>
          </p:nvPr>
        </p:nvSpPr>
        <p:spPr>
          <a:xfrm>
            <a:off x="3867912" y="1304124"/>
            <a:ext cx="3474720" cy="2639453"/>
          </a:xfrm>
        </p:spPr>
        <p:txBody>
          <a:bodyPr>
            <a:normAutofit/>
          </a:bodyPr>
          <a:lstStyle/>
          <a:p>
            <a:pPr lvl="1"/>
            <a:r>
              <a:rPr lang="en-US" sz="1600" dirty="0">
                <a:solidFill>
                  <a:schemeClr val="accent1"/>
                </a:solidFill>
              </a:rPr>
              <a:t>Fine-tuning</a:t>
            </a:r>
          </a:p>
          <a:p>
            <a:pPr lvl="2"/>
            <a:r>
              <a:rPr lang="en-US" dirty="0">
                <a:solidFill>
                  <a:schemeClr val="accent1"/>
                </a:solidFill>
              </a:rPr>
              <a:t>Train the model using the custom data</a:t>
            </a:r>
          </a:p>
          <a:p>
            <a:pPr lvl="2"/>
            <a:r>
              <a:rPr lang="en-US" dirty="0">
                <a:solidFill>
                  <a:schemeClr val="accent1"/>
                </a:solidFill>
              </a:rPr>
              <a:t>Only a portion of the model parameters may require fine-tuning</a:t>
            </a:r>
          </a:p>
        </p:txBody>
      </p:sp>
      <p:sp>
        <p:nvSpPr>
          <p:cNvPr id="5" name="Text Placeholder 4">
            <a:extLst>
              <a:ext uri="{FF2B5EF4-FFF2-40B4-BE49-F238E27FC236}">
                <a16:creationId xmlns:a16="http://schemas.microsoft.com/office/drawing/2014/main" id="{EEC736E4-147F-E5EF-2C23-9B69099C75D0}"/>
              </a:ext>
            </a:extLst>
          </p:cNvPr>
          <p:cNvSpPr>
            <a:spLocks noGrp="1"/>
          </p:cNvSpPr>
          <p:nvPr>
            <p:ph type="body" sz="quarter" idx="3"/>
          </p:nvPr>
        </p:nvSpPr>
        <p:spPr>
          <a:xfrm>
            <a:off x="7818463" y="680773"/>
            <a:ext cx="3474720" cy="813171"/>
          </a:xfrm>
        </p:spPr>
        <p:txBody>
          <a:bodyPr/>
          <a:lstStyle/>
          <a:p>
            <a:r>
              <a:rPr lang="en-US" dirty="0">
                <a:solidFill>
                  <a:schemeClr val="accent2"/>
                </a:solidFill>
              </a:rPr>
              <a:t>Context</a:t>
            </a:r>
          </a:p>
        </p:txBody>
      </p:sp>
      <p:sp>
        <p:nvSpPr>
          <p:cNvPr id="6" name="Content Placeholder 5">
            <a:extLst>
              <a:ext uri="{FF2B5EF4-FFF2-40B4-BE49-F238E27FC236}">
                <a16:creationId xmlns:a16="http://schemas.microsoft.com/office/drawing/2014/main" id="{E9750EDB-900A-F96C-24B8-51457158A302}"/>
              </a:ext>
            </a:extLst>
          </p:cNvPr>
          <p:cNvSpPr>
            <a:spLocks noGrp="1"/>
          </p:cNvSpPr>
          <p:nvPr>
            <p:ph sz="quarter" idx="4"/>
          </p:nvPr>
        </p:nvSpPr>
        <p:spPr>
          <a:xfrm>
            <a:off x="7818463" y="1561298"/>
            <a:ext cx="3474720" cy="4468027"/>
          </a:xfrm>
        </p:spPr>
        <p:txBody>
          <a:bodyPr>
            <a:normAutofit/>
          </a:bodyPr>
          <a:lstStyle/>
          <a:p>
            <a:pPr lvl="1"/>
            <a:r>
              <a:rPr lang="en-US" sz="1600" dirty="0">
                <a:solidFill>
                  <a:schemeClr val="accent1"/>
                </a:solidFill>
              </a:rPr>
              <a:t>Prompting</a:t>
            </a:r>
          </a:p>
          <a:p>
            <a:pPr lvl="2"/>
            <a:r>
              <a:rPr lang="en-US" dirty="0">
                <a:solidFill>
                  <a:schemeClr val="accent1"/>
                </a:solidFill>
              </a:rPr>
              <a:t>Provide a detailed request (zero shot)</a:t>
            </a:r>
          </a:p>
          <a:p>
            <a:pPr lvl="2"/>
            <a:r>
              <a:rPr lang="en-US" dirty="0">
                <a:solidFill>
                  <a:schemeClr val="accent1"/>
                </a:solidFill>
              </a:rPr>
              <a:t>Provide an example questions and answers (n shot)</a:t>
            </a:r>
          </a:p>
          <a:p>
            <a:pPr lvl="1"/>
            <a:r>
              <a:rPr lang="en-US" sz="1600" dirty="0">
                <a:solidFill>
                  <a:schemeClr val="accent1"/>
                </a:solidFill>
              </a:rPr>
              <a:t>Retrieval Augmented Generation (RAG)</a:t>
            </a:r>
          </a:p>
          <a:p>
            <a:pPr lvl="2"/>
            <a:r>
              <a:rPr lang="en-US" dirty="0">
                <a:solidFill>
                  <a:schemeClr val="accent1"/>
                </a:solidFill>
              </a:rPr>
              <a:t>Query a database to retrieve information to include in the request</a:t>
            </a:r>
          </a:p>
          <a:p>
            <a:pPr lvl="1"/>
            <a:r>
              <a:rPr lang="en-US" sz="1600" dirty="0">
                <a:solidFill>
                  <a:schemeClr val="accent1"/>
                </a:solidFill>
              </a:rPr>
              <a:t>Tool use - </a:t>
            </a:r>
            <a:r>
              <a:rPr lang="en-CA" sz="1600" dirty="0">
                <a:solidFill>
                  <a:schemeClr val="accent1"/>
                </a:solidFill>
              </a:rPr>
              <a:t>Model Context Protocol (MCP)</a:t>
            </a:r>
            <a:endParaRPr lang="en-US" sz="1600" dirty="0">
              <a:solidFill>
                <a:schemeClr val="accent1"/>
              </a:solidFill>
            </a:endParaRPr>
          </a:p>
          <a:p>
            <a:pPr lvl="2"/>
            <a:r>
              <a:rPr lang="en-US" dirty="0">
                <a:solidFill>
                  <a:schemeClr val="accent1"/>
                </a:solidFill>
              </a:rPr>
              <a:t>Call a tool to obtain information or perform an action</a:t>
            </a:r>
          </a:p>
        </p:txBody>
      </p:sp>
    </p:spTree>
    <p:extLst>
      <p:ext uri="{BB962C8B-B14F-4D97-AF65-F5344CB8AC3E}">
        <p14:creationId xmlns:p14="http://schemas.microsoft.com/office/powerpoint/2010/main" val="3636330307"/>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Language Models Are Actually Being Used</a:t>
            </a:r>
          </a:p>
        </p:txBody>
      </p:sp>
      <p:sp>
        <p:nvSpPr>
          <p:cNvPr id="3" name="Text Placeholder 2"/>
          <p:cNvSpPr>
            <a:spLocks noGrp="1"/>
          </p:cNvSpPr>
          <p:nvPr>
            <p:ph type="body" idx="1"/>
          </p:nvPr>
        </p:nvSpPr>
        <p:spPr/>
        <p:txBody>
          <a:bodyPr/>
          <a:lstStyle/>
          <a:p>
            <a:r>
              <a:t>Working today</a:t>
            </a:r>
          </a:p>
        </p:txBody>
      </p:sp>
      <p:sp>
        <p:nvSpPr>
          <p:cNvPr id="4" name="Content Placeholder 3"/>
          <p:cNvSpPr>
            <a:spLocks noGrp="1"/>
          </p:cNvSpPr>
          <p:nvPr>
            <p:ph idx="2" sz="half"/>
          </p:nvPr>
        </p:nvSpPr>
        <p:spPr/>
        <p:txBody>
          <a:bodyPr/>
          <a:lstStyle/>
          <a:p>
            <a:pPr/>
            <a:r>
              <a:t>Ambient documentation: drafting the note from the consultation, clinician edits and signs</a:t>
            </a:r>
          </a:p>
          <a:p>
            <a:pPr/>
            <a:r>
              <a:t>Drafting replies to patient portal messages for review</a:t>
            </a:r>
          </a:p>
          <a:p>
            <a:pPr/>
            <a:r>
              <a:t>Coding and billing support</a:t>
            </a:r>
          </a:p>
          <a:p>
            <a:pPr/>
            <a:r>
              <a:t>Summarising a long record for handover</a:t>
            </a:r>
          </a:p>
          <a:p>
            <a:pPr/>
            <a:r>
              <a:t>Literature search and synthesis</a:t>
            </a:r>
          </a:p>
        </p:txBody>
      </p:sp>
      <p:sp>
        <p:nvSpPr>
          <p:cNvPr id="5" name="Text Placeholder 4"/>
          <p:cNvSpPr>
            <a:spLocks noGrp="1"/>
          </p:cNvSpPr>
          <p:nvPr>
            <p:ph type="body" idx="3" sz="quarter"/>
          </p:nvPr>
        </p:nvSpPr>
        <p:spPr/>
        <p:txBody>
          <a:bodyPr/>
          <a:lstStyle/>
          <a:p>
            <a:r>
              <a:t>Not ready, or needs great care</a:t>
            </a:r>
          </a:p>
        </p:txBody>
      </p:sp>
      <p:sp>
        <p:nvSpPr>
          <p:cNvPr id="6" name="Content Placeholder 5"/>
          <p:cNvSpPr>
            <a:spLocks noGrp="1"/>
          </p:cNvSpPr>
          <p:nvPr>
            <p:ph idx="4" sz="quarter"/>
          </p:nvPr>
        </p:nvSpPr>
        <p:spPr/>
        <p:txBody>
          <a:bodyPr/>
          <a:lstStyle/>
          <a:p>
            <a:pPr/>
            <a:r>
              <a:t>Autonomous diagnosis or triage</a:t>
            </a:r>
          </a:p>
          <a:p>
            <a:pPr/>
            <a:r>
              <a:t>Any output acted on without review</a:t>
            </a:r>
          </a:p>
          <a:p>
            <a:pPr/>
            <a:r>
              <a:t>Treating the record as fact rather than as text somebody wrote</a:t>
            </a:r>
          </a:p>
          <a:p>
            <a:pPr/>
            <a:r>
              <a:t>Patient-facing advice with no clinician in the loop</a:t>
            </a:r>
          </a:p>
          <a:p>
            <a:pPr/>
            <a:r>
              <a:t>Anything where being confidently wrong is not immediately visible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Pattern in What Works</a:t>
            </a:r>
          </a:p>
        </p:txBody>
      </p:sp>
      <p:sp>
        <p:nvSpPr>
          <p:cNvPr id="3" name="Content Placeholder 2"/>
          <p:cNvSpPr>
            <a:spLocks noGrp="1"/>
          </p:cNvSpPr>
          <p:nvPr>
            <p:ph idx="1"/>
          </p:nvPr>
        </p:nvSpPr>
        <p:spPr/>
        <p:txBody>
          <a:bodyPr/>
          <a:lstStyle/>
          <a:p>
            <a:pPr/>
            <a:r>
              <a:t>Look at what succeeds and what does not, and one distinction does most of the work:</a:t>
            </a:r>
          </a:p>
          <a:p>
            <a:pPr/>
          </a:p>
          <a:p>
            <a:pPr/>
            <a:r>
              <a:t>A human reviews every output, and the cost of an error is a correction rather than harm.</a:t>
            </a:r>
          </a:p>
          <a:p>
            <a:pPr/>
          </a:p>
          <a:p>
            <a:pPr/>
            <a:r>
              <a:t>Ambient documentation works because the clinician reads and signs the note. The model saves typing, not judgement.</a:t>
            </a:r>
          </a:p>
          <a:p>
            <a:pPr/>
            <a:r>
              <a:t>Autonomous triage fails the same test. Nobody sees the error until it has already reached the patient.</a:t>
            </a:r>
          </a:p>
          <a:p>
            <a:pPr/>
          </a:p>
          <a:p>
            <a:pPr/>
            <a:r>
              <a:t>When assessing any proposed use, ask: who reads this before it matters, and what happens when it is wrong?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3CD77-4EC0-341C-0F89-3E1113F4B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BD627-B199-7D8E-667A-E8C9053E75BB}"/>
              </a:ext>
            </a:extLst>
          </p:cNvPr>
          <p:cNvSpPr>
            <a:spLocks noGrp="1"/>
          </p:cNvSpPr>
          <p:nvPr>
            <p:ph type="title"/>
          </p:nvPr>
        </p:nvSpPr>
        <p:spPr/>
        <p:txBody>
          <a:bodyPr>
            <a:normAutofit/>
          </a:bodyPr>
          <a:lstStyle/>
          <a:p>
            <a:r>
              <a:rPr lang="en-US" sz="3100" b="1" dirty="0">
                <a:solidFill>
                  <a:schemeClr val="bg1"/>
                </a:solidFill>
                <a:cs typeface="Poppins" pitchFamily="2" charset="77"/>
              </a:rPr>
              <a:t>Large Language Models</a:t>
            </a:r>
          </a:p>
        </p:txBody>
      </p:sp>
      <p:sp>
        <p:nvSpPr>
          <p:cNvPr id="3" name="Content Placeholder 2">
            <a:extLst>
              <a:ext uri="{FF2B5EF4-FFF2-40B4-BE49-F238E27FC236}">
                <a16:creationId xmlns:a16="http://schemas.microsoft.com/office/drawing/2014/main" id="{C2A4B3DE-AC4A-BBD6-8669-BE864F9CB301}"/>
              </a:ext>
            </a:extLst>
          </p:cNvPr>
          <p:cNvSpPr>
            <a:spLocks noGrp="1"/>
          </p:cNvSpPr>
          <p:nvPr>
            <p:ph idx="1"/>
          </p:nvPr>
        </p:nvSpPr>
        <p:spPr/>
        <p:txBody>
          <a:bodyPr>
            <a:normAutofit/>
          </a:bodyPr>
          <a:lstStyle/>
          <a:p>
            <a:r>
              <a:rPr lang="en-US" dirty="0"/>
              <a:t>Can “hallucinate” – generate sensible but incorrect information</a:t>
            </a:r>
          </a:p>
          <a:p>
            <a:r>
              <a:rPr lang="en-US" dirty="0"/>
              <a:t>Can generate biased content and harmful content</a:t>
            </a:r>
          </a:p>
          <a:p>
            <a:r>
              <a:rPr lang="en-US" dirty="0"/>
              <a:t>Can affect critical thinking</a:t>
            </a:r>
          </a:p>
          <a:p>
            <a:r>
              <a:rPr lang="en-US" dirty="0"/>
              <a:t>Privacy concerns</a:t>
            </a:r>
          </a:p>
          <a:p>
            <a:r>
              <a:rPr lang="en-US" dirty="0"/>
              <a:t>Right to use training data</a:t>
            </a:r>
          </a:p>
          <a:p>
            <a:r>
              <a:rPr lang="en-US" dirty="0"/>
              <a:t>Relatively expensive computation</a:t>
            </a:r>
          </a:p>
        </p:txBody>
      </p:sp>
    </p:spTree>
    <p:extLst>
      <p:ext uri="{BB962C8B-B14F-4D97-AF65-F5344CB8AC3E}">
        <p14:creationId xmlns:p14="http://schemas.microsoft.com/office/powerpoint/2010/main" val="1081830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30DA2FB-6AFE-3B1A-AA32-0518DDACD52A}"/>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8660539E-4B0A-41F9-F0DC-65F94D3BDCB5}"/>
              </a:ext>
            </a:extLst>
          </p:cNvPr>
          <p:cNvPicPr>
            <a:picLocks noChangeAspect="1"/>
          </p:cNvPicPr>
          <p:nvPr/>
        </p:nvPicPr>
        <p:blipFill>
          <a:blip r:embed="rId2"/>
          <a:stretch>
            <a:fillRect/>
          </a:stretch>
        </p:blipFill>
        <p:spPr>
          <a:xfrm>
            <a:off x="1934954" y="765931"/>
            <a:ext cx="8322092" cy="5326139"/>
          </a:xfrm>
          <a:prstGeom prst="rect">
            <a:avLst/>
          </a:prstGeom>
        </p:spPr>
      </p:pic>
      <p:sp>
        <p:nvSpPr>
          <p:cNvPr id="2" name="TextBox 1">
            <a:extLst>
              <a:ext uri="{FF2B5EF4-FFF2-40B4-BE49-F238E27FC236}">
                <a16:creationId xmlns:a16="http://schemas.microsoft.com/office/drawing/2014/main" id="{A53894FE-740B-A47A-7395-36358E826AE0}"/>
              </a:ext>
            </a:extLst>
          </p:cNvPr>
          <p:cNvSpPr txBox="1"/>
          <p:nvPr/>
        </p:nvSpPr>
        <p:spPr>
          <a:xfrm>
            <a:off x="8016240" y="6321146"/>
            <a:ext cx="4025265" cy="307777"/>
          </a:xfrm>
          <a:prstGeom prst="rect">
            <a:avLst/>
          </a:prstGeom>
          <a:noFill/>
        </p:spPr>
        <p:txBody>
          <a:bodyPr wrap="square">
            <a:spAutoFit/>
          </a:bodyPr>
          <a:lstStyle/>
          <a:p>
            <a:r>
              <a:rPr lang="en-US" sz="1400" kern="0" spc="-30" dirty="0">
                <a:solidFill>
                  <a:schemeClr val="bg1"/>
                </a:solidFill>
                <a:latin typeface="Arial"/>
                <a:cs typeface="Arial"/>
              </a:rPr>
              <a:t>https://</a:t>
            </a:r>
            <a:r>
              <a:rPr lang="en-US" sz="1400" kern="0" spc="-30" dirty="0" err="1">
                <a:solidFill>
                  <a:schemeClr val="bg1"/>
                </a:solidFill>
                <a:latin typeface="Arial"/>
                <a:cs typeface="Arial"/>
              </a:rPr>
              <a:t>en.wikipedia.org</a:t>
            </a:r>
            <a:r>
              <a:rPr lang="en-US" sz="1400" kern="0" spc="-30" dirty="0">
                <a:solidFill>
                  <a:schemeClr val="bg1"/>
                </a:solidFill>
                <a:latin typeface="Arial"/>
                <a:cs typeface="Arial"/>
              </a:rPr>
              <a:t>/wiki/</a:t>
            </a:r>
            <a:r>
              <a:rPr lang="en-US" sz="1400" kern="0" spc="-30" dirty="0" err="1">
                <a:solidFill>
                  <a:schemeClr val="bg1"/>
                </a:solidFill>
                <a:latin typeface="Arial"/>
                <a:cs typeface="Arial"/>
              </a:rPr>
              <a:t>Gartner_hype_cycle</a:t>
            </a:r>
            <a:endParaRPr lang="en-US" sz="1400" kern="0" spc="-30" dirty="0">
              <a:solidFill>
                <a:schemeClr val="bg1"/>
              </a:solidFill>
              <a:latin typeface="Arial"/>
              <a:cs typeface="Arial"/>
            </a:endParaRPr>
          </a:p>
        </p:txBody>
      </p:sp>
      <p:sp>
        <p:nvSpPr>
          <p:cNvPr id="6" name="TextBox 5">
            <a:extLst>
              <a:ext uri="{FF2B5EF4-FFF2-40B4-BE49-F238E27FC236}">
                <a16:creationId xmlns:a16="http://schemas.microsoft.com/office/drawing/2014/main" id="{72A59408-B9BF-E733-ED90-67FA56A6B641}"/>
              </a:ext>
            </a:extLst>
          </p:cNvPr>
          <p:cNvSpPr txBox="1"/>
          <p:nvPr/>
        </p:nvSpPr>
        <p:spPr>
          <a:xfrm>
            <a:off x="3702756" y="1275645"/>
            <a:ext cx="3121367" cy="338554"/>
          </a:xfrm>
          <a:prstGeom prst="rect">
            <a:avLst/>
          </a:prstGeom>
          <a:noFill/>
        </p:spPr>
        <p:txBody>
          <a:bodyPr wrap="none" rtlCol="0">
            <a:spAutoFit/>
          </a:bodyPr>
          <a:lstStyle/>
          <a:p>
            <a:r>
              <a:rPr lang="en-US" sz="1600" dirty="0">
                <a:solidFill>
                  <a:schemeClr val="bg1"/>
                </a:solidFill>
                <a:latin typeface="Poppins" pitchFamily="2" charset="77"/>
                <a:cs typeface="Poppins" pitchFamily="2" charset="77"/>
              </a:rPr>
              <a:t>Peak of Inflated Expectations</a:t>
            </a:r>
          </a:p>
        </p:txBody>
      </p:sp>
    </p:spTree>
    <p:extLst>
      <p:ext uri="{BB962C8B-B14F-4D97-AF65-F5344CB8AC3E}">
        <p14:creationId xmlns:p14="http://schemas.microsoft.com/office/powerpoint/2010/main" val="2971366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6DADB-D7FD-04E1-4F81-6DE8A23FD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9917F-3C8E-4BFE-1025-52120136523C}"/>
              </a:ext>
            </a:extLst>
          </p:cNvPr>
          <p:cNvSpPr>
            <a:spLocks noGrp="1"/>
          </p:cNvSpPr>
          <p:nvPr>
            <p:ph type="title"/>
          </p:nvPr>
        </p:nvSpPr>
        <p:spPr/>
        <p:txBody>
          <a:bodyPr/>
          <a:lstStyle/>
          <a:p>
            <a:r>
              <a:rPr lang="en-US" b="1" dirty="0"/>
              <a:t>Data Pipelines</a:t>
            </a:r>
          </a:p>
        </p:txBody>
      </p:sp>
      <p:sp>
        <p:nvSpPr>
          <p:cNvPr id="3" name="Content Placeholder 2">
            <a:extLst>
              <a:ext uri="{FF2B5EF4-FFF2-40B4-BE49-F238E27FC236}">
                <a16:creationId xmlns:a16="http://schemas.microsoft.com/office/drawing/2014/main" id="{CD678743-42CA-F849-81B6-DBCF227CC56D}"/>
              </a:ext>
            </a:extLst>
          </p:cNvPr>
          <p:cNvSpPr>
            <a:spLocks noGrp="1"/>
          </p:cNvSpPr>
          <p:nvPr>
            <p:ph sz="half" idx="1"/>
          </p:nvPr>
        </p:nvSpPr>
        <p:spPr/>
        <p:txBody>
          <a:bodyPr/>
          <a:lstStyle/>
          <a:p>
            <a:r>
              <a:rPr lang="en-US" dirty="0">
                <a:solidFill>
                  <a:schemeClr val="accent2"/>
                </a:solidFill>
              </a:rPr>
              <a:t>Data Collection</a:t>
            </a:r>
          </a:p>
          <a:p>
            <a:r>
              <a:rPr lang="en-US" dirty="0">
                <a:solidFill>
                  <a:schemeClr val="accent2"/>
                </a:solidFill>
              </a:rPr>
              <a:t>Preprocessing</a:t>
            </a:r>
          </a:p>
          <a:p>
            <a:pPr lvl="1"/>
            <a:r>
              <a:rPr lang="en-US" dirty="0"/>
              <a:t>Conversion to/from categorical and continuous data</a:t>
            </a:r>
          </a:p>
          <a:p>
            <a:pPr lvl="1"/>
            <a:r>
              <a:rPr lang="en-US" dirty="0"/>
              <a:t>Scaling</a:t>
            </a:r>
          </a:p>
        </p:txBody>
      </p:sp>
      <p:sp>
        <p:nvSpPr>
          <p:cNvPr id="4" name="Content Placeholder 3">
            <a:extLst>
              <a:ext uri="{FF2B5EF4-FFF2-40B4-BE49-F238E27FC236}">
                <a16:creationId xmlns:a16="http://schemas.microsoft.com/office/drawing/2014/main" id="{BC358F09-5599-853F-6DF0-9AFF8509B043}"/>
              </a:ext>
            </a:extLst>
          </p:cNvPr>
          <p:cNvSpPr>
            <a:spLocks noGrp="1"/>
          </p:cNvSpPr>
          <p:nvPr>
            <p:ph sz="half" idx="2"/>
          </p:nvPr>
        </p:nvSpPr>
        <p:spPr/>
        <p:txBody>
          <a:bodyPr/>
          <a:lstStyle/>
          <a:p>
            <a:r>
              <a:rPr lang="en-US" dirty="0">
                <a:solidFill>
                  <a:schemeClr val="accent2"/>
                </a:solidFill>
              </a:rPr>
              <a:t>Labelling and Annotation</a:t>
            </a:r>
          </a:p>
          <a:p>
            <a:r>
              <a:rPr lang="en-US" dirty="0">
                <a:solidFill>
                  <a:schemeClr val="accent2"/>
                </a:solidFill>
              </a:rPr>
              <a:t>Splitting</a:t>
            </a:r>
          </a:p>
          <a:p>
            <a:pPr lvl="1"/>
            <a:r>
              <a:rPr lang="en-US" dirty="0"/>
              <a:t>Training</a:t>
            </a:r>
          </a:p>
          <a:p>
            <a:pPr lvl="2"/>
            <a:r>
              <a:rPr lang="en-US" dirty="0"/>
              <a:t>Validating</a:t>
            </a:r>
          </a:p>
          <a:p>
            <a:pPr lvl="1"/>
            <a:r>
              <a:rPr lang="en-US" dirty="0"/>
              <a:t>Testing</a:t>
            </a:r>
          </a:p>
        </p:txBody>
      </p:sp>
    </p:spTree>
    <p:extLst>
      <p:ext uri="{BB962C8B-B14F-4D97-AF65-F5344CB8AC3E}">
        <p14:creationId xmlns:p14="http://schemas.microsoft.com/office/powerpoint/2010/main" val="369767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788CBE-C2F2-0980-C6EC-F17936B1DF70}"/>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74E183B3-71F1-F20A-3285-411E20DB1124}"/>
              </a:ext>
            </a:extLst>
          </p:cNvPr>
          <p:cNvGrpSpPr/>
          <p:nvPr/>
        </p:nvGrpSpPr>
        <p:grpSpPr>
          <a:xfrm>
            <a:off x="625643" y="1780676"/>
            <a:ext cx="10864187" cy="4382133"/>
            <a:chOff x="728142" y="935706"/>
            <a:chExt cx="7795839" cy="3144497"/>
          </a:xfrm>
        </p:grpSpPr>
        <p:sp>
          <p:nvSpPr>
            <p:cNvPr id="5" name="Can 4">
              <a:extLst>
                <a:ext uri="{FF2B5EF4-FFF2-40B4-BE49-F238E27FC236}">
                  <a16:creationId xmlns:a16="http://schemas.microsoft.com/office/drawing/2014/main" id="{8DB5994E-F787-11CB-CC19-E6307E780684}"/>
                </a:ext>
              </a:extLst>
            </p:cNvPr>
            <p:cNvSpPr/>
            <p:nvPr/>
          </p:nvSpPr>
          <p:spPr>
            <a:xfrm>
              <a:off x="3380157" y="3287352"/>
              <a:ext cx="893486" cy="731722"/>
            </a:xfrm>
            <a:prstGeom prst="can">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1050" dirty="0">
                  <a:solidFill>
                    <a:schemeClr val="accent1"/>
                  </a:solidFill>
                  <a:latin typeface="Poppins" pitchFamily="2" charset="77"/>
                  <a:cs typeface="Poppins" pitchFamily="2" charset="77"/>
                </a:rPr>
                <a:t>Scheduling</a:t>
              </a:r>
              <a:endParaRPr lang="en-US" sz="1050" dirty="0">
                <a:solidFill>
                  <a:schemeClr val="accent1"/>
                </a:solidFill>
                <a:latin typeface="Poppins" pitchFamily="2" charset="77"/>
                <a:cs typeface="Poppins" pitchFamily="2" charset="77"/>
              </a:endParaRPr>
            </a:p>
          </p:txBody>
        </p:sp>
        <p:sp>
          <p:nvSpPr>
            <p:cNvPr id="6" name="Can 5">
              <a:extLst>
                <a:ext uri="{FF2B5EF4-FFF2-40B4-BE49-F238E27FC236}">
                  <a16:creationId xmlns:a16="http://schemas.microsoft.com/office/drawing/2014/main" id="{FE358E7B-79DE-BF9A-663B-67C6B10FED57}"/>
                </a:ext>
              </a:extLst>
            </p:cNvPr>
            <p:cNvSpPr/>
            <p:nvPr/>
          </p:nvSpPr>
          <p:spPr>
            <a:xfrm>
              <a:off x="1776639" y="2097047"/>
              <a:ext cx="993123" cy="810445"/>
            </a:xfrm>
            <a:prstGeom prst="can">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1050" dirty="0">
                  <a:solidFill>
                    <a:schemeClr val="accent1"/>
                  </a:solidFill>
                  <a:latin typeface="Poppins" pitchFamily="2" charset="77"/>
                  <a:cs typeface="Poppins" pitchFamily="2" charset="77"/>
                </a:rPr>
                <a:t>Clinic</a:t>
              </a:r>
            </a:p>
            <a:p>
              <a:pPr algn="ctr"/>
              <a:r>
                <a:rPr lang="en-CA" sz="1050" dirty="0">
                  <a:solidFill>
                    <a:schemeClr val="accent1"/>
                  </a:solidFill>
                  <a:latin typeface="Poppins" pitchFamily="2" charset="77"/>
                  <a:cs typeface="Poppins" pitchFamily="2" charset="77"/>
                </a:rPr>
                <a:t>Operations</a:t>
              </a:r>
              <a:endParaRPr lang="en-US" sz="1050" dirty="0">
                <a:solidFill>
                  <a:schemeClr val="accent1"/>
                </a:solidFill>
                <a:latin typeface="Poppins" pitchFamily="2" charset="77"/>
                <a:cs typeface="Poppins" pitchFamily="2" charset="77"/>
              </a:endParaRPr>
            </a:p>
          </p:txBody>
        </p:sp>
        <p:sp>
          <p:nvSpPr>
            <p:cNvPr id="7" name="Can 6">
              <a:extLst>
                <a:ext uri="{FF2B5EF4-FFF2-40B4-BE49-F238E27FC236}">
                  <a16:creationId xmlns:a16="http://schemas.microsoft.com/office/drawing/2014/main" id="{59C688D0-7193-B20D-C29F-9857EDBDEAB0}"/>
                </a:ext>
              </a:extLst>
            </p:cNvPr>
            <p:cNvSpPr/>
            <p:nvPr/>
          </p:nvSpPr>
          <p:spPr>
            <a:xfrm>
              <a:off x="1016486" y="1135307"/>
              <a:ext cx="708509" cy="799343"/>
            </a:xfrm>
            <a:prstGeom prst="can">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1050" dirty="0">
                  <a:solidFill>
                    <a:schemeClr val="accent1"/>
                  </a:solidFill>
                  <a:latin typeface="Poppins" pitchFamily="2" charset="77"/>
                  <a:cs typeface="Poppins" pitchFamily="2" charset="77"/>
                </a:rPr>
                <a:t>Pharmacy</a:t>
              </a:r>
              <a:endParaRPr lang="en-US" sz="1050" dirty="0">
                <a:solidFill>
                  <a:schemeClr val="accent1"/>
                </a:solidFill>
                <a:latin typeface="Poppins" pitchFamily="2" charset="77"/>
                <a:cs typeface="Poppins" pitchFamily="2" charset="77"/>
              </a:endParaRPr>
            </a:p>
          </p:txBody>
        </p:sp>
        <p:sp>
          <p:nvSpPr>
            <p:cNvPr id="8" name="Can 7">
              <a:extLst>
                <a:ext uri="{FF2B5EF4-FFF2-40B4-BE49-F238E27FC236}">
                  <a16:creationId xmlns:a16="http://schemas.microsoft.com/office/drawing/2014/main" id="{708438DB-1036-462D-E133-C1A0C897C6DC}"/>
                </a:ext>
              </a:extLst>
            </p:cNvPr>
            <p:cNvSpPr/>
            <p:nvPr/>
          </p:nvSpPr>
          <p:spPr>
            <a:xfrm>
              <a:off x="728142" y="2169652"/>
              <a:ext cx="708509" cy="799343"/>
            </a:xfrm>
            <a:prstGeom prst="can">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1050" dirty="0">
                  <a:solidFill>
                    <a:schemeClr val="accent1"/>
                  </a:solidFill>
                  <a:latin typeface="Poppins" pitchFamily="2" charset="77"/>
                  <a:cs typeface="Poppins" pitchFamily="2" charset="77"/>
                </a:rPr>
                <a:t>Device</a:t>
              </a:r>
              <a:endParaRPr lang="en-US" sz="1050" dirty="0">
                <a:solidFill>
                  <a:schemeClr val="accent1"/>
                </a:solidFill>
                <a:latin typeface="Poppins" pitchFamily="2" charset="77"/>
                <a:cs typeface="Poppins" pitchFamily="2" charset="77"/>
              </a:endParaRPr>
            </a:p>
          </p:txBody>
        </p:sp>
        <p:sp>
          <p:nvSpPr>
            <p:cNvPr id="9" name="Can 8">
              <a:extLst>
                <a:ext uri="{FF2B5EF4-FFF2-40B4-BE49-F238E27FC236}">
                  <a16:creationId xmlns:a16="http://schemas.microsoft.com/office/drawing/2014/main" id="{AEBBEF4E-1238-B2CF-92C7-7B128F76732E}"/>
                </a:ext>
              </a:extLst>
            </p:cNvPr>
            <p:cNvSpPr/>
            <p:nvPr/>
          </p:nvSpPr>
          <p:spPr>
            <a:xfrm>
              <a:off x="2201002" y="1079438"/>
              <a:ext cx="956040" cy="731723"/>
            </a:xfrm>
            <a:prstGeom prst="can">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1050" dirty="0">
                  <a:solidFill>
                    <a:schemeClr val="accent1"/>
                  </a:solidFill>
                  <a:latin typeface="Poppins" pitchFamily="2" charset="77"/>
                  <a:cs typeface="Poppins" pitchFamily="2" charset="77"/>
                </a:rPr>
                <a:t>Medical</a:t>
              </a:r>
              <a:endParaRPr lang="en-US" sz="1050" dirty="0">
                <a:solidFill>
                  <a:schemeClr val="accent1"/>
                </a:solidFill>
                <a:latin typeface="Poppins" pitchFamily="2" charset="77"/>
                <a:cs typeface="Poppins" pitchFamily="2" charset="77"/>
              </a:endParaRPr>
            </a:p>
          </p:txBody>
        </p:sp>
        <p:sp>
          <p:nvSpPr>
            <p:cNvPr id="10" name="Can 9">
              <a:extLst>
                <a:ext uri="{FF2B5EF4-FFF2-40B4-BE49-F238E27FC236}">
                  <a16:creationId xmlns:a16="http://schemas.microsoft.com/office/drawing/2014/main" id="{C2292A4C-A725-CFC6-8239-6A6DA1B9E2EC}"/>
                </a:ext>
              </a:extLst>
            </p:cNvPr>
            <p:cNvSpPr/>
            <p:nvPr/>
          </p:nvSpPr>
          <p:spPr>
            <a:xfrm>
              <a:off x="3127149" y="2308631"/>
              <a:ext cx="899424" cy="731723"/>
            </a:xfrm>
            <a:prstGeom prst="can">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1050" dirty="0">
                  <a:solidFill>
                    <a:schemeClr val="accent1"/>
                  </a:solidFill>
                  <a:latin typeface="Poppins" pitchFamily="2" charset="77"/>
                  <a:cs typeface="Poppins" pitchFamily="2" charset="77"/>
                </a:rPr>
                <a:t>Hospital Systems</a:t>
              </a:r>
              <a:endParaRPr lang="en-US" sz="1050" dirty="0">
                <a:solidFill>
                  <a:schemeClr val="accent1"/>
                </a:solidFill>
                <a:latin typeface="Poppins" pitchFamily="2" charset="77"/>
                <a:cs typeface="Poppins" pitchFamily="2" charset="77"/>
              </a:endParaRPr>
            </a:p>
          </p:txBody>
        </p:sp>
        <p:sp>
          <p:nvSpPr>
            <p:cNvPr id="11" name="Can 10">
              <a:extLst>
                <a:ext uri="{FF2B5EF4-FFF2-40B4-BE49-F238E27FC236}">
                  <a16:creationId xmlns:a16="http://schemas.microsoft.com/office/drawing/2014/main" id="{12DD6C2E-821C-05DE-7946-8DDF86C55BF5}"/>
                </a:ext>
              </a:extLst>
            </p:cNvPr>
            <p:cNvSpPr/>
            <p:nvPr/>
          </p:nvSpPr>
          <p:spPr>
            <a:xfrm>
              <a:off x="3484002" y="1290507"/>
              <a:ext cx="899424" cy="731723"/>
            </a:xfrm>
            <a:prstGeom prst="can">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1050" dirty="0">
                  <a:solidFill>
                    <a:schemeClr val="accent1"/>
                  </a:solidFill>
                  <a:latin typeface="Poppins" pitchFamily="2" charset="77"/>
                  <a:cs typeface="Poppins" pitchFamily="2" charset="77"/>
                </a:rPr>
                <a:t>Theatre Operations</a:t>
              </a:r>
              <a:endParaRPr lang="en-US" sz="1050" dirty="0">
                <a:solidFill>
                  <a:schemeClr val="accent1"/>
                </a:solidFill>
                <a:latin typeface="Poppins" pitchFamily="2" charset="77"/>
                <a:cs typeface="Poppins" pitchFamily="2" charset="77"/>
              </a:endParaRPr>
            </a:p>
          </p:txBody>
        </p:sp>
        <p:sp>
          <p:nvSpPr>
            <p:cNvPr id="12" name="Can 11">
              <a:extLst>
                <a:ext uri="{FF2B5EF4-FFF2-40B4-BE49-F238E27FC236}">
                  <a16:creationId xmlns:a16="http://schemas.microsoft.com/office/drawing/2014/main" id="{2012F451-65B4-387F-6683-F4BB8DAC8806}"/>
                </a:ext>
              </a:extLst>
            </p:cNvPr>
            <p:cNvSpPr/>
            <p:nvPr/>
          </p:nvSpPr>
          <p:spPr>
            <a:xfrm>
              <a:off x="2025648" y="3190613"/>
              <a:ext cx="993123" cy="810445"/>
            </a:xfrm>
            <a:prstGeom prst="can">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1050" dirty="0">
                  <a:solidFill>
                    <a:schemeClr val="accent1"/>
                  </a:solidFill>
                  <a:latin typeface="Poppins" pitchFamily="2" charset="77"/>
                  <a:cs typeface="Poppins" pitchFamily="2" charset="77"/>
                </a:rPr>
                <a:t>Bedside Devices</a:t>
              </a:r>
              <a:endParaRPr lang="en-US" sz="1050" dirty="0">
                <a:solidFill>
                  <a:schemeClr val="accent1"/>
                </a:solidFill>
                <a:latin typeface="Poppins" pitchFamily="2" charset="77"/>
                <a:cs typeface="Poppins" pitchFamily="2" charset="77"/>
              </a:endParaRPr>
            </a:p>
          </p:txBody>
        </p:sp>
        <p:sp>
          <p:nvSpPr>
            <p:cNvPr id="13" name="Rectangle 12">
              <a:extLst>
                <a:ext uri="{FF2B5EF4-FFF2-40B4-BE49-F238E27FC236}">
                  <a16:creationId xmlns:a16="http://schemas.microsoft.com/office/drawing/2014/main" id="{1CABF0AE-D3AD-F2B4-DC7D-5EE3D1407E4F}"/>
                </a:ext>
              </a:extLst>
            </p:cNvPr>
            <p:cNvSpPr/>
            <p:nvPr/>
          </p:nvSpPr>
          <p:spPr>
            <a:xfrm>
              <a:off x="5957567" y="935706"/>
              <a:ext cx="2566414" cy="1214042"/>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accent1"/>
                  </a:solidFill>
                  <a:latin typeface="Poppins" pitchFamily="2" charset="77"/>
                  <a:cs typeface="Poppins" pitchFamily="2" charset="77"/>
                </a:rPr>
                <a:t>Data Lake</a:t>
              </a:r>
            </a:p>
            <a:p>
              <a:pPr algn="ctr"/>
              <a:r>
                <a:rPr lang="en-US" dirty="0">
                  <a:solidFill>
                    <a:schemeClr val="accent1"/>
                  </a:solidFill>
                  <a:latin typeface="Poppins" pitchFamily="2" charset="77"/>
                  <a:cs typeface="Poppins" pitchFamily="2" charset="77"/>
                </a:rPr>
                <a:t>(as-is copies)</a:t>
              </a:r>
            </a:p>
          </p:txBody>
        </p:sp>
        <p:sp>
          <p:nvSpPr>
            <p:cNvPr id="14" name="Rectangle 13">
              <a:extLst>
                <a:ext uri="{FF2B5EF4-FFF2-40B4-BE49-F238E27FC236}">
                  <a16:creationId xmlns:a16="http://schemas.microsoft.com/office/drawing/2014/main" id="{A16A229E-4066-66E5-53AE-809D871A639B}"/>
                </a:ext>
              </a:extLst>
            </p:cNvPr>
            <p:cNvSpPr/>
            <p:nvPr/>
          </p:nvSpPr>
          <p:spPr>
            <a:xfrm>
              <a:off x="5957566" y="2828538"/>
              <a:ext cx="2566415" cy="1214042"/>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accent1"/>
                  </a:solidFill>
                  <a:latin typeface="Poppins" pitchFamily="2" charset="77"/>
                  <a:cs typeface="Poppins" pitchFamily="2" charset="77"/>
                </a:rPr>
                <a:t>Data Warehouse</a:t>
              </a:r>
            </a:p>
            <a:p>
              <a:pPr algn="ctr"/>
              <a:r>
                <a:rPr lang="en-US" dirty="0">
                  <a:solidFill>
                    <a:schemeClr val="accent1"/>
                  </a:solidFill>
                  <a:latin typeface="Poppins" pitchFamily="2" charset="77"/>
                  <a:cs typeface="Poppins" pitchFamily="2" charset="77"/>
                </a:rPr>
                <a:t>(organized for analysis)</a:t>
              </a:r>
            </a:p>
          </p:txBody>
        </p:sp>
        <p:sp>
          <p:nvSpPr>
            <p:cNvPr id="15" name="Right Arrow 14">
              <a:extLst>
                <a:ext uri="{FF2B5EF4-FFF2-40B4-BE49-F238E27FC236}">
                  <a16:creationId xmlns:a16="http://schemas.microsoft.com/office/drawing/2014/main" id="{3A7B0A78-8061-4293-FFFD-F0A0F9FC9CF4}"/>
                </a:ext>
              </a:extLst>
            </p:cNvPr>
            <p:cNvSpPr/>
            <p:nvPr/>
          </p:nvSpPr>
          <p:spPr>
            <a:xfrm>
              <a:off x="4839213" y="1301567"/>
              <a:ext cx="978408" cy="436908"/>
            </a:xfrm>
            <a:prstGeom prst="rightArrow">
              <a:avLst/>
            </a:prstGeom>
            <a:solidFill>
              <a:srgbClr val="009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Poppins" pitchFamily="2" charset="77"/>
                <a:cs typeface="Poppins" pitchFamily="2" charset="77"/>
              </a:endParaRPr>
            </a:p>
          </p:txBody>
        </p:sp>
        <p:sp>
          <p:nvSpPr>
            <p:cNvPr id="16" name="Right Arrow 15">
              <a:extLst>
                <a:ext uri="{FF2B5EF4-FFF2-40B4-BE49-F238E27FC236}">
                  <a16:creationId xmlns:a16="http://schemas.microsoft.com/office/drawing/2014/main" id="{EEEF10F5-41DA-6963-41AF-A1FC438DAEC5}"/>
                </a:ext>
              </a:extLst>
            </p:cNvPr>
            <p:cNvSpPr/>
            <p:nvPr/>
          </p:nvSpPr>
          <p:spPr>
            <a:xfrm rot="5400000">
              <a:off x="7090906" y="2283003"/>
              <a:ext cx="424183" cy="412279"/>
            </a:xfrm>
            <a:prstGeom prst="rightArrow">
              <a:avLst>
                <a:gd name="adj1" fmla="val 50000"/>
                <a:gd name="adj2" fmla="val 44309"/>
              </a:avLst>
            </a:prstGeom>
            <a:solidFill>
              <a:srgbClr val="009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Poppins" pitchFamily="2" charset="77"/>
                <a:cs typeface="Poppins" pitchFamily="2" charset="77"/>
              </a:endParaRPr>
            </a:p>
          </p:txBody>
        </p:sp>
        <p:sp>
          <p:nvSpPr>
            <p:cNvPr id="17" name="Can 16">
              <a:extLst>
                <a:ext uri="{FF2B5EF4-FFF2-40B4-BE49-F238E27FC236}">
                  <a16:creationId xmlns:a16="http://schemas.microsoft.com/office/drawing/2014/main" id="{5128A2C3-A606-3268-9CA7-10570A5B1653}"/>
                </a:ext>
              </a:extLst>
            </p:cNvPr>
            <p:cNvSpPr/>
            <p:nvPr/>
          </p:nvSpPr>
          <p:spPr>
            <a:xfrm>
              <a:off x="801079" y="3280860"/>
              <a:ext cx="802209" cy="799343"/>
            </a:xfrm>
            <a:prstGeom prst="can">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1050" dirty="0">
                  <a:solidFill>
                    <a:schemeClr val="accent1"/>
                  </a:solidFill>
                  <a:latin typeface="Poppins" pitchFamily="2" charset="77"/>
                  <a:cs typeface="Poppins" pitchFamily="2" charset="77"/>
                </a:rPr>
                <a:t>Population Health View</a:t>
              </a:r>
              <a:endParaRPr lang="en-US" sz="1050" dirty="0">
                <a:solidFill>
                  <a:schemeClr val="accent1"/>
                </a:solidFill>
                <a:latin typeface="Poppins" pitchFamily="2" charset="77"/>
                <a:cs typeface="Poppins" pitchFamily="2" charset="77"/>
              </a:endParaRPr>
            </a:p>
          </p:txBody>
        </p:sp>
      </p:grpSp>
      <p:sp>
        <p:nvSpPr>
          <p:cNvPr id="19" name="TextBox 18">
            <a:extLst>
              <a:ext uri="{FF2B5EF4-FFF2-40B4-BE49-F238E27FC236}">
                <a16:creationId xmlns:a16="http://schemas.microsoft.com/office/drawing/2014/main" id="{403AF3E5-CE68-4571-5E42-5792F766420E}"/>
              </a:ext>
            </a:extLst>
          </p:cNvPr>
          <p:cNvSpPr txBox="1"/>
          <p:nvPr/>
        </p:nvSpPr>
        <p:spPr>
          <a:xfrm>
            <a:off x="238538" y="262392"/>
            <a:ext cx="3771988" cy="1200329"/>
          </a:xfrm>
          <a:prstGeom prst="rect">
            <a:avLst/>
          </a:prstGeom>
          <a:noFill/>
        </p:spPr>
        <p:txBody>
          <a:bodyPr wrap="square" rtlCol="0">
            <a:spAutoFit/>
          </a:bodyPr>
          <a:lstStyle/>
          <a:p>
            <a:r>
              <a:rPr lang="en-US" sz="3600" b="1" dirty="0">
                <a:solidFill>
                  <a:schemeClr val="bg1"/>
                </a:solidFill>
                <a:latin typeface="Poppins" pitchFamily="2" charset="77"/>
                <a:cs typeface="Poppins" pitchFamily="2" charset="77"/>
              </a:rPr>
              <a:t>Aggregation of Data Silos</a:t>
            </a:r>
          </a:p>
        </p:txBody>
      </p:sp>
    </p:spTree>
    <p:extLst>
      <p:ext uri="{BB962C8B-B14F-4D97-AF65-F5344CB8AC3E}">
        <p14:creationId xmlns:p14="http://schemas.microsoft.com/office/powerpoint/2010/main" val="3654484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1F125-74A8-87F4-8DEC-CA49FA9F6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2CB76-AE28-2282-8656-206FB2C06F2C}"/>
              </a:ext>
            </a:extLst>
          </p:cNvPr>
          <p:cNvSpPr>
            <a:spLocks noGrp="1"/>
          </p:cNvSpPr>
          <p:nvPr>
            <p:ph type="title"/>
          </p:nvPr>
        </p:nvSpPr>
        <p:spPr/>
        <p:txBody>
          <a:bodyPr/>
          <a:lstStyle/>
          <a:p>
            <a:r>
              <a:rPr lang="en-US" b="1" dirty="0"/>
              <a:t>Analytic Data Model</a:t>
            </a:r>
          </a:p>
        </p:txBody>
      </p:sp>
      <p:sp>
        <p:nvSpPr>
          <p:cNvPr id="3" name="Content Placeholder 2">
            <a:extLst>
              <a:ext uri="{FF2B5EF4-FFF2-40B4-BE49-F238E27FC236}">
                <a16:creationId xmlns:a16="http://schemas.microsoft.com/office/drawing/2014/main" id="{9407C7AC-7C30-4623-179B-281DFEDEDE8C}"/>
              </a:ext>
            </a:extLst>
          </p:cNvPr>
          <p:cNvSpPr>
            <a:spLocks noGrp="1"/>
          </p:cNvSpPr>
          <p:nvPr>
            <p:ph sz="half" idx="1"/>
          </p:nvPr>
        </p:nvSpPr>
        <p:spPr/>
        <p:txBody>
          <a:bodyPr/>
          <a:lstStyle/>
          <a:p>
            <a:r>
              <a:rPr lang="en-US" dirty="0"/>
              <a:t>Entities (things)</a:t>
            </a:r>
          </a:p>
          <a:p>
            <a:pPr lvl="1"/>
            <a:r>
              <a:rPr lang="en-US" dirty="0"/>
              <a:t>Patients</a:t>
            </a:r>
          </a:p>
          <a:p>
            <a:pPr lvl="1"/>
            <a:r>
              <a:rPr lang="en-US" dirty="0"/>
              <a:t>Devices</a:t>
            </a:r>
          </a:p>
          <a:p>
            <a:pPr lvl="1"/>
            <a:r>
              <a:rPr lang="en-US" dirty="0"/>
              <a:t>Clinics</a:t>
            </a:r>
          </a:p>
        </p:txBody>
      </p:sp>
      <p:sp>
        <p:nvSpPr>
          <p:cNvPr id="4" name="Content Placeholder 3">
            <a:extLst>
              <a:ext uri="{FF2B5EF4-FFF2-40B4-BE49-F238E27FC236}">
                <a16:creationId xmlns:a16="http://schemas.microsoft.com/office/drawing/2014/main" id="{75214649-868C-BDCA-5200-D639D70751E1}"/>
              </a:ext>
            </a:extLst>
          </p:cNvPr>
          <p:cNvSpPr>
            <a:spLocks noGrp="1"/>
          </p:cNvSpPr>
          <p:nvPr>
            <p:ph sz="half" idx="2"/>
          </p:nvPr>
        </p:nvSpPr>
        <p:spPr/>
        <p:txBody>
          <a:bodyPr/>
          <a:lstStyle/>
          <a:p>
            <a:r>
              <a:rPr lang="en-US" dirty="0"/>
              <a:t>Events</a:t>
            </a:r>
          </a:p>
          <a:p>
            <a:pPr lvl="1"/>
            <a:r>
              <a:rPr lang="en-US" dirty="0"/>
              <a:t>Sensor readings</a:t>
            </a:r>
          </a:p>
          <a:p>
            <a:pPr lvl="1"/>
            <a:r>
              <a:rPr lang="en-US" dirty="0"/>
              <a:t>Transfers</a:t>
            </a:r>
          </a:p>
          <a:p>
            <a:pPr lvl="1"/>
            <a:r>
              <a:rPr lang="en-US" dirty="0"/>
              <a:t>Adverse events</a:t>
            </a:r>
          </a:p>
        </p:txBody>
      </p:sp>
    </p:spTree>
    <p:extLst>
      <p:ext uri="{BB962C8B-B14F-4D97-AF65-F5344CB8AC3E}">
        <p14:creationId xmlns:p14="http://schemas.microsoft.com/office/powerpoint/2010/main" val="2217338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97082-034B-0AB2-E73A-FE7550946A70}"/>
              </a:ext>
            </a:extLst>
          </p:cNvPr>
          <p:cNvSpPr>
            <a:spLocks noGrp="1"/>
          </p:cNvSpPr>
          <p:nvPr>
            <p:ph type="title"/>
          </p:nvPr>
        </p:nvSpPr>
        <p:spPr/>
        <p:txBody>
          <a:bodyPr/>
          <a:lstStyle/>
          <a:p>
            <a:r>
              <a:rPr lang="en-US" b="1" dirty="0"/>
              <a:t>Entity </a:t>
            </a:r>
            <a:br>
              <a:rPr lang="en-US" b="1" dirty="0"/>
            </a:br>
            <a:r>
              <a:rPr lang="en-US" b="1" dirty="0"/>
              <a:t>and Event Profiles</a:t>
            </a:r>
          </a:p>
        </p:txBody>
      </p:sp>
      <p:sp>
        <p:nvSpPr>
          <p:cNvPr id="3" name="Content Placeholder 2">
            <a:extLst>
              <a:ext uri="{FF2B5EF4-FFF2-40B4-BE49-F238E27FC236}">
                <a16:creationId xmlns:a16="http://schemas.microsoft.com/office/drawing/2014/main" id="{351C107D-A17D-D19A-BAA2-1A98B185DDEF}"/>
              </a:ext>
            </a:extLst>
          </p:cNvPr>
          <p:cNvSpPr>
            <a:spLocks noGrp="1"/>
          </p:cNvSpPr>
          <p:nvPr>
            <p:ph idx="1"/>
          </p:nvPr>
        </p:nvSpPr>
        <p:spPr/>
        <p:txBody>
          <a:bodyPr/>
          <a:lstStyle/>
          <a:p>
            <a:r>
              <a:rPr lang="en-US" dirty="0"/>
              <a:t>Profile data includes basic, calculated and aggregated features</a:t>
            </a:r>
          </a:p>
          <a:p>
            <a:r>
              <a:rPr lang="en-US" dirty="0"/>
              <a:t>These feature values are used to train the model to predict the target value</a:t>
            </a:r>
          </a:p>
          <a:p>
            <a:r>
              <a:rPr lang="en-US" dirty="0"/>
              <a:t>Also used at inference time to obtain the target value</a:t>
            </a:r>
          </a:p>
        </p:txBody>
      </p:sp>
    </p:spTree>
    <p:extLst>
      <p:ext uri="{BB962C8B-B14F-4D97-AF65-F5344CB8AC3E}">
        <p14:creationId xmlns:p14="http://schemas.microsoft.com/office/powerpoint/2010/main" val="3288277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ED3FD2-7935-189F-5542-4DFA309351A2}"/>
              </a:ext>
            </a:extLst>
          </p:cNvPr>
          <p:cNvSpPr>
            <a:spLocks noGrp="1"/>
          </p:cNvSpPr>
          <p:nvPr>
            <p:ph type="title"/>
          </p:nvPr>
        </p:nvSpPr>
        <p:spPr/>
        <p:txBody>
          <a:bodyPr>
            <a:normAutofit/>
          </a:bodyPr>
          <a:lstStyle/>
          <a:p>
            <a:r>
              <a:rPr lang="en-US" sz="3200" b="1" dirty="0"/>
              <a:t>HL7 FHIR (Health Level 7 Fast Healthcare Interoperability Resources)</a:t>
            </a:r>
          </a:p>
        </p:txBody>
      </p:sp>
      <p:pic>
        <p:nvPicPr>
          <p:cNvPr id="3" name="Picture 2">
            <a:extLst>
              <a:ext uri="{FF2B5EF4-FFF2-40B4-BE49-F238E27FC236}">
                <a16:creationId xmlns:a16="http://schemas.microsoft.com/office/drawing/2014/main" id="{028513EF-2DB8-A2FB-7769-6C2277F2B6DA}"/>
              </a:ext>
            </a:extLst>
          </p:cNvPr>
          <p:cNvPicPr>
            <a:picLocks noChangeAspect="1"/>
          </p:cNvPicPr>
          <p:nvPr/>
        </p:nvPicPr>
        <p:blipFill>
          <a:blip r:embed="rId2"/>
          <a:stretch>
            <a:fillRect/>
          </a:stretch>
        </p:blipFill>
        <p:spPr>
          <a:xfrm>
            <a:off x="3452488" y="765175"/>
            <a:ext cx="8486593" cy="5327649"/>
          </a:xfrm>
          <a:prstGeom prst="rect">
            <a:avLst/>
          </a:prstGeom>
        </p:spPr>
      </p:pic>
    </p:spTree>
    <p:extLst>
      <p:ext uri="{BB962C8B-B14F-4D97-AF65-F5344CB8AC3E}">
        <p14:creationId xmlns:p14="http://schemas.microsoft.com/office/powerpoint/2010/main" val="3299368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E5586-1115-CA23-ACEB-5110DBEA7C1B}"/>
              </a:ext>
            </a:extLst>
          </p:cNvPr>
          <p:cNvSpPr>
            <a:spLocks noGrp="1"/>
          </p:cNvSpPr>
          <p:nvPr>
            <p:ph type="title"/>
          </p:nvPr>
        </p:nvSpPr>
        <p:spPr/>
        <p:txBody>
          <a:bodyPr>
            <a:normAutofit/>
          </a:bodyPr>
          <a:lstStyle/>
          <a:p>
            <a:r>
              <a:rPr lang="en-US" sz="3200" b="1" dirty="0">
                <a:cs typeface="Poppins" pitchFamily="2" charset="77"/>
              </a:rPr>
              <a:t>Explainability</a:t>
            </a:r>
          </a:p>
        </p:txBody>
      </p:sp>
      <p:sp>
        <p:nvSpPr>
          <p:cNvPr id="3" name="Content Placeholder 2">
            <a:extLst>
              <a:ext uri="{FF2B5EF4-FFF2-40B4-BE49-F238E27FC236}">
                <a16:creationId xmlns:a16="http://schemas.microsoft.com/office/drawing/2014/main" id="{D86CBB4A-EE3E-ED44-2256-BEF41E426FE4}"/>
              </a:ext>
            </a:extLst>
          </p:cNvPr>
          <p:cNvSpPr>
            <a:spLocks noGrp="1"/>
          </p:cNvSpPr>
          <p:nvPr>
            <p:ph idx="1"/>
          </p:nvPr>
        </p:nvSpPr>
        <p:spPr/>
        <p:txBody>
          <a:bodyPr>
            <a:normAutofit fontScale="92500" lnSpcReduction="20000"/>
          </a:bodyPr>
          <a:lstStyle/>
          <a:p>
            <a:r>
              <a:rPr lang="en-CA" dirty="0"/>
              <a:t>Because of the complexity of many machine learning models, it is not possible to explain why they produce the output that they do other than to say it is based on the patterns they learned in the training data. </a:t>
            </a:r>
          </a:p>
          <a:p>
            <a:r>
              <a:rPr lang="en-CA" dirty="0"/>
              <a:t>This is an inherent weakness in establishing trustworthiness and credibility of many machine learning models. </a:t>
            </a:r>
          </a:p>
          <a:p>
            <a:r>
              <a:rPr lang="en-CA" dirty="0"/>
              <a:t>As stated earlier we turn to machine learning when we have examples, but we don’t know how to obtain the behavior we need using explicit instructions. </a:t>
            </a:r>
          </a:p>
          <a:p>
            <a:r>
              <a:rPr lang="en-CA" dirty="0"/>
              <a:t>We instead use the examples to train (adjust the parameters of) a model that  is then able to perform the desired behavior. </a:t>
            </a:r>
          </a:p>
          <a:p>
            <a:r>
              <a:rPr lang="en-CA" dirty="0"/>
              <a:t>In some cases of relatively simple models with few parameters (ex. Linear regression) we can interpret the meaning of the parameter values. </a:t>
            </a:r>
          </a:p>
          <a:p>
            <a:r>
              <a:rPr lang="en-CA" dirty="0"/>
              <a:t>But in general, for most models such as deep neural networks, we cannot explain model behavior based on parameter values.</a:t>
            </a:r>
          </a:p>
        </p:txBody>
      </p:sp>
    </p:spTree>
    <p:extLst>
      <p:ext uri="{BB962C8B-B14F-4D97-AF65-F5344CB8AC3E}">
        <p14:creationId xmlns:p14="http://schemas.microsoft.com/office/powerpoint/2010/main" val="197764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36A175-458E-7256-BCDD-E9530E29E106}"/>
              </a:ext>
            </a:extLst>
          </p:cNvPr>
          <p:cNvSpPr txBox="1"/>
          <p:nvPr/>
        </p:nvSpPr>
        <p:spPr>
          <a:xfrm>
            <a:off x="246491" y="318052"/>
            <a:ext cx="7609398" cy="338554"/>
          </a:xfrm>
          <a:prstGeom prst="rect">
            <a:avLst/>
          </a:prstGeom>
          <a:noFill/>
        </p:spPr>
        <p:txBody>
          <a:bodyPr wrap="square" rtlCol="0">
            <a:spAutoFit/>
          </a:bodyPr>
          <a:lstStyle/>
          <a:p>
            <a:r>
              <a:rPr lang="en-US" sz="1600" b="1" dirty="0">
                <a:solidFill>
                  <a:schemeClr val="bg1"/>
                </a:solidFill>
                <a:latin typeface="Poppins" pitchFamily="2" charset="77"/>
                <a:cs typeface="Poppins" pitchFamily="2" charset="77"/>
              </a:rPr>
              <a:t>Explainability – </a:t>
            </a:r>
            <a:r>
              <a:rPr lang="en-US" sz="1600" dirty="0">
                <a:solidFill>
                  <a:schemeClr val="bg1"/>
                </a:solidFill>
                <a:latin typeface="Poppins" pitchFamily="2" charset="77"/>
                <a:cs typeface="Poppins" pitchFamily="2" charset="77"/>
              </a:rPr>
              <a:t>SHAP Values</a:t>
            </a:r>
          </a:p>
        </p:txBody>
      </p:sp>
      <p:pic>
        <p:nvPicPr>
          <p:cNvPr id="6" name="Picture 5" descr="slide70_shap_summary.png"/>
          <p:cNvPicPr>
            <a:picLocks noChangeAspect="1"/>
          </p:cNvPicPr>
          <p:nvPr/>
        </p:nvPicPr>
        <p:blipFill>
          <a:blip r:embed="rId4"/>
          <a:stretch>
            <a:fillRect/>
          </a:stretch>
        </p:blipFill>
        <p:spPr>
          <a:xfrm>
            <a:off x="2780923" y="1764631"/>
            <a:ext cx="6222408" cy="4262038"/>
          </a:xfrm>
          <a:prstGeom prst="rect">
            <a:avLst/>
          </a:prstGeom>
        </p:spPr>
      </p:pic>
      <p:sp>
        <p:nvSpPr>
          <p:cNvPr id="5" name="TextBox 4">
            <a:extLst>
              <a:ext uri="{FF2B5EF4-FFF2-40B4-BE49-F238E27FC236}">
                <a16:creationId xmlns:a16="http://schemas.microsoft.com/office/drawing/2014/main" id="{ED04115D-E94B-A0F2-32BE-97EC25B892A5}"/>
              </a:ext>
            </a:extLst>
          </p:cNvPr>
          <p:cNvSpPr txBox="1"/>
          <p:nvPr/>
        </p:nvSpPr>
        <p:spPr>
          <a:xfrm>
            <a:off x="1507958" y="1251282"/>
            <a:ext cx="9336505" cy="369332"/>
          </a:xfrm>
          <a:prstGeom prst="rect">
            <a:avLst/>
          </a:prstGeom>
          <a:noFill/>
        </p:spPr>
        <p:txBody>
          <a:bodyPr wrap="square" rtlCol="0">
            <a:spAutoFit/>
          </a:bodyPr>
          <a:lstStyle/>
          <a:p>
            <a:pPr algn="ctr"/>
            <a:r>
              <a:rPr lang="en-US" b="1" dirty="0">
                <a:solidFill>
                  <a:schemeClr val="accent1"/>
                </a:solidFill>
                <a:latin typeface="Poppins" pitchFamily="2" charset="77"/>
                <a:cs typeface="Poppins" pitchFamily="2" charset="77"/>
              </a:rPr>
              <a:t>SHAP Summary Plot: Feature Impact on Readmission Prediction (Global View)</a:t>
            </a:r>
          </a:p>
        </p:txBody>
      </p:sp>
    </p:spTree>
    <p:extLst>
      <p:ext uri="{BB962C8B-B14F-4D97-AF65-F5344CB8AC3E}">
        <p14:creationId xmlns:p14="http://schemas.microsoft.com/office/powerpoint/2010/main" val="3645665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0E66E-5141-A6B5-B664-398783D28A0B}"/>
              </a:ext>
            </a:extLst>
          </p:cNvPr>
          <p:cNvSpPr>
            <a:spLocks noGrp="1"/>
          </p:cNvSpPr>
          <p:nvPr>
            <p:ph type="title"/>
          </p:nvPr>
        </p:nvSpPr>
        <p:spPr/>
        <p:txBody>
          <a:bodyPr/>
          <a:lstStyle/>
          <a:p>
            <a:r>
              <a:rPr lang="en-US" b="1" dirty="0"/>
              <a:t>Drift</a:t>
            </a:r>
          </a:p>
        </p:txBody>
      </p:sp>
      <p:sp>
        <p:nvSpPr>
          <p:cNvPr id="3" name="Content Placeholder 2">
            <a:extLst>
              <a:ext uri="{FF2B5EF4-FFF2-40B4-BE49-F238E27FC236}">
                <a16:creationId xmlns:a16="http://schemas.microsoft.com/office/drawing/2014/main" id="{DF8F6577-73A3-4A6F-6E72-97DBB69AC212}"/>
              </a:ext>
            </a:extLst>
          </p:cNvPr>
          <p:cNvSpPr>
            <a:spLocks noGrp="1"/>
          </p:cNvSpPr>
          <p:nvPr>
            <p:ph idx="1"/>
          </p:nvPr>
        </p:nvSpPr>
        <p:spPr/>
        <p:txBody>
          <a:bodyPr/>
          <a:lstStyle/>
          <a:p>
            <a:r>
              <a:rPr lang="en-CA" dirty="0"/>
              <a:t>Models in production may tend to slowly decrease in performance </a:t>
            </a:r>
          </a:p>
          <a:p>
            <a:r>
              <a:rPr lang="en-CA" dirty="0"/>
              <a:t>There are likely one or more features whose values have changed (drifted) from when the model was trained</a:t>
            </a:r>
          </a:p>
          <a:p>
            <a:r>
              <a:rPr lang="en-CA" dirty="0"/>
              <a:t>The model may need to be to periodically retrained to correct its parameters and restore its performance</a:t>
            </a:r>
          </a:p>
        </p:txBody>
      </p:sp>
    </p:spTree>
    <p:extLst>
      <p:ext uri="{BB962C8B-B14F-4D97-AF65-F5344CB8AC3E}">
        <p14:creationId xmlns:p14="http://schemas.microsoft.com/office/powerpoint/2010/main" val="113578230"/>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a Model Becomes a Medical Device</a:t>
            </a:r>
          </a:p>
        </p:txBody>
      </p:sp>
      <p:sp>
        <p:nvSpPr>
          <p:cNvPr id="3" name="Content Placeholder 2"/>
          <p:cNvSpPr>
            <a:spLocks noGrp="1"/>
          </p:cNvSpPr>
          <p:nvPr>
            <p:ph idx="1"/>
          </p:nvPr>
        </p:nvSpPr>
        <p:spPr/>
        <p:txBody>
          <a:bodyPr/>
          <a:lstStyle/>
          <a:p>
            <a:pPr/>
            <a:r>
              <a:t>Software that informs a clinical decision may be a regulated medical device, usually described as Software as a Medical Device.</a:t>
            </a:r>
          </a:p>
          <a:p>
            <a:pPr/>
            <a:r>
              <a:t>Health Canada and the FDA both regulate on this basis. Risk class depends on how serious the condition is and how much weight the software carries in the decision.</a:t>
            </a:r>
          </a:p>
          <a:p>
            <a:pPr/>
            <a:r>
              <a:t>A tool that supports a clinician who can independently review its basis is treated differently from one that drives the decision.</a:t>
            </a:r>
          </a:p>
          <a:p>
            <a:pPr/>
            <a:r>
              <a:t>A locked model and a model that keeps learning after deployment are treated very differently. Continuous learning raises the bar considerably.</a:t>
            </a:r>
          </a:p>
          <a:p>
            <a:pPr/>
            <a:r>
              <a:t>Internal quality-improvement use follows a different path from a commercial product. It is not an exemption from governance.</a:t>
            </a:r>
          </a:p>
          <a:p>
            <a:pPr/>
            <a:r>
              <a:t>Decide this early. The pathway determines what evidence you must collect, and it is expensive to reconstruct afterwards.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Model That Is Ignored Has No Value</a:t>
            </a:r>
          </a:p>
        </p:txBody>
      </p:sp>
      <p:sp>
        <p:nvSpPr>
          <p:cNvPr id="3" name="Content Placeholder 2"/>
          <p:cNvSpPr>
            <a:spLocks noGrp="1"/>
          </p:cNvSpPr>
          <p:nvPr>
            <p:ph idx="1"/>
          </p:nvPr>
        </p:nvSpPr>
        <p:spPr/>
        <p:txBody>
          <a:bodyPr/>
          <a:lstStyle/>
          <a:p>
            <a:pPr/>
            <a:r>
              <a:t>Alert fatigue is the most common way a technically sound model delivers nothing. Clinicians learn to dismiss alerts that are usually wrong.</a:t>
            </a:r>
          </a:p>
          <a:p>
            <a:pPr/>
            <a:r>
              <a:t>Automation bias is the opposite failure: a confident score displaces clinical judgement, most often with junior staff at night.</a:t>
            </a:r>
          </a:p>
          <a:p>
            <a:pPr/>
            <a:r>
              <a:t>Both are design problems, not user problems.</a:t>
            </a:r>
          </a:p>
          <a:p>
            <a:pPr/>
            <a:r>
              <a:t>Questions to settle before launch:</a:t>
            </a:r>
          </a:p>
          <a:p>
            <a:pPr lvl="1"/>
            <a:r>
              <a:t>Where does the output appear, and who is accountable for acting on it?</a:t>
            </a:r>
          </a:p>
          <a:p>
            <a:pPr lvl="1"/>
            <a:r>
              <a:t>What is the expected action, and how long should it take?</a:t>
            </a:r>
          </a:p>
          <a:p>
            <a:pPr lvl="1"/>
            <a:r>
              <a:t>What happens when it is wrong in each direction, and who notices?</a:t>
            </a:r>
          </a:p>
          <a:p>
            <a:pPr/>
            <a:r>
              <a:t>Measure the intervention, not the prediction. Alerts acted on, time to treatment, outcome.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You Deploy: A Checklist</a:t>
            </a:r>
          </a:p>
        </p:txBody>
      </p:sp>
      <p:sp>
        <p:nvSpPr>
          <p:cNvPr id="3" name="Text Placeholder 2"/>
          <p:cNvSpPr>
            <a:spLocks noGrp="1"/>
          </p:cNvSpPr>
          <p:nvPr>
            <p:ph type="body" idx="1"/>
          </p:nvPr>
        </p:nvSpPr>
        <p:spPr/>
        <p:txBody>
          <a:bodyPr/>
          <a:lstStyle/>
          <a:p>
            <a:r>
              <a:t>Evidence</a:t>
            </a:r>
          </a:p>
        </p:txBody>
      </p:sp>
      <p:sp>
        <p:nvSpPr>
          <p:cNvPr id="4" name="Content Placeholder 3"/>
          <p:cNvSpPr>
            <a:spLocks noGrp="1"/>
          </p:cNvSpPr>
          <p:nvPr>
            <p:ph idx="2" sz="half"/>
          </p:nvPr>
        </p:nvSpPr>
        <p:spPr/>
        <p:txBody>
          <a:bodyPr/>
          <a:lstStyle/>
          <a:p>
            <a:pPr/>
            <a:r>
              <a:t>External validation on your own population</a:t>
            </a:r>
          </a:p>
          <a:p>
            <a:pPr/>
            <a:r>
              <a:t>Calibration checked locally, not inherited</a:t>
            </a:r>
          </a:p>
          <a:p>
            <a:pPr/>
            <a:r>
              <a:t>Performance reported by subgroup</a:t>
            </a:r>
          </a:p>
          <a:p>
            <a:pPr/>
            <a:r>
              <a:t>Prospective silent run completed</a:t>
            </a:r>
          </a:p>
          <a:p>
            <a:pPr/>
            <a:r>
              <a:t>Failure modes documented in both directions</a:t>
            </a:r>
          </a:p>
        </p:txBody>
      </p:sp>
      <p:sp>
        <p:nvSpPr>
          <p:cNvPr id="5" name="Text Placeholder 4"/>
          <p:cNvSpPr>
            <a:spLocks noGrp="1"/>
          </p:cNvSpPr>
          <p:nvPr>
            <p:ph type="body" idx="3" sz="quarter"/>
          </p:nvPr>
        </p:nvSpPr>
        <p:spPr/>
        <p:txBody>
          <a:bodyPr/>
          <a:lstStyle/>
          <a:p>
            <a:r>
              <a:t>Operations</a:t>
            </a:r>
          </a:p>
        </p:txBody>
      </p:sp>
      <p:sp>
        <p:nvSpPr>
          <p:cNvPr id="6" name="Content Placeholder 5"/>
          <p:cNvSpPr>
            <a:spLocks noGrp="1"/>
          </p:cNvSpPr>
          <p:nvPr>
            <p:ph idx="4" sz="quarter"/>
          </p:nvPr>
        </p:nvSpPr>
        <p:spPr/>
        <p:txBody>
          <a:bodyPr/>
          <a:lstStyle/>
          <a:p>
            <a:pPr/>
            <a:r>
              <a:t>A named clinical owner</a:t>
            </a:r>
          </a:p>
          <a:p>
            <a:pPr/>
            <a:r>
              <a:t>A defined action for each output</a:t>
            </a:r>
          </a:p>
          <a:p>
            <a:pPr/>
            <a:r>
              <a:t>Monitoring for drift and for alert burden</a:t>
            </a:r>
          </a:p>
          <a:p>
            <a:pPr/>
            <a:r>
              <a:t>A route to switch it off, and someone empowered to use it</a:t>
            </a:r>
          </a:p>
          <a:p>
            <a:pPr/>
            <a:r>
              <a:t>Privacy and information governance review</a:t>
            </a:r>
          </a:p>
          <a:p>
            <a:pPr/>
            <a:r>
              <a:t>A documented decision on regulatory status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F2B5E-1351-C0C8-3453-F9AF0F4E4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84372-295F-5704-6699-C0FD644FA2CA}"/>
              </a:ext>
            </a:extLst>
          </p:cNvPr>
          <p:cNvSpPr>
            <a:spLocks noGrp="1"/>
          </p:cNvSpPr>
          <p:nvPr>
            <p:ph type="title"/>
          </p:nvPr>
        </p:nvSpPr>
        <p:spPr/>
        <p:txBody>
          <a:bodyPr>
            <a:normAutofit/>
          </a:bodyPr>
          <a:lstStyle/>
          <a:p>
            <a:r>
              <a:rPr lang="en-US" sz="3100" b="1" dirty="0">
                <a:solidFill>
                  <a:schemeClr val="bg1"/>
                </a:solidFill>
                <a:cs typeface="Poppins" pitchFamily="2" charset="77"/>
              </a:rPr>
              <a:t>Change Management</a:t>
            </a:r>
          </a:p>
        </p:txBody>
      </p:sp>
      <p:sp>
        <p:nvSpPr>
          <p:cNvPr id="3" name="Content Placeholder 2">
            <a:extLst>
              <a:ext uri="{FF2B5EF4-FFF2-40B4-BE49-F238E27FC236}">
                <a16:creationId xmlns:a16="http://schemas.microsoft.com/office/drawing/2014/main" id="{A0F5C227-D85E-1F73-B061-F66445A0709A}"/>
              </a:ext>
            </a:extLst>
          </p:cNvPr>
          <p:cNvSpPr>
            <a:spLocks noGrp="1"/>
          </p:cNvSpPr>
          <p:nvPr>
            <p:ph idx="1"/>
          </p:nvPr>
        </p:nvSpPr>
        <p:spPr/>
        <p:txBody>
          <a:bodyPr/>
          <a:lstStyle/>
          <a:p>
            <a:r>
              <a:rPr lang="en-US" dirty="0"/>
              <a:t>Identify areas to demonstrate value</a:t>
            </a:r>
          </a:p>
          <a:p>
            <a:r>
              <a:rPr lang="en-US" dirty="0"/>
              <a:t>Prove safety and effectiveness</a:t>
            </a:r>
          </a:p>
          <a:p>
            <a:r>
              <a:rPr lang="en-US" dirty="0"/>
              <a:t>Close monitoring, human in the loop</a:t>
            </a:r>
          </a:p>
          <a:p>
            <a:r>
              <a:rPr lang="en-US" dirty="0"/>
              <a:t>Gradual increase in capability</a:t>
            </a:r>
          </a:p>
          <a:p>
            <a:r>
              <a:rPr lang="en-US" dirty="0"/>
              <a:t>Increase user productivity</a:t>
            </a:r>
          </a:p>
          <a:p>
            <a:r>
              <a:rPr lang="en-US" dirty="0"/>
              <a:t>Support critical thinking</a:t>
            </a:r>
          </a:p>
        </p:txBody>
      </p:sp>
    </p:spTree>
    <p:extLst>
      <p:ext uri="{BB962C8B-B14F-4D97-AF65-F5344CB8AC3E}">
        <p14:creationId xmlns:p14="http://schemas.microsoft.com/office/powerpoint/2010/main" val="2638724945"/>
      </p:ext>
    </p:extLst>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to Go Next</a:t>
            </a:r>
          </a:p>
        </p:txBody>
      </p:sp>
      <p:sp>
        <p:nvSpPr>
          <p:cNvPr id="3" name="Content Placeholder 2"/>
          <p:cNvSpPr>
            <a:spLocks noGrp="1"/>
          </p:cNvSpPr>
          <p:nvPr>
            <p:ph idx="1"/>
          </p:nvPr>
        </p:nvSpPr>
        <p:spPr/>
        <p:txBody>
          <a:bodyPr/>
          <a:lstStyle/>
          <a:p>
            <a:pPr/>
            <a:r>
              <a:t>The notebooks accompanying this series cover every model we discussed, with runnable code and simulated clinical data.</a:t>
            </a:r>
          </a:p>
          <a:p>
            <a:pPr/>
            <a:r>
              <a:t>Start with a problem where you already hold the data and there is a clear decision that could change.</a:t>
            </a:r>
          </a:p>
          <a:p>
            <a:pPr/>
            <a:r>
              <a:t>Prove value in a silent run before anyone relies on the output.</a:t>
            </a:r>
          </a:p>
          <a:p>
            <a:pPr/>
            <a:r>
              <a:t>Build the monitoring before the model, not after it.</a:t>
            </a:r>
          </a:p>
          <a:p>
            <a:pPr/>
            <a:r>
              <a:t>Worth reading:</a:t>
            </a:r>
          </a:p>
          <a:p>
            <a:pPr/>
            <a:r>
              <a:t>TRIPOD+AI (2024), for what a clinical prediction model should report</a:t>
            </a:r>
          </a:p>
          <a:p>
            <a:pPr/>
            <a:r>
              <a:t>Obermeyer et al., Science 2019, on how a proxy label encodes inequity</a:t>
            </a:r>
          </a:p>
          <a:p>
            <a:pPr/>
            <a:r>
              <a:t>Your own institution's AI governance policy, which probably exists and is probably unread</a:t>
            </a:r>
          </a:p>
          <a:p>
            <a:pPr/>
            <a:r>
              <a:t>Session 4 takes the next step: what changes when a model stops predicting and starts acting.</a:t>
            </a:r>
          </a:p>
          <a:p>
            <a:pPr/>
            <a:r>
              <a:t>The hardest part is rarely the model.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B3853-A13B-5F68-7A48-F3F670DA079F}"/>
              </a:ext>
            </a:extLst>
          </p:cNvPr>
          <p:cNvSpPr>
            <a:spLocks noGrp="1"/>
          </p:cNvSpPr>
          <p:nvPr>
            <p:ph type="title"/>
          </p:nvPr>
        </p:nvSpPr>
        <p:spPr/>
        <p:txBody>
          <a:bodyPr/>
          <a:lstStyle/>
          <a:p>
            <a:r>
              <a:rPr lang="en-US" sz="3200" b="1" dirty="0"/>
              <a:t>Questions?</a:t>
            </a:r>
          </a:p>
        </p:txBody>
      </p:sp>
      <p:pic>
        <p:nvPicPr>
          <p:cNvPr id="3" name="Picture 2">
            <a:extLst>
              <a:ext uri="{FF2B5EF4-FFF2-40B4-BE49-F238E27FC236}">
                <a16:creationId xmlns:a16="http://schemas.microsoft.com/office/drawing/2014/main" id="{0AD34D1E-A83B-4094-141E-C3D13FA3927C}"/>
              </a:ext>
            </a:extLst>
          </p:cNvPr>
          <p:cNvPicPr>
            <a:picLocks noChangeAspect="1"/>
          </p:cNvPicPr>
          <p:nvPr/>
        </p:nvPicPr>
        <p:blipFill>
          <a:blip r:embed="rId2"/>
          <a:stretch>
            <a:fillRect/>
          </a:stretch>
        </p:blipFill>
        <p:spPr>
          <a:xfrm>
            <a:off x="5153919" y="759103"/>
            <a:ext cx="5117422" cy="5330650"/>
          </a:xfrm>
          <a:prstGeom prst="rect">
            <a:avLst/>
          </a:prstGeom>
        </p:spPr>
      </p:pic>
    </p:spTree>
    <p:extLst>
      <p:ext uri="{BB962C8B-B14F-4D97-AF65-F5344CB8AC3E}">
        <p14:creationId xmlns:p14="http://schemas.microsoft.com/office/powerpoint/2010/main" val="477962660"/>
      </p:ext>
    </p:extLst>
  </p:cSld>
  <p:clrMapOvr>
    <a:masterClrMapping/>
  </p:clrMapOvr>
</p:sld>
</file>

<file path=ppt/theme/theme1.xml><?xml version="1.0" encoding="utf-8"?>
<a:theme xmlns:a="http://schemas.openxmlformats.org/drawingml/2006/main" name="Healthcare Neutral">
  <a:themeElements>
    <a:clrScheme name="Healthcare Neutral">
      <a:dk1>
        <a:srgbClr val="1A1D1F"/>
      </a:dk1>
      <a:lt1>
        <a:srgbClr val="FFFFFF"/>
      </a:lt1>
      <a:dk2>
        <a:srgbClr val="3B4650"/>
      </a:dk2>
      <a:lt2>
        <a:srgbClr val="EDF1F2"/>
      </a:lt2>
      <a:accent1>
        <a:srgbClr val="2E6E80"/>
      </a:accent1>
      <a:accent2>
        <a:srgbClr val="C0603C"/>
      </a:accent2>
      <a:accent3>
        <a:srgbClr val="5C8A6B"/>
      </a:accent3>
      <a:accent4>
        <a:srgbClr val="86739E"/>
      </a:accent4>
      <a:accent5>
        <a:srgbClr val="D2A044"/>
      </a:accent5>
      <a:accent6>
        <a:srgbClr val="6C7A85"/>
      </a:accent6>
      <a:hlink>
        <a:srgbClr val="2E6E80"/>
      </a:hlink>
      <a:folHlink>
        <a:srgbClr val="6C5B87"/>
      </a:folHlink>
    </a:clrScheme>
    <a:fontScheme name="Healthcare Neutral">
      <a:majorFont>
        <a:latin typeface="Calibri Light"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13110</TotalTime>
  <Words>3138</Words>
  <Application>Microsoft Macintosh PowerPoint</Application>
  <PresentationFormat>Widescreen</PresentationFormat>
  <Paragraphs>609</Paragraphs>
  <Slides>96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96</vt:i4>
      </vt:variant>
    </vt:vector>
  </HeadingPairs>
  <TitlesOfParts>
    <vt:vector size="104" baseType="lpstr">
      <vt:lpstr>Aptos</vt:lpstr>
      <vt:lpstr>Arial</vt:lpstr>
      <vt:lpstr>Corbel</vt:lpstr>
      <vt:lpstr>Courier New</vt:lpstr>
      <vt:lpstr>Poppins</vt:lpstr>
      <vt:lpstr>Poppins Medium</vt:lpstr>
      <vt:lpstr>Wingdings 2</vt:lpstr>
      <vt:lpstr>Frame</vt:lpstr>
      <vt:lpstr>PowerPoint Presentation</vt:lpstr>
      <vt:lpstr>Overview of AI and Related Technologies</vt:lpstr>
      <vt:lpstr>Goal</vt:lpstr>
      <vt:lpstr>PowerPoint Presentation</vt:lpstr>
      <vt:lpstr>PowerPoint Presentation</vt:lpstr>
      <vt:lpstr>PowerPoint Presentation</vt:lpstr>
      <vt:lpstr>PowerPoint Presentation</vt:lpstr>
      <vt:lpstr>Traditional Information Technology</vt:lpstr>
      <vt:lpstr>PowerPoint Presentation</vt:lpstr>
      <vt:lpstr>PowerPoint Presentation</vt:lpstr>
      <vt:lpstr>PowerPoint Presentation</vt:lpstr>
      <vt:lpstr>Limits of Traditional Information Technology</vt:lpstr>
      <vt:lpstr>PowerPoint Presentation</vt:lpstr>
      <vt:lpstr>Foundations of Machine Learning</vt:lpstr>
      <vt:lpstr>Data – Common Crawl  https://commoncrawl.org/ </vt:lpstr>
      <vt:lpstr>Compute – Graphical Processing Unit (GPU) </vt:lpstr>
      <vt:lpstr>Foundations of Machine Learning – ex. Large Language Model</vt:lpstr>
      <vt:lpstr>PowerPoint Presentation</vt:lpstr>
      <vt:lpstr>PowerPoint Presentation</vt:lpstr>
      <vt:lpstr>PowerPoint Presentation</vt:lpstr>
      <vt:lpstr>PowerPoint Presentation</vt:lpstr>
      <vt:lpstr>PowerPoint Presentation</vt:lpstr>
      <vt:lpstr>Training</vt:lpstr>
      <vt:lpstr>Optimization – Reduce  the Loss</vt:lpstr>
      <vt:lpstr>Complex Cost Functions</vt:lpstr>
      <vt:lpstr>PowerPoint Presentation</vt:lpstr>
      <vt:lpstr>PowerPoint Presentation</vt:lpstr>
      <vt:lpstr>PowerPoint Presentation</vt:lpstr>
      <vt:lpstr>Deep Learning</vt:lpstr>
      <vt:lpstr>PowerPoint Presentation</vt:lpstr>
      <vt:lpstr>PowerPoint Presentation</vt:lpstr>
      <vt:lpstr>Types of Machine Learning</vt:lpstr>
      <vt:lpstr>Linear Regression</vt:lpstr>
      <vt:lpstr>PowerPoint Presentation</vt:lpstr>
      <vt:lpstr>PowerPoint Presentation</vt:lpstr>
      <vt:lpstr>PowerPoint Presentation</vt:lpstr>
      <vt:lpstr>Random Forest  (of Decision Trees)</vt:lpstr>
      <vt:lpstr>Gradient Boosting</vt:lpstr>
      <vt:lpstr>PowerPoint Presentation</vt:lpstr>
      <vt:lpstr>Improvement in Accuracy</vt:lpstr>
      <vt:lpstr>K-Nearest Neighbours (KNN)</vt:lpstr>
      <vt:lpstr>Support Vector Machines (SVM)</vt:lpstr>
      <vt:lpstr>Principal Component Analysis</vt:lpstr>
      <vt:lpstr>Questions?</vt:lpstr>
      <vt:lpstr>PowerPoint Presentation</vt:lpstr>
      <vt:lpstr>PowerPoint Presentation</vt:lpstr>
      <vt:lpstr>PowerPoint Presentation</vt:lpstr>
      <vt:lpstr>PowerPoint Presentation</vt:lpstr>
      <vt:lpstr>Overfitting vs Underfitting</vt:lpstr>
      <vt:lpstr>Regularization</vt:lpstr>
      <vt:lpstr>Quality Data</vt:lpstr>
      <vt:lpstr>Data Availability</vt:lpstr>
      <vt:lpstr>Data Pipelines</vt:lpstr>
      <vt:lpstr>PowerPoint Presentation</vt:lpstr>
      <vt:lpstr>Analytic Data Model</vt:lpstr>
      <vt:lpstr>Entity  and Event Profiles</vt:lpstr>
      <vt:lpstr>Precision and Recall</vt:lpstr>
      <vt:lpstr>Precision  vs Recall Trade-off</vt:lpstr>
      <vt:lpstr>PowerPoint Presentation</vt:lpstr>
      <vt:lpstr>PowerPoint Presentation</vt:lpstr>
      <vt:lpstr>PowerPoint Presentation</vt:lpstr>
      <vt:lpstr>Bias (inaccuracy)</vt:lpstr>
      <vt:lpstr>Variance</vt:lpstr>
      <vt:lpstr>Bias vs Variance Tradeoff for Optimal Performance</vt:lpstr>
      <vt:lpstr>Drift</vt:lpstr>
      <vt:lpstr>AIS (Automatic Identification System)</vt:lpstr>
      <vt:lpstr>Classical Machine Learning  - Extreme Gradient Boosting</vt:lpstr>
      <vt:lpstr>Deep Learning</vt:lpstr>
      <vt:lpstr>Explainability</vt:lpstr>
      <vt:lpstr>PowerPoint Presentation</vt:lpstr>
      <vt:lpstr>Convolutional Neural Networks (CNN)</vt:lpstr>
      <vt:lpstr>Convolutional Neural Networks (CNN)</vt:lpstr>
      <vt:lpstr>Recurrent Neural Networks (RNN)</vt:lpstr>
      <vt:lpstr>Long  Short-Term Memory Networks (LSTMs)</vt:lpstr>
      <vt:lpstr>Auto-Encoders</vt:lpstr>
      <vt:lpstr>Large Language Models</vt:lpstr>
      <vt:lpstr>PowerPoint Presentation</vt:lpstr>
      <vt:lpstr>PowerPoint Presentation</vt:lpstr>
      <vt:lpstr>Word Embeddings</vt:lpstr>
      <vt:lpstr>Simple Word Embedding</vt:lpstr>
      <vt:lpstr>PowerPoint Presentation</vt:lpstr>
      <vt:lpstr>PowerPoint Presentation</vt:lpstr>
      <vt:lpstr>LLM – Predicting the next most probable word (token)</vt:lpstr>
      <vt:lpstr>PowerPoint Presentation</vt:lpstr>
      <vt:lpstr>PowerPoint Presentation</vt:lpstr>
      <vt:lpstr>Self Attention</vt:lpstr>
      <vt:lpstr>Multiple Layers of Transformers</vt:lpstr>
      <vt:lpstr>Larger Models  are more accurate </vt:lpstr>
      <vt:lpstr>Deep Learning –  Faster Training using a GPU</vt:lpstr>
      <vt:lpstr>Gemma3 on  4 GPU node</vt:lpstr>
      <vt:lpstr>Customizing Responses</vt:lpstr>
      <vt:lpstr>Large Language Models</vt:lpstr>
      <vt:lpstr>Change Management</vt:lpstr>
      <vt:lpstr>Comparison of Classical Machine Learning and Deep Learning</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 for Healthcare — Session 3: Deep Learning and Generative AI</dc:title>
  <dc:creator>Randy Giffen</dc:creator>
  <cp:lastModifiedBy>Randy Giffen</cp:lastModifiedBy>
  <cp:revision>23</cp:revision>
  <dcterms:created xsi:type="dcterms:W3CDTF">2025-06-12T12:34:10Z</dcterms:created>
  <dcterms:modified xsi:type="dcterms:W3CDTF">2026-03-14T13:17:02Z</dcterms:modified>
  <dc:subject>Machine learning and AI for clinical and health-system professionals</dc:subject>
  <cp:keywords/>
  <cp:category/>
  <dc:description/>
</cp:coreProperties>
</file>
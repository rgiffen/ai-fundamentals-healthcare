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98"/>
  </p:notesMasterIdLst>
  <p:sldIdLst>
    <p:sldId id="922" r:id="rId47"/>
    <p:sldId id="924" r:id="rId103"/>
    <p:sldId id="331" r:id="rId35"/>
    <p:sldId id="332" r:id="rId36"/>
    <p:sldId id="344" r:id="rId37"/>
    <p:sldId id="333" r:id="rId38"/>
    <p:sldId id="330" r:id="rId39"/>
    <p:sldId id="329" r:id="rId40"/>
    <p:sldId id="326" r:id="rId41"/>
    <p:sldId id="310" r:id="rId68"/>
    <p:sldId id="328" r:id="rId42"/>
    <p:sldId id="327" r:id="rId43"/>
    <p:sldId id="325" r:id="rId44"/>
    <p:sldId id="320" r:id="rId52"/>
    <p:sldId id="316" r:id="rId53"/>
    <p:sldId id="925" r:id="rId104"/>
    <p:sldId id="926" r:id="rId105"/>
    <p:sldId id="322" r:id="rId50"/>
    <p:sldId id="321" r:id="rId51"/>
    <p:sldId id="349" r:id="rId63"/>
    <p:sldId id="355" r:id="rId64"/>
    <p:sldId id="356" r:id="rId65"/>
    <p:sldId id="352" r:id="rId60"/>
    <p:sldId id="353" r:id="rId61"/>
    <p:sldId id="354" r:id="rId62"/>
    <p:sldId id="314" r:id="rId58"/>
    <p:sldId id="313" r:id="rId59"/>
    <p:sldId id="927" r:id="rId106"/>
    <p:sldId id="928" r:id="rId107"/>
    <p:sldId id="929" r:id="rId108"/>
    <p:sldId id="930" r:id="rId109"/>
    <p:sldId id="931" r:id="rId110"/>
    <p:sldId id="921" r:id="rId9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8B4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04"/>
    <p:restoredTop sz="88844"/>
  </p:normalViewPr>
  <p:slideViewPr>
    <p:cSldViewPr snapToGrid="0">
      <p:cViewPr varScale="1">
        <p:scale>
          <a:sx n="113" d="100"/>
          <a:sy n="113" d="100"/>
        </p:scale>
        <p:origin x="952" y="176"/>
      </p:cViewPr>
      <p:guideLst>
        <p:guide orient="horz" pos="2160"/>
        <p:guide pos="3840"/>
      </p:guideLst>
    </p:cSldViewPr>
  </p:slideViewPr>
  <p:outlineViewPr>
    <p:cViewPr>
      <p:scale>
        <a:sx n="33" d="100"/>
        <a:sy n="33" d="100"/>
      </p:scale>
      <p:origin x="0" y="-728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5" Type="http://schemas.openxmlformats.org/officeDocument/2006/relationships/slide" Target="slides/slide3.xml"/><Relationship Id="rId36" Type="http://schemas.openxmlformats.org/officeDocument/2006/relationships/slide" Target="slides/slide4.xml"/><Relationship Id="rId37" Type="http://schemas.openxmlformats.org/officeDocument/2006/relationships/slide" Target="slides/slide5.xml"/><Relationship Id="rId38" Type="http://schemas.openxmlformats.org/officeDocument/2006/relationships/slide" Target="slides/slide6.xml"/><Relationship Id="rId39" Type="http://schemas.openxmlformats.org/officeDocument/2006/relationships/slide" Target="slides/slide7.xml"/><Relationship Id="rId40" Type="http://schemas.openxmlformats.org/officeDocument/2006/relationships/slide" Target="slides/slide8.xml"/><Relationship Id="rId41" Type="http://schemas.openxmlformats.org/officeDocument/2006/relationships/slide" Target="slides/slide9.xml"/><Relationship Id="rId42" Type="http://schemas.openxmlformats.org/officeDocument/2006/relationships/slide" Target="slides/slide11.xml"/><Relationship Id="rId43" Type="http://schemas.openxmlformats.org/officeDocument/2006/relationships/slide" Target="slides/slide12.xml"/><Relationship Id="rId44" Type="http://schemas.openxmlformats.org/officeDocument/2006/relationships/slide" Target="slides/slide13.xml"/><Relationship Id="rId47" Type="http://schemas.openxmlformats.org/officeDocument/2006/relationships/slide" Target="slides/slide1.xml"/><Relationship Id="rId50" Type="http://schemas.openxmlformats.org/officeDocument/2006/relationships/slide" Target="slides/slide18.xml"/><Relationship Id="rId51" Type="http://schemas.openxmlformats.org/officeDocument/2006/relationships/slide" Target="slides/slide19.xml"/><Relationship Id="rId52" Type="http://schemas.openxmlformats.org/officeDocument/2006/relationships/slide" Target="slides/slide14.xml"/><Relationship Id="rId53" Type="http://schemas.openxmlformats.org/officeDocument/2006/relationships/slide" Target="slides/slide15.xml"/><Relationship Id="rId58" Type="http://schemas.openxmlformats.org/officeDocument/2006/relationships/slide" Target="slides/slide26.xml"/><Relationship Id="rId59" Type="http://schemas.openxmlformats.org/officeDocument/2006/relationships/slide" Target="slides/slide27.xml"/><Relationship Id="rId60" Type="http://schemas.openxmlformats.org/officeDocument/2006/relationships/slide" Target="slides/slide23.xml"/><Relationship Id="rId61" Type="http://schemas.openxmlformats.org/officeDocument/2006/relationships/slide" Target="slides/slide24.xml"/><Relationship Id="rId62" Type="http://schemas.openxmlformats.org/officeDocument/2006/relationships/slide" Target="slides/slide25.xml"/><Relationship Id="rId63" Type="http://schemas.openxmlformats.org/officeDocument/2006/relationships/slide" Target="slides/slide20.xml"/><Relationship Id="rId64" Type="http://schemas.openxmlformats.org/officeDocument/2006/relationships/slide" Target="slides/slide21.xml"/><Relationship Id="rId65" Type="http://schemas.openxmlformats.org/officeDocument/2006/relationships/slide" Target="slides/slide22.xml"/><Relationship Id="rId68" Type="http://schemas.openxmlformats.org/officeDocument/2006/relationships/slide" Target="slides/slide10.xml"/><Relationship Id="rId96" Type="http://schemas.openxmlformats.org/officeDocument/2006/relationships/slide" Target="slides/slide33.xml"/><Relationship Id="rId98" Type="http://schemas.openxmlformats.org/officeDocument/2006/relationships/notesMaster" Target="notesMasters/notesMaster1.xml"/><Relationship Id="rId99" Type="http://schemas.openxmlformats.org/officeDocument/2006/relationships/presProps" Target="presProps.xml"/><Relationship Id="rId100" Type="http://schemas.openxmlformats.org/officeDocument/2006/relationships/viewProps" Target="viewProps.xml"/><Relationship Id="rId101" Type="http://schemas.openxmlformats.org/officeDocument/2006/relationships/theme" Target="theme/theme1.xml"/><Relationship Id="rId102" Type="http://schemas.openxmlformats.org/officeDocument/2006/relationships/tableStyles" Target="tableStyles.xml"/><Relationship Id="rId103" Type="http://schemas.openxmlformats.org/officeDocument/2006/relationships/slide" Target="slides/slide2.xml"/><Relationship Id="rId104" Type="http://schemas.openxmlformats.org/officeDocument/2006/relationships/slide" Target="slides/slide16.xml"/><Relationship Id="rId105" Type="http://schemas.openxmlformats.org/officeDocument/2006/relationships/slide" Target="slides/slide17.xml"/><Relationship Id="rId106" Type="http://schemas.openxmlformats.org/officeDocument/2006/relationships/slide" Target="slides/slide28.xml"/><Relationship Id="rId107" Type="http://schemas.openxmlformats.org/officeDocument/2006/relationships/slide" Target="slides/slide29.xml"/><Relationship Id="rId108" Type="http://schemas.openxmlformats.org/officeDocument/2006/relationships/slide" Target="slides/slide30.xml"/><Relationship Id="rId109" Type="http://schemas.openxmlformats.org/officeDocument/2006/relationships/slide" Target="slides/slide31.xml"/><Relationship Id="rId110"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7F7983-855A-2240-A9BF-6235A2B9A807}" type="datetimeFigureOut">
              <a:rPr lang="en-US" smtClean="0"/>
              <a:t>3/11/26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578B63-BA6E-F541-BDDE-F9290717A250}" type="slidenum">
              <a:rPr lang="en-US" smtClean="0"/>
              <a:t>‹#›</a:t>
            </a:fld>
            <a:endParaRPr lang="en-US"/>
          </a:p>
        </p:txBody>
      </p:sp>
    </p:spTree>
    <p:extLst>
      <p:ext uri="{BB962C8B-B14F-4D97-AF65-F5344CB8AC3E}">
        <p14:creationId xmlns:p14="http://schemas.microsoft.com/office/powerpoint/2010/main" val="3919137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clinicians tend to find most obviously true and that data scientists most often get wrong. Use that.</a:t>
            </a:r>
          </a:p>
          <a:p/>
          <a:p>
            <a:r>
              <a:t>The reversal at the end matters: a model that learns 'lots of tests means sick' breaks the moment it meets a unit with a different ordering culture. That is a site-transfer failure, and it connects to the external validation slide coming up.</a:t>
            </a:r>
          </a:p>
          <a:p/>
          <a:p>
            <a:r>
              <a:t>About 4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common reason a clinical model looks brilliant in development and useless in practice. Worth slowing down for.</a:t>
            </a:r>
          </a:p>
          <a:p/>
          <a:p>
            <a:r>
              <a:t>Good question for the room: what would leak in your own data? Someone usually names something specific to their service, and that lands better than the sepsis example.</a:t>
            </a:r>
          </a:p>
          <a:p/>
          <a:p>
            <a:r>
              <a:t>About 5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seconds, no more. The purpose is to orient anyone who missed the previous session, not to re-teach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578B63-BA6E-F541-BDDE-F9290717A250}" type="slidenum">
              <a:rPr lang="en-US" smtClean="0"/>
              <a:t>42</a:t>
            </a:fld>
            <a:endParaRPr lang="en-US"/>
          </a:p>
        </p:txBody>
      </p:sp>
    </p:spTree>
    <p:extLst>
      <p:ext uri="{BB962C8B-B14F-4D97-AF65-F5344CB8AC3E}">
        <p14:creationId xmlns:p14="http://schemas.microsoft.com/office/powerpoint/2010/main" val="40017450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578B63-BA6E-F541-BDDE-F9290717A250}" type="slidenum">
              <a:rPr lang="en-US" smtClean="0"/>
              <a:t>63</a:t>
            </a:fld>
            <a:endParaRPr lang="en-US"/>
          </a:p>
        </p:txBody>
      </p:sp>
    </p:spTree>
    <p:extLst>
      <p:ext uri="{BB962C8B-B14F-4D97-AF65-F5344CB8AC3E}">
        <p14:creationId xmlns:p14="http://schemas.microsoft.com/office/powerpoint/2010/main" val="27433739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C2A1D-3D4D-3C21-D8D3-0AF0B64FF1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96C7B3-2E2C-E682-8CD4-31180589DA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1B71D9-79EF-E761-05F3-6A593A9A88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AA15E6-9F54-86A3-B4CC-A81A2959D5BF}"/>
              </a:ext>
            </a:extLst>
          </p:cNvPr>
          <p:cNvSpPr>
            <a:spLocks noGrp="1"/>
          </p:cNvSpPr>
          <p:nvPr>
            <p:ph type="sldNum" sz="quarter" idx="5"/>
          </p:nvPr>
        </p:nvSpPr>
        <p:spPr/>
        <p:txBody>
          <a:bodyPr/>
          <a:lstStyle/>
          <a:p>
            <a:fld id="{0F578B63-BA6E-F541-BDDE-F9290717A250}" type="slidenum">
              <a:rPr lang="en-US" smtClean="0"/>
              <a:t>64</a:t>
            </a:fld>
            <a:endParaRPr lang="en-US"/>
          </a:p>
        </p:txBody>
      </p:sp>
    </p:spTree>
    <p:extLst>
      <p:ext uri="{BB962C8B-B14F-4D97-AF65-F5344CB8AC3E}">
        <p14:creationId xmlns:p14="http://schemas.microsoft.com/office/powerpoint/2010/main" val="80977132"/>
      </p:ext>
    </p:extLst>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audiences have heard of AUC and have never heard of calibration. That gap is the reason this slide exists.</a:t>
            </a:r>
          </a:p>
          <a:p/>
          <a:p>
            <a:r>
              <a:t>A concrete framing that works: a model that always says 5% when the true rate is 20% can still rank patients perfectly and win on AUC, while every number it reports is wrong. Nobody can set a threshold on it.</a:t>
            </a:r>
          </a:p>
          <a:p/>
          <a:p>
            <a:r>
              <a:t>About 5 minutes.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tiers are the spine of this session. If the audience remembers one slide, make it this one.</a:t>
            </a:r>
          </a:p>
          <a:p/>
          <a:p>
            <a:r>
              <a:t>The split-by-patient point is not a technicality. In our own notebook a disposition model scored 100% with a row-level split and 49% once we split by patient. Same data, same model, one honest number and one meaningless one.</a:t>
            </a:r>
          </a:p>
          <a:p/>
          <a:p>
            <a:r>
              <a:t>About 6 minutes.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this slowly and get the mechanism right, because the detail is what makes it persuasive: the algorithm was never given race. It used cost as a proxy for need, and the proxy carried the inequity.</a:t>
            </a:r>
          </a:p>
          <a:p/>
          <a:p>
            <a:r>
              <a:t>The transferable lesson is the last line. Cost, referral and coded diagnosis are all records of decisions somebody made, not measurements of a condition.</a:t>
            </a:r>
          </a:p>
          <a:p/>
          <a:p>
            <a:r>
              <a:t>Expect this to generate discussion. Leave room for it. About 8 minutes.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 this without triumphalism. The point is not that a vendor was wrong, it is that local validation is not optional.</a:t>
            </a:r>
          </a:p>
          <a:p/>
          <a:p>
            <a:r>
              <a:t>Avoid quoting precise figures from memory. The shape of the finding is what matters: materially worse than advertised, high alert burden, already in wide use.</a:t>
            </a:r>
          </a:p>
          <a:p/>
          <a:p>
            <a:r>
              <a:t>If someone asks whether their own tool has been externally validated, that is the best possible outcome for this slide.</a:t>
            </a:r>
          </a:p>
          <a:p/>
          <a:p>
            <a:r>
              <a:t>About 5 minutes.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Again, do not read it. Ask what they will check differently on Monday.</a:t>
            </a:r>
          </a:p>
          <a:p/>
          <a:p>
            <a:r>
              <a:t>About 4 minutes.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3/11/26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3/11/26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3/11/26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3/11/26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3/11/26</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3/11/26</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3/11/26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3/11/26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3/11/26</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3/11/26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3/11/26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dirty="0"/>
              <a:t>Click to edit Master title style</a:t>
            </a:r>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b="0" i="0">
                <a:solidFill>
                  <a:schemeClr val="tx1">
                    <a:lumMod val="50000"/>
                    <a:lumOff val="50000"/>
                  </a:schemeClr>
                </a:solidFill>
                <a:latin typeface="Poppins" pitchFamily="2" charset="77"/>
              </a:defRPr>
            </a:lvl1pPr>
          </a:lstStyle>
          <a:p>
            <a:fld id="{5586B75A-687E-405C-8A0B-8D00578BA2C3}" type="datetimeFigureOut">
              <a:rPr lang="en-US" smtClean="0"/>
              <a:pPr/>
              <a:t>3/11/26</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b="0" i="0">
                <a:solidFill>
                  <a:schemeClr val="tx1">
                    <a:lumMod val="50000"/>
                    <a:lumOff val="50000"/>
                  </a:schemeClr>
                </a:solidFill>
                <a:latin typeface="Poppins" pitchFamily="2" charset="77"/>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0" i="0">
                <a:solidFill>
                  <a:schemeClr val="accent1"/>
                </a:solidFill>
                <a:latin typeface="Poppins" pitchFamily="2" charset="77"/>
              </a:defRPr>
            </a:lvl1pPr>
          </a:lstStyle>
          <a:p>
            <a:fld id="{4FAB73BC-B049-4115-A692-8D63A059BFB8}"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b="0" i="0" kern="1200" spc="-60" baseline="0">
          <a:solidFill>
            <a:srgbClr val="FFFFFF"/>
          </a:solidFill>
          <a:latin typeface="Poppins" pitchFamily="2" charset="77"/>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b="0" i="0" kern="1200">
          <a:solidFill>
            <a:schemeClr val="tx1">
              <a:lumMod val="65000"/>
              <a:lumOff val="35000"/>
            </a:schemeClr>
          </a:solidFill>
          <a:latin typeface="Poppins" pitchFamily="2" charset="77"/>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b="0" i="0" kern="1200">
          <a:solidFill>
            <a:schemeClr val="tx1">
              <a:lumMod val="65000"/>
              <a:lumOff val="35000"/>
            </a:schemeClr>
          </a:solidFill>
          <a:latin typeface="Poppins" pitchFamily="2" charset="77"/>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b="0" i="0" kern="1200">
          <a:solidFill>
            <a:schemeClr val="tx1">
              <a:lumMod val="65000"/>
              <a:lumOff val="35000"/>
            </a:schemeClr>
          </a:solidFill>
          <a:latin typeface="Poppins" pitchFamily="2" charset="77"/>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b="0" i="0" kern="1200">
          <a:solidFill>
            <a:schemeClr val="tx1">
              <a:lumMod val="65000"/>
              <a:lumOff val="35000"/>
            </a:schemeClr>
          </a:solidFill>
          <a:latin typeface="Poppins" pitchFamily="2" charset="77"/>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b="0" i="0" kern="1200">
          <a:solidFill>
            <a:schemeClr val="tx1">
              <a:lumMod val="65000"/>
              <a:lumOff val="35000"/>
            </a:schemeClr>
          </a:solidFill>
          <a:latin typeface="Poppins" pitchFamily="2" charset="77"/>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emf"/><Relationship Id="rId3" Type="http://schemas.openxmlformats.org/officeDocument/2006/relationships/image" Target="../media/image6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emf"/><Relationship Id="rId3" Type="http://schemas.openxmlformats.org/officeDocument/2006/relationships/image" Target="../media/image20.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emf"/><Relationship Id="rId3" Type="http://schemas.openxmlformats.org/officeDocument/2006/relationships/image" Target="../media/image29.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0.emf"/><Relationship Id="rId3" Type="http://schemas.openxmlformats.org/officeDocument/2006/relationships/image" Target="../media/image31.emf"/><Relationship Id="rId4" Type="http://schemas.openxmlformats.org/officeDocument/2006/relationships/image" Target="../media/image32.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emf"/><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9.png"/><Relationship Id="rId4" Type="http://schemas.openxmlformats.org/officeDocument/2006/relationships/image" Target="../media/image6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3.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43.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43.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emf"/><Relationship Id="rId3" Type="http://schemas.openxmlformats.org/officeDocument/2006/relationships/image" Target="../media/image4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emf"/><Relationship Id="rId3" Type="http://schemas.openxmlformats.org/officeDocument/2006/relationships/image" Target="../media/image4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3.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emf"/><Relationship Id="rId3" Type="http://schemas.openxmlformats.org/officeDocument/2006/relationships/image" Target="../media/image6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A402D-3175-34A6-16CE-99B2CA20D4CC}"/>
            </a:ext>
          </a:extLst>
        </p:cNvPr>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2E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172200"/>
            <a:ext cx="12192000" cy="457200"/>
          </a:xfrm>
          <a:prstGeom prst="rect">
            <a:avLst/>
          </a:prstGeom>
          <a:solidFill>
            <a:srgbClr val="3B46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57400"/>
            <a:ext cx="9997440" cy="2377440"/>
          </a:xfrm>
          <a:prstGeom prst="rect">
            <a:avLst/>
          </a:prstGeom>
          <a:noFill/>
        </p:spPr>
        <p:txBody>
          <a:bodyPr wrap="square" anchor="t">
            <a:spAutoFit/>
          </a:bodyPr>
          <a:lstStyle/>
          <a:p>
            <a:r>
              <a:rPr sz="4000" b="1">
                <a:solidFill>
                  <a:srgbClr val="FFFFFF"/>
                </a:solidFill>
                <a:latin typeface="Calibri Light"/>
              </a:rPr>
              <a:t>AI Fundamentals for Healthcare</a:t>
            </a:r>
          </a:p>
          <a:p>
            <a:pPr>
              <a:spcBef>
                <a:spcPts val="1400"/>
              </a:spcBef>
            </a:pPr>
            <a:r>
              <a:rPr sz="2100">
                <a:solidFill>
                  <a:srgbClr val="EDF1F2"/>
                </a:solidFill>
                <a:latin typeface="Calibri"/>
              </a:rPr>
              <a:t>Session 2 of 4 — Classical Machine Learning</a:t>
            </a:r>
          </a:p>
        </p:txBody>
      </p:sp>
      <p:sp>
        <p:nvSpPr>
          <p:cNvPr id="5" name="TextBox 4"/>
          <p:cNvSpPr txBox="1"/>
          <p:nvPr/>
        </p:nvSpPr>
        <p:spPr>
          <a:xfrm>
            <a:off x="822960" y="6263640"/>
            <a:ext cx="9265920" cy="457200"/>
          </a:xfrm>
          <a:prstGeom prst="rect">
            <a:avLst/>
          </a:prstGeom>
          <a:noFill/>
        </p:spPr>
        <p:txBody>
          <a:bodyPr wrap="square">
            <a:spAutoFit/>
          </a:bodyPr>
          <a:lstStyle/>
          <a:p>
            <a:r>
              <a:rPr sz="1200">
                <a:solidFill>
                  <a:srgbClr val="EDF1F2"/>
                </a:solidFill>
                <a:latin typeface="Calibri"/>
              </a:rPr>
              <a:t>January 16, 2026</a:t>
            </a:r>
          </a:p>
          <a:p>
            <a:r>
              <a:rPr sz="1200">
                <a:solidFill>
                  <a:srgbClr val="EDF1F2"/>
                </a:solidFill>
                <a:latin typeface="Calibri"/>
              </a:rPr>
              <a:t>Emera Innovation Exchange</a:t>
            </a:r>
          </a:p>
        </p:txBody>
      </p:sp>
      <p:sp>
        <p:nvSpPr>
          <p:cNvPr id="6" name="TextBox 5"/>
          <p:cNvSpPr txBox="1"/>
          <p:nvPr/>
        </p:nvSpPr>
        <p:spPr>
          <a:xfrm>
            <a:off x="9814560" y="6263640"/>
            <a:ext cx="1828800" cy="365760"/>
          </a:xfrm>
          <a:prstGeom prst="rect">
            <a:avLst/>
          </a:prstGeom>
          <a:noFill/>
        </p:spPr>
        <p:txBody>
          <a:bodyPr wrap="none">
            <a:spAutoFit/>
          </a:bodyPr>
          <a:lstStyle/>
          <a:p>
            <a:pPr algn="r"/>
            <a:r>
              <a:rPr sz="1200" b="1">
                <a:solidFill>
                  <a:srgbClr val="FFFFFF"/>
                </a:solidFill>
                <a:latin typeface="Calibri"/>
              </a:rPr>
              <a:t>cair.ca</a:t>
            </a:r>
          </a:p>
        </p:txBody>
      </p:sp>
    </p:spTree>
    <p:extLst>
      <p:ext uri="{BB962C8B-B14F-4D97-AF65-F5344CB8AC3E}">
        <p14:creationId xmlns:p14="http://schemas.microsoft.com/office/powerpoint/2010/main" val="66588711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We Got To</a:t>
            </a:r>
          </a:p>
        </p:txBody>
      </p:sp>
      <p:sp>
        <p:nvSpPr>
          <p:cNvPr id="3" name="Content Placeholder 2"/>
          <p:cNvSpPr>
            <a:spLocks noGrp="1"/>
          </p:cNvSpPr>
          <p:nvPr>
            <p:ph idx="1"/>
          </p:nvPr>
        </p:nvSpPr>
        <p:spPr/>
        <p:txBody>
          <a:bodyPr/>
          <a:lstStyle/>
          <a:p>
            <a:pPr/>
            <a:r>
              <a:t>Last session we covered what a model is and how training works.</a:t>
            </a:r>
          </a:p>
          <a:p>
            <a:pPr/>
          </a:p>
          <a:p>
            <a:pPr/>
            <a:r>
              <a:t>This session is about the models themselves, and about the harder question underneath them:</a:t>
            </a:r>
          </a:p>
          <a:p>
            <a:pPr lvl="1"/>
            <a:r>
              <a:t>Which model family suits which clinical problem</a:t>
            </a:r>
          </a:p>
          <a:p>
            <a:pPr lvl="1"/>
            <a:r>
              <a:t>What the data has to look like before any of it works</a:t>
            </a:r>
          </a:p>
          <a:p>
            <a:pPr lvl="1"/>
            <a:r>
              <a:t>How you tell a model that works from one that only looks like it works</a:t>
            </a:r>
          </a:p>
          <a:p>
            <a:pPr/>
          </a:p>
          <a:p>
            <a:pPr/>
            <a:r>
              <a:t>That last point is where most clinical AI projects fail, and it gets most of our time today.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EBED72-91BF-91DD-A962-E3283F06EA53}"/>
              </a:ext>
            </a:extLst>
          </p:cNvPr>
          <p:cNvSpPr/>
          <p:nvPr/>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5465336-1EB5-B10A-80B8-B42FD964CFB3}"/>
              </a:ext>
            </a:extLst>
          </p:cNvPr>
          <p:cNvSpPr txBox="1"/>
          <p:nvPr/>
        </p:nvSpPr>
        <p:spPr>
          <a:xfrm>
            <a:off x="3888049" y="230822"/>
            <a:ext cx="4357593" cy="584775"/>
          </a:xfrm>
          <a:prstGeom prst="rect">
            <a:avLst/>
          </a:prstGeom>
          <a:noFill/>
        </p:spPr>
        <p:txBody>
          <a:bodyPr wrap="square" rtlCol="0">
            <a:spAutoFit/>
          </a:bodyPr>
          <a:lstStyle/>
          <a:p>
            <a:r>
              <a:rPr lang="en-US" sz="1600" dirty="0">
                <a:solidFill>
                  <a:schemeClr val="bg1"/>
                </a:solidFill>
                <a:latin typeface="Poppins" pitchFamily="2" charset="77"/>
                <a:cs typeface="Poppins" pitchFamily="2" charset="77"/>
              </a:rPr>
              <a:t>Sepsis Triage Decision Tree</a:t>
            </a:r>
          </a:p>
          <a:p>
            <a:r>
              <a:rPr lang="en-US" sz="1600" dirty="0">
                <a:solidFill>
                  <a:schemeClr val="bg1"/>
                </a:solidFill>
                <a:latin typeface="Poppins" pitchFamily="2" charset="77"/>
                <a:cs typeface="Poppins" pitchFamily="2" charset="77"/>
              </a:rPr>
              <a:t>How AI Makes Clinical Triage Decisions</a:t>
            </a:r>
          </a:p>
        </p:txBody>
      </p:sp>
      <p:sp>
        <p:nvSpPr>
          <p:cNvPr id="11" name="TextBox 10">
            <a:extLst>
              <a:ext uri="{FF2B5EF4-FFF2-40B4-BE49-F238E27FC236}">
                <a16:creationId xmlns:a16="http://schemas.microsoft.com/office/drawing/2014/main" id="{6396F64C-8B50-6C8A-AD7B-CDA76CCC889D}"/>
              </a:ext>
            </a:extLst>
          </p:cNvPr>
          <p:cNvSpPr txBox="1"/>
          <p:nvPr/>
        </p:nvSpPr>
        <p:spPr>
          <a:xfrm>
            <a:off x="238538" y="262392"/>
            <a:ext cx="3675735" cy="646331"/>
          </a:xfrm>
          <a:prstGeom prst="rect">
            <a:avLst/>
          </a:prstGeom>
          <a:noFill/>
        </p:spPr>
        <p:txBody>
          <a:bodyPr wrap="square" rtlCol="0">
            <a:spAutoFit/>
          </a:bodyPr>
          <a:lstStyle/>
          <a:p>
            <a:r>
              <a:rPr lang="en-US" sz="3600" b="1" dirty="0">
                <a:solidFill>
                  <a:schemeClr val="bg1"/>
                </a:solidFill>
                <a:latin typeface="Poppins" pitchFamily="2" charset="77"/>
                <a:cs typeface="Poppins" pitchFamily="2" charset="77"/>
              </a:rPr>
              <a:t>Decision Trees</a:t>
            </a:r>
          </a:p>
        </p:txBody>
      </p:sp>
      <p:pic>
        <p:nvPicPr>
          <p:cNvPr id="13" name="Picture 12" descr="slide34_triage_tree.png"/>
          <p:cNvPicPr>
            <a:picLocks noChangeAspect="1"/>
          </p:cNvPicPr>
          <p:nvPr/>
        </p:nvPicPr>
        <p:blipFill>
          <a:blip r:embed="rId3"/>
          <a:stretch>
            <a:fillRect/>
          </a:stretch>
        </p:blipFill>
        <p:spPr>
          <a:xfrm>
            <a:off x="2061724" y="1106954"/>
            <a:ext cx="8068553" cy="5317910"/>
          </a:xfrm>
          <a:prstGeom prst="rect">
            <a:avLst/>
          </a:prstGeom>
        </p:spPr>
      </p:pic>
    </p:spTree>
    <p:extLst>
      <p:ext uri="{BB962C8B-B14F-4D97-AF65-F5344CB8AC3E}">
        <p14:creationId xmlns:p14="http://schemas.microsoft.com/office/powerpoint/2010/main" val="3964373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8DD1E08-89AE-3CC3-AD9A-260566B37962}"/>
              </a:ext>
            </a:extLst>
          </p:cNvPr>
          <p:cNvPicPr>
            <a:picLocks noChangeAspect="1"/>
          </p:cNvPicPr>
          <p:nvPr/>
        </p:nvPicPr>
        <p:blipFill>
          <a:blip r:embed="rId2"/>
          <a:stretch>
            <a:fillRect/>
          </a:stretch>
        </p:blipFill>
        <p:spPr>
          <a:xfrm>
            <a:off x="1267395" y="1289602"/>
            <a:ext cx="8258248" cy="5054048"/>
          </a:xfrm>
          <a:prstGeom prst="rect">
            <a:avLst/>
          </a:prstGeom>
        </p:spPr>
      </p:pic>
      <p:pic>
        <p:nvPicPr>
          <p:cNvPr id="2" name="Picture 1">
            <a:extLst>
              <a:ext uri="{FF2B5EF4-FFF2-40B4-BE49-F238E27FC236}">
                <a16:creationId xmlns:a16="http://schemas.microsoft.com/office/drawing/2014/main" id="{6E50110B-ADFE-D266-8098-B3EB10A598C1}"/>
              </a:ext>
            </a:extLst>
          </p:cNvPr>
          <p:cNvPicPr>
            <a:picLocks noChangeAspect="1"/>
          </p:cNvPicPr>
          <p:nvPr/>
        </p:nvPicPr>
        <p:blipFill>
          <a:blip r:embed="rId3"/>
          <a:stretch>
            <a:fillRect/>
          </a:stretch>
        </p:blipFill>
        <p:spPr>
          <a:xfrm>
            <a:off x="0" y="0"/>
            <a:ext cx="9309047" cy="971550"/>
          </a:xfrm>
          <a:prstGeom prst="rect">
            <a:avLst/>
          </a:prstGeom>
        </p:spPr>
      </p:pic>
      <p:sp>
        <p:nvSpPr>
          <p:cNvPr id="3" name="TextBox 2">
            <a:extLst>
              <a:ext uri="{FF2B5EF4-FFF2-40B4-BE49-F238E27FC236}">
                <a16:creationId xmlns:a16="http://schemas.microsoft.com/office/drawing/2014/main" id="{B0B46A68-DC71-E981-AC3C-84D440AEF05A}"/>
              </a:ext>
            </a:extLst>
          </p:cNvPr>
          <p:cNvSpPr txBox="1"/>
          <p:nvPr/>
        </p:nvSpPr>
        <p:spPr>
          <a:xfrm>
            <a:off x="246492" y="318052"/>
            <a:ext cx="7609398" cy="338554"/>
          </a:xfrm>
          <a:prstGeom prst="rect">
            <a:avLst/>
          </a:prstGeom>
          <a:noFill/>
        </p:spPr>
        <p:txBody>
          <a:bodyPr wrap="square" rtlCol="0">
            <a:spAutoFit/>
          </a:bodyPr>
          <a:lstStyle/>
          <a:p>
            <a:r>
              <a:rPr lang="en-US" sz="1600" b="1" dirty="0">
                <a:solidFill>
                  <a:schemeClr val="bg1"/>
                </a:solidFill>
                <a:latin typeface="Poppins" pitchFamily="2" charset="77"/>
                <a:cs typeface="Poppins" pitchFamily="2" charset="77"/>
              </a:rPr>
              <a:t>Decision Trees: </a:t>
            </a:r>
            <a:r>
              <a:rPr lang="en-US" sz="1600" dirty="0">
                <a:solidFill>
                  <a:schemeClr val="bg1"/>
                </a:solidFill>
                <a:latin typeface="Poppins" pitchFamily="2" charset="77"/>
                <a:cs typeface="Poppins" pitchFamily="2" charset="77"/>
              </a:rPr>
              <a:t>Classification</a:t>
            </a:r>
          </a:p>
        </p:txBody>
      </p:sp>
      <p:sp>
        <p:nvSpPr>
          <p:cNvPr id="4" name="TextBox 3">
            <a:extLst>
              <a:ext uri="{FF2B5EF4-FFF2-40B4-BE49-F238E27FC236}">
                <a16:creationId xmlns:a16="http://schemas.microsoft.com/office/drawing/2014/main" id="{717D68C7-6A91-FFBD-666F-11909DF38C78}"/>
              </a:ext>
            </a:extLst>
          </p:cNvPr>
          <p:cNvSpPr txBox="1"/>
          <p:nvPr/>
        </p:nvSpPr>
        <p:spPr>
          <a:xfrm>
            <a:off x="8308938" y="1357884"/>
            <a:ext cx="3608529" cy="738664"/>
          </a:xfrm>
          <a:prstGeom prst="rect">
            <a:avLst/>
          </a:prstGeom>
          <a:noFill/>
        </p:spPr>
        <p:txBody>
          <a:bodyPr wrap="square" rtlCol="0">
            <a:spAutoFit/>
          </a:bodyPr>
          <a:lstStyle/>
          <a:p>
            <a:r>
              <a:rPr lang="en-US" sz="1400" kern="0" spc="-30" dirty="0">
                <a:solidFill>
                  <a:schemeClr val="accent1"/>
                </a:solidFill>
                <a:latin typeface="Poppins" pitchFamily="2" charset="77"/>
                <a:cs typeface="Poppins" pitchFamily="2" charset="77"/>
              </a:rPr>
              <a:t>Divide the training data</a:t>
            </a:r>
          </a:p>
          <a:p>
            <a:pPr marL="285750" indent="-285750">
              <a:buFont typeface="Arial" panose="020B0604020202020204" pitchFamily="34" charset="0"/>
              <a:buChar char="•"/>
            </a:pPr>
            <a:r>
              <a:rPr lang="en-US" sz="1400" kern="0" spc="-30" dirty="0">
                <a:solidFill>
                  <a:schemeClr val="accent1"/>
                </a:solidFill>
                <a:latin typeface="Poppins" pitchFamily="2" charset="77"/>
                <a:cs typeface="Poppins" pitchFamily="2" charset="77"/>
              </a:rPr>
              <a:t>Condition that provides the best split  </a:t>
            </a:r>
          </a:p>
          <a:p>
            <a:pPr marL="285750" indent="-285750">
              <a:buFont typeface="Arial" panose="020B0604020202020204" pitchFamily="34" charset="0"/>
              <a:buChar char="•"/>
            </a:pPr>
            <a:r>
              <a:rPr lang="en-US" sz="1400" kern="0" spc="-30" dirty="0">
                <a:solidFill>
                  <a:schemeClr val="accent1"/>
                </a:solidFill>
                <a:latin typeface="Poppins" pitchFamily="2" charset="77"/>
                <a:cs typeface="Poppins" pitchFamily="2" charset="77"/>
              </a:rPr>
              <a:t>Continue until correctly divided</a:t>
            </a:r>
          </a:p>
        </p:txBody>
      </p:sp>
      <p:sp>
        <p:nvSpPr>
          <p:cNvPr id="5" name="TextBox 4">
            <a:extLst>
              <a:ext uri="{FF2B5EF4-FFF2-40B4-BE49-F238E27FC236}">
                <a16:creationId xmlns:a16="http://schemas.microsoft.com/office/drawing/2014/main" id="{86DD1337-4158-68E6-701A-83988552B809}"/>
              </a:ext>
            </a:extLst>
          </p:cNvPr>
          <p:cNvSpPr txBox="1"/>
          <p:nvPr/>
        </p:nvSpPr>
        <p:spPr>
          <a:xfrm>
            <a:off x="272358" y="1427335"/>
            <a:ext cx="3479835" cy="738664"/>
          </a:xfrm>
          <a:prstGeom prst="rect">
            <a:avLst/>
          </a:prstGeom>
          <a:noFill/>
        </p:spPr>
        <p:txBody>
          <a:bodyPr wrap="square" rtlCol="0">
            <a:spAutoFit/>
          </a:bodyPr>
          <a:lstStyle/>
          <a:p>
            <a:r>
              <a:rPr lang="en-US" sz="1400" kern="0" spc="-30" dirty="0">
                <a:solidFill>
                  <a:schemeClr val="accent1"/>
                </a:solidFill>
                <a:latin typeface="Poppins" pitchFamily="2" charset="77"/>
                <a:cs typeface="Poppins" pitchFamily="2" charset="77"/>
              </a:rPr>
              <a:t>Target: Low Risk, High Risk</a:t>
            </a:r>
            <a:r>
              <a:rPr lang="en-US" sz="1400" kern="0" spc="-30" dirty="0">
                <a:solidFill>
                  <a:srgbClr val="48B491"/>
                </a:solidFill>
                <a:latin typeface="Poppins" pitchFamily="2" charset="77"/>
                <a:cs typeface="Poppins" pitchFamily="2" charset="77"/>
              </a:rPr>
              <a:t/>
            </a:r>
            <a:r>
              <a:rPr lang="en-US" sz="1400" kern="0" spc="-30" dirty="0">
                <a:solidFill>
                  <a:schemeClr val="accent3"/>
                </a:solidFill>
                <a:latin typeface="Poppins" pitchFamily="2" charset="77"/>
                <a:cs typeface="Poppins" pitchFamily="2" charset="77"/>
              </a:rPr>
              <a:t/>
            </a:r>
            <a:r>
              <a:rPr lang="en-US" sz="1400" kern="0" spc="-30" dirty="0">
                <a:solidFill>
                  <a:srgbClr val="FF0000"/>
                </a:solidFill>
                <a:latin typeface="Poppins" pitchFamily="2" charset="77"/>
                <a:cs typeface="Poppins" pitchFamily="2" charset="77"/>
              </a:rPr>
              <a:t/>
            </a:r>
          </a:p>
          <a:p>
            <a:r>
              <a:rPr lang="en-US" sz="1400" kern="0" spc="-30" dirty="0">
                <a:solidFill>
                  <a:schemeClr val="accent1"/>
                </a:solidFill>
                <a:latin typeface="Poppins" pitchFamily="2" charset="77"/>
                <a:cs typeface="Poppins" pitchFamily="2" charset="77"/>
              </a:rPr>
              <a:t>Features: Lactate, Heart Rate, Resp Rate</a:t>
            </a:r>
            <a:r>
              <a:rPr lang="en-US" sz="1400" kern="0" spc="-30" dirty="0">
                <a:solidFill>
                  <a:srgbClr val="009EE2"/>
                </a:solidFill>
                <a:latin typeface="Poppins" pitchFamily="2" charset="77"/>
                <a:cs typeface="Poppins" pitchFamily="2" charset="77"/>
              </a:rPr>
              <a:t/>
            </a:r>
          </a:p>
          <a:p>
            <a:endParaRPr lang="en-US" sz="1400" kern="0" spc="-30" dirty="0">
              <a:solidFill>
                <a:srgbClr val="FF0000"/>
              </a:solidFill>
              <a:latin typeface="Poppins" pitchFamily="2" charset="77"/>
              <a:cs typeface="Poppins" pitchFamily="2" charset="77"/>
            </a:endParaRPr>
          </a:p>
        </p:txBody>
      </p:sp>
      <p:sp>
        <p:nvSpPr>
          <p:cNvPr id="7" name="TextBox 6">
            <a:extLst>
              <a:ext uri="{FF2B5EF4-FFF2-40B4-BE49-F238E27FC236}">
                <a16:creationId xmlns:a16="http://schemas.microsoft.com/office/drawing/2014/main" id="{D5E7E183-3A08-627F-75C4-F8735A7BC920}"/>
              </a:ext>
            </a:extLst>
          </p:cNvPr>
          <p:cNvSpPr txBox="1"/>
          <p:nvPr/>
        </p:nvSpPr>
        <p:spPr>
          <a:xfrm>
            <a:off x="4499481" y="1496384"/>
            <a:ext cx="1794076" cy="461665"/>
          </a:xfrm>
          <a:prstGeom prst="rect">
            <a:avLst/>
          </a:prstGeom>
          <a:noFill/>
        </p:spPr>
        <p:txBody>
          <a:bodyPr wrap="square" rtlCol="0">
            <a:spAutoFit/>
          </a:bodyPr>
          <a:lstStyle/>
          <a:p>
            <a:pPr algn="ctr"/>
            <a:r>
              <a:rPr lang="en-US" sz="1200" kern="0" spc="-30" dirty="0">
                <a:solidFill>
                  <a:srgbClr val="48B491"/>
                </a:solidFill>
                <a:latin typeface="Poppins" pitchFamily="2" charset="77"/>
                <a:cs typeface="Poppins" pitchFamily="2" charset="77"/>
              </a:rPr>
              <a:t>12</a:t>
            </a:r>
            <a:r>
              <a:rPr lang="en-US" sz="1200" kern="0" spc="-30" dirty="0">
                <a:solidFill>
                  <a:schemeClr val="accent1"/>
                </a:solidFill>
                <a:latin typeface="Poppins" pitchFamily="2" charset="77"/>
                <a:cs typeface="Poppins" pitchFamily="2" charset="77"/>
              </a:rPr>
              <a:t>, </a:t>
            </a:r>
            <a:r>
              <a:rPr lang="en-US" sz="1200" kern="0" spc="-30" dirty="0">
                <a:solidFill>
                  <a:srgbClr val="FF0000"/>
                </a:solidFill>
                <a:latin typeface="Poppins" pitchFamily="2" charset="77"/>
                <a:cs typeface="Poppins" pitchFamily="2" charset="77"/>
              </a:rPr>
              <a:t>8</a:t>
            </a:r>
          </a:p>
          <a:p>
            <a:pPr algn="ctr"/>
            <a:r>
              <a:rPr lang="en-US" sz="1200" kern="0" spc="-30" dirty="0">
                <a:solidFill>
                  <a:srgbClr val="00B0F0"/>
                </a:solidFill>
                <a:latin typeface="Poppins" pitchFamily="2" charset="77"/>
                <a:cs typeface="Poppins" pitchFamily="2" charset="77"/>
              </a:rPr>
              <a:t>Lactate &lt; 2.0</a:t>
            </a:r>
          </a:p>
        </p:txBody>
      </p:sp>
      <p:sp>
        <p:nvSpPr>
          <p:cNvPr id="8" name="TextBox 7">
            <a:extLst>
              <a:ext uri="{FF2B5EF4-FFF2-40B4-BE49-F238E27FC236}">
                <a16:creationId xmlns:a16="http://schemas.microsoft.com/office/drawing/2014/main" id="{E417CDCE-DF5A-EA5A-3AD4-5FCCF160FAE1}"/>
              </a:ext>
            </a:extLst>
          </p:cNvPr>
          <p:cNvSpPr txBox="1"/>
          <p:nvPr/>
        </p:nvSpPr>
        <p:spPr>
          <a:xfrm>
            <a:off x="2358164" y="2723300"/>
            <a:ext cx="1794076" cy="461665"/>
          </a:xfrm>
          <a:prstGeom prst="rect">
            <a:avLst/>
          </a:prstGeom>
          <a:noFill/>
        </p:spPr>
        <p:txBody>
          <a:bodyPr wrap="square" rtlCol="0">
            <a:spAutoFit/>
          </a:bodyPr>
          <a:lstStyle/>
          <a:p>
            <a:pPr algn="ctr"/>
            <a:r>
              <a:rPr lang="en-US" sz="1200" kern="0" spc="-30" dirty="0">
                <a:solidFill>
                  <a:srgbClr val="48B491"/>
                </a:solidFill>
                <a:latin typeface="Poppins" pitchFamily="2" charset="77"/>
                <a:cs typeface="Poppins" pitchFamily="2" charset="77"/>
              </a:rPr>
              <a:t>9</a:t>
            </a:r>
            <a:r>
              <a:rPr lang="en-US" sz="1200" kern="0" spc="-30" dirty="0">
                <a:solidFill>
                  <a:schemeClr val="accent1"/>
                </a:solidFill>
                <a:latin typeface="Poppins" pitchFamily="2" charset="77"/>
                <a:cs typeface="Poppins" pitchFamily="2" charset="77"/>
              </a:rPr>
              <a:t>, </a:t>
            </a:r>
            <a:r>
              <a:rPr lang="en-US" sz="1200" kern="0" spc="-30" dirty="0">
                <a:solidFill>
                  <a:srgbClr val="FF0000"/>
                </a:solidFill>
                <a:latin typeface="Poppins" pitchFamily="2" charset="77"/>
                <a:cs typeface="Poppins" pitchFamily="2" charset="77"/>
              </a:rPr>
              <a:t>2</a:t>
            </a:r>
          </a:p>
          <a:p>
            <a:pPr algn="ctr"/>
            <a:r>
              <a:rPr lang="en-US" sz="1200" kern="0" spc="-30" dirty="0">
                <a:solidFill>
                  <a:srgbClr val="00B0F0"/>
                </a:solidFill>
                <a:latin typeface="Poppins" pitchFamily="2" charset="77"/>
                <a:cs typeface="Poppins" pitchFamily="2" charset="77"/>
              </a:rPr>
              <a:t>Heart Rate &lt; 100</a:t>
            </a:r>
          </a:p>
        </p:txBody>
      </p:sp>
      <p:sp>
        <p:nvSpPr>
          <p:cNvPr id="9" name="TextBox 8">
            <a:extLst>
              <a:ext uri="{FF2B5EF4-FFF2-40B4-BE49-F238E27FC236}">
                <a16:creationId xmlns:a16="http://schemas.microsoft.com/office/drawing/2014/main" id="{74EFF12E-FBEB-1E68-9E02-4F2742E37C6F}"/>
              </a:ext>
            </a:extLst>
          </p:cNvPr>
          <p:cNvSpPr txBox="1"/>
          <p:nvPr/>
        </p:nvSpPr>
        <p:spPr>
          <a:xfrm>
            <a:off x="6663946" y="2723300"/>
            <a:ext cx="1794076" cy="461665"/>
          </a:xfrm>
          <a:prstGeom prst="rect">
            <a:avLst/>
          </a:prstGeom>
          <a:noFill/>
        </p:spPr>
        <p:txBody>
          <a:bodyPr wrap="square" rtlCol="0">
            <a:spAutoFit/>
          </a:bodyPr>
          <a:lstStyle/>
          <a:p>
            <a:pPr algn="ctr"/>
            <a:r>
              <a:rPr lang="en-US" sz="1200" kern="0" spc="-30" dirty="0">
                <a:solidFill>
                  <a:srgbClr val="48B491"/>
                </a:solidFill>
                <a:latin typeface="Poppins" pitchFamily="2" charset="77"/>
                <a:cs typeface="Poppins" pitchFamily="2" charset="77"/>
              </a:rPr>
              <a:t>3</a:t>
            </a:r>
            <a:r>
              <a:rPr lang="en-US" sz="1200" kern="0" spc="-30" dirty="0">
                <a:solidFill>
                  <a:schemeClr val="accent1"/>
                </a:solidFill>
                <a:latin typeface="Poppins" pitchFamily="2" charset="77"/>
                <a:cs typeface="Poppins" pitchFamily="2" charset="77"/>
              </a:rPr>
              <a:t>, </a:t>
            </a:r>
            <a:r>
              <a:rPr lang="en-US" sz="1200" kern="0" spc="-30" dirty="0">
                <a:solidFill>
                  <a:srgbClr val="FF0000"/>
                </a:solidFill>
                <a:latin typeface="Poppins" pitchFamily="2" charset="77"/>
                <a:cs typeface="Poppins" pitchFamily="2" charset="77"/>
              </a:rPr>
              <a:t>6</a:t>
            </a:r>
          </a:p>
          <a:p>
            <a:pPr algn="ctr"/>
            <a:r>
              <a:rPr lang="en-US" sz="1200" kern="0" spc="-30" dirty="0">
                <a:solidFill>
                  <a:srgbClr val="00B0F0"/>
                </a:solidFill>
                <a:latin typeface="Poppins" pitchFamily="2" charset="77"/>
                <a:cs typeface="Poppins" pitchFamily="2" charset="77"/>
              </a:rPr>
              <a:t>Resp Rate &lt; 20</a:t>
            </a:r>
          </a:p>
        </p:txBody>
      </p:sp>
      <p:sp>
        <p:nvSpPr>
          <p:cNvPr id="10" name="TextBox 9">
            <a:extLst>
              <a:ext uri="{FF2B5EF4-FFF2-40B4-BE49-F238E27FC236}">
                <a16:creationId xmlns:a16="http://schemas.microsoft.com/office/drawing/2014/main" id="{7E867635-7BCE-7F2B-86D6-8E1F89DCE5F7}"/>
              </a:ext>
            </a:extLst>
          </p:cNvPr>
          <p:cNvSpPr txBox="1"/>
          <p:nvPr/>
        </p:nvSpPr>
        <p:spPr>
          <a:xfrm>
            <a:off x="1270144" y="4324040"/>
            <a:ext cx="1794076" cy="276999"/>
          </a:xfrm>
          <a:prstGeom prst="rect">
            <a:avLst/>
          </a:prstGeom>
          <a:noFill/>
        </p:spPr>
        <p:txBody>
          <a:bodyPr wrap="square" rtlCol="0">
            <a:spAutoFit/>
          </a:bodyPr>
          <a:lstStyle/>
          <a:p>
            <a:pPr algn="ctr"/>
            <a:r>
              <a:rPr lang="en-US" sz="1200" kern="0" spc="-30" dirty="0">
                <a:solidFill>
                  <a:srgbClr val="48B491"/>
                </a:solidFill>
                <a:latin typeface="Poppins" pitchFamily="2" charset="77"/>
                <a:cs typeface="Poppins" pitchFamily="2" charset="77"/>
              </a:rPr>
              <a:t>9</a:t>
            </a:r>
          </a:p>
        </p:txBody>
      </p:sp>
      <p:sp>
        <p:nvSpPr>
          <p:cNvPr id="11" name="TextBox 10">
            <a:extLst>
              <a:ext uri="{FF2B5EF4-FFF2-40B4-BE49-F238E27FC236}">
                <a16:creationId xmlns:a16="http://schemas.microsoft.com/office/drawing/2014/main" id="{58D697EA-6EBB-AE98-FA82-EBAD727710D1}"/>
              </a:ext>
            </a:extLst>
          </p:cNvPr>
          <p:cNvSpPr txBox="1"/>
          <p:nvPr/>
        </p:nvSpPr>
        <p:spPr>
          <a:xfrm>
            <a:off x="3423035" y="4324040"/>
            <a:ext cx="1794076" cy="276999"/>
          </a:xfrm>
          <a:prstGeom prst="rect">
            <a:avLst/>
          </a:prstGeom>
          <a:noFill/>
        </p:spPr>
        <p:txBody>
          <a:bodyPr wrap="square" rtlCol="0">
            <a:spAutoFit/>
          </a:bodyPr>
          <a:lstStyle/>
          <a:p>
            <a:pPr algn="ctr"/>
            <a:r>
              <a:rPr lang="en-US" sz="1200" kern="0" spc="-30" dirty="0">
                <a:solidFill>
                  <a:srgbClr val="FF0000"/>
                </a:solidFill>
                <a:latin typeface="Poppins" pitchFamily="2" charset="77"/>
                <a:cs typeface="Poppins" pitchFamily="2" charset="77"/>
              </a:rPr>
              <a:t>2</a:t>
            </a:r>
            <a:endParaRPr lang="en-US" sz="1200" kern="0" spc="-30" dirty="0">
              <a:solidFill>
                <a:srgbClr val="009EE2"/>
              </a:solidFill>
              <a:latin typeface="Poppins" pitchFamily="2" charset="77"/>
              <a:cs typeface="Poppins" pitchFamily="2" charset="77"/>
            </a:endParaRPr>
          </a:p>
        </p:txBody>
      </p:sp>
      <p:sp>
        <p:nvSpPr>
          <p:cNvPr id="12" name="TextBox 11">
            <a:extLst>
              <a:ext uri="{FF2B5EF4-FFF2-40B4-BE49-F238E27FC236}">
                <a16:creationId xmlns:a16="http://schemas.microsoft.com/office/drawing/2014/main" id="{6D51D8CC-56D0-5F03-55B5-E818F718E866}"/>
              </a:ext>
            </a:extLst>
          </p:cNvPr>
          <p:cNvSpPr txBox="1"/>
          <p:nvPr/>
        </p:nvSpPr>
        <p:spPr>
          <a:xfrm>
            <a:off x="5587501" y="4216434"/>
            <a:ext cx="1794076" cy="461665"/>
          </a:xfrm>
          <a:prstGeom prst="rect">
            <a:avLst/>
          </a:prstGeom>
          <a:noFill/>
        </p:spPr>
        <p:txBody>
          <a:bodyPr wrap="square" rtlCol="0">
            <a:spAutoFit/>
          </a:bodyPr>
          <a:lstStyle/>
          <a:p>
            <a:pPr algn="ctr"/>
            <a:r>
              <a:rPr lang="en-US" sz="1200" kern="0" spc="-30" dirty="0">
                <a:solidFill>
                  <a:srgbClr val="48B491"/>
                </a:solidFill>
                <a:latin typeface="Poppins" pitchFamily="2" charset="77"/>
                <a:cs typeface="Poppins" pitchFamily="2" charset="77"/>
              </a:rPr>
              <a:t>3</a:t>
            </a:r>
            <a:r>
              <a:rPr lang="en-US" sz="1200" kern="0" spc="-30" dirty="0">
                <a:solidFill>
                  <a:schemeClr val="accent1"/>
                </a:solidFill>
                <a:latin typeface="Poppins" pitchFamily="2" charset="77"/>
                <a:cs typeface="Poppins" pitchFamily="2" charset="77"/>
              </a:rPr>
              <a:t>, </a:t>
            </a:r>
            <a:r>
              <a:rPr lang="en-US" sz="1200" kern="0" spc="-30" dirty="0">
                <a:solidFill>
                  <a:srgbClr val="FF0000"/>
                </a:solidFill>
                <a:latin typeface="Poppins" pitchFamily="2" charset="77"/>
                <a:cs typeface="Poppins" pitchFamily="2" charset="77"/>
              </a:rPr>
              <a:t>1</a:t>
            </a:r>
          </a:p>
          <a:p>
            <a:pPr algn="ctr"/>
            <a:r>
              <a:rPr lang="en-US" sz="1200" kern="0" spc="-30" dirty="0">
                <a:solidFill>
                  <a:srgbClr val="00B0F0"/>
                </a:solidFill>
                <a:latin typeface="Poppins" pitchFamily="2" charset="77"/>
                <a:cs typeface="Poppins" pitchFamily="2" charset="77"/>
              </a:rPr>
              <a:t>Heart Rate &lt; 115</a:t>
            </a:r>
          </a:p>
        </p:txBody>
      </p:sp>
      <p:sp>
        <p:nvSpPr>
          <p:cNvPr id="13" name="TextBox 12">
            <a:extLst>
              <a:ext uri="{FF2B5EF4-FFF2-40B4-BE49-F238E27FC236}">
                <a16:creationId xmlns:a16="http://schemas.microsoft.com/office/drawing/2014/main" id="{5FCDAFF7-D6F1-B441-58A7-09C148CBE31B}"/>
              </a:ext>
            </a:extLst>
          </p:cNvPr>
          <p:cNvSpPr txBox="1"/>
          <p:nvPr/>
        </p:nvSpPr>
        <p:spPr>
          <a:xfrm>
            <a:off x="7728818" y="4324040"/>
            <a:ext cx="1794076" cy="276999"/>
          </a:xfrm>
          <a:prstGeom prst="rect">
            <a:avLst/>
          </a:prstGeom>
          <a:noFill/>
        </p:spPr>
        <p:txBody>
          <a:bodyPr wrap="square" rtlCol="0">
            <a:spAutoFit/>
          </a:bodyPr>
          <a:lstStyle/>
          <a:p>
            <a:pPr algn="ctr"/>
            <a:r>
              <a:rPr lang="en-US" sz="1200" kern="0" spc="-30" dirty="0">
                <a:solidFill>
                  <a:srgbClr val="FF0000"/>
                </a:solidFill>
                <a:latin typeface="Poppins" pitchFamily="2" charset="77"/>
                <a:cs typeface="Poppins" pitchFamily="2" charset="77"/>
              </a:rPr>
              <a:t>5</a:t>
            </a:r>
          </a:p>
        </p:txBody>
      </p:sp>
      <p:sp>
        <p:nvSpPr>
          <p:cNvPr id="14" name="TextBox 13">
            <a:extLst>
              <a:ext uri="{FF2B5EF4-FFF2-40B4-BE49-F238E27FC236}">
                <a16:creationId xmlns:a16="http://schemas.microsoft.com/office/drawing/2014/main" id="{131B4846-9108-286B-3B5F-9D5987FF19E2}"/>
              </a:ext>
            </a:extLst>
          </p:cNvPr>
          <p:cNvSpPr txBox="1"/>
          <p:nvPr/>
        </p:nvSpPr>
        <p:spPr>
          <a:xfrm>
            <a:off x="4511056" y="5794025"/>
            <a:ext cx="1794076" cy="276999"/>
          </a:xfrm>
          <a:prstGeom prst="rect">
            <a:avLst/>
          </a:prstGeom>
          <a:noFill/>
        </p:spPr>
        <p:txBody>
          <a:bodyPr wrap="square" rtlCol="0">
            <a:spAutoFit/>
          </a:bodyPr>
          <a:lstStyle/>
          <a:p>
            <a:pPr algn="ctr"/>
            <a:r>
              <a:rPr lang="en-US" sz="1200" kern="0" spc="-30" dirty="0">
                <a:solidFill>
                  <a:srgbClr val="48B491"/>
                </a:solidFill>
                <a:latin typeface="Poppins" pitchFamily="2" charset="77"/>
                <a:cs typeface="Poppins" pitchFamily="2" charset="77"/>
              </a:rPr>
              <a:t>3</a:t>
            </a:r>
          </a:p>
        </p:txBody>
      </p:sp>
      <p:sp>
        <p:nvSpPr>
          <p:cNvPr id="15" name="TextBox 14">
            <a:extLst>
              <a:ext uri="{FF2B5EF4-FFF2-40B4-BE49-F238E27FC236}">
                <a16:creationId xmlns:a16="http://schemas.microsoft.com/office/drawing/2014/main" id="{736365B1-00DC-A548-3AEE-D15713F65E1F}"/>
              </a:ext>
            </a:extLst>
          </p:cNvPr>
          <p:cNvSpPr txBox="1"/>
          <p:nvPr/>
        </p:nvSpPr>
        <p:spPr>
          <a:xfrm>
            <a:off x="6663947" y="5794025"/>
            <a:ext cx="1794076" cy="276999"/>
          </a:xfrm>
          <a:prstGeom prst="rect">
            <a:avLst/>
          </a:prstGeom>
          <a:noFill/>
        </p:spPr>
        <p:txBody>
          <a:bodyPr wrap="square" rtlCol="0">
            <a:spAutoFit/>
          </a:bodyPr>
          <a:lstStyle/>
          <a:p>
            <a:pPr algn="ctr"/>
            <a:r>
              <a:rPr lang="en-US" sz="1200" kern="0" spc="-30" dirty="0">
                <a:solidFill>
                  <a:srgbClr val="FF0000"/>
                </a:solidFill>
                <a:latin typeface="Poppins" pitchFamily="2" charset="77"/>
                <a:cs typeface="Poppins" pitchFamily="2" charset="77"/>
              </a:rPr>
              <a:t>1</a:t>
            </a:r>
            <a:endParaRPr lang="en-US" sz="1200" kern="0" spc="-30" dirty="0">
              <a:solidFill>
                <a:srgbClr val="009EE2"/>
              </a:solidFill>
              <a:latin typeface="Poppins" pitchFamily="2" charset="77"/>
              <a:cs typeface="Poppins" pitchFamily="2" charset="77"/>
            </a:endParaRPr>
          </a:p>
        </p:txBody>
      </p:sp>
    </p:spTree>
    <p:extLst>
      <p:ext uri="{BB962C8B-B14F-4D97-AF65-F5344CB8AC3E}">
        <p14:creationId xmlns:p14="http://schemas.microsoft.com/office/powerpoint/2010/main" val="3908351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EFF519-F9CB-E62C-A13F-31217FCEDCA4}"/>
              </a:ext>
            </a:extLst>
          </p:cNvPr>
          <p:cNvPicPr>
            <a:picLocks noChangeAspect="1"/>
          </p:cNvPicPr>
          <p:nvPr/>
        </p:nvPicPr>
        <p:blipFill>
          <a:blip r:embed="rId2"/>
          <a:stretch>
            <a:fillRect/>
          </a:stretch>
        </p:blipFill>
        <p:spPr>
          <a:xfrm>
            <a:off x="0" y="0"/>
            <a:ext cx="9309047" cy="971550"/>
          </a:xfrm>
          <a:prstGeom prst="rect">
            <a:avLst/>
          </a:prstGeom>
        </p:spPr>
      </p:pic>
      <p:sp>
        <p:nvSpPr>
          <p:cNvPr id="3" name="TextBox 2">
            <a:extLst>
              <a:ext uri="{FF2B5EF4-FFF2-40B4-BE49-F238E27FC236}">
                <a16:creationId xmlns:a16="http://schemas.microsoft.com/office/drawing/2014/main" id="{45D9F1FA-9D02-FF9F-1F76-F9E7D9076CC8}"/>
              </a:ext>
            </a:extLst>
          </p:cNvPr>
          <p:cNvSpPr txBox="1"/>
          <p:nvPr/>
        </p:nvSpPr>
        <p:spPr>
          <a:xfrm>
            <a:off x="246492" y="318052"/>
            <a:ext cx="7609398" cy="338554"/>
          </a:xfrm>
          <a:prstGeom prst="rect">
            <a:avLst/>
          </a:prstGeom>
          <a:noFill/>
        </p:spPr>
        <p:txBody>
          <a:bodyPr wrap="square" rtlCol="0">
            <a:spAutoFit/>
          </a:bodyPr>
          <a:lstStyle/>
          <a:p>
            <a:r>
              <a:rPr lang="en-US" sz="1600" b="1" dirty="0">
                <a:solidFill>
                  <a:schemeClr val="bg1"/>
                </a:solidFill>
                <a:latin typeface="Poppins" pitchFamily="2" charset="77"/>
                <a:cs typeface="Poppins" pitchFamily="2" charset="77"/>
              </a:rPr>
              <a:t>Decision Trees: </a:t>
            </a:r>
            <a:r>
              <a:rPr lang="en-US" sz="1600" dirty="0">
                <a:solidFill>
                  <a:schemeClr val="bg1"/>
                </a:solidFill>
                <a:latin typeface="Poppins" pitchFamily="2" charset="77"/>
                <a:cs typeface="Poppins" pitchFamily="2" charset="77"/>
              </a:rPr>
              <a:t>Regression</a:t>
            </a:r>
          </a:p>
        </p:txBody>
      </p:sp>
      <p:pic>
        <p:nvPicPr>
          <p:cNvPr id="4" name="Picture 3">
            <a:extLst>
              <a:ext uri="{FF2B5EF4-FFF2-40B4-BE49-F238E27FC236}">
                <a16:creationId xmlns:a16="http://schemas.microsoft.com/office/drawing/2014/main" id="{8E302212-A39D-7E5D-43F9-039EFF9F517E}"/>
              </a:ext>
            </a:extLst>
          </p:cNvPr>
          <p:cNvPicPr>
            <a:picLocks noChangeAspect="1"/>
          </p:cNvPicPr>
          <p:nvPr/>
        </p:nvPicPr>
        <p:blipFill>
          <a:blip r:embed="rId3"/>
          <a:srcRect b="28413"/>
          <a:stretch>
            <a:fillRect/>
          </a:stretch>
        </p:blipFill>
        <p:spPr>
          <a:xfrm>
            <a:off x="1788256" y="2096548"/>
            <a:ext cx="8258248" cy="3618064"/>
          </a:xfrm>
          <a:prstGeom prst="rect">
            <a:avLst/>
          </a:prstGeom>
        </p:spPr>
      </p:pic>
      <p:sp>
        <p:nvSpPr>
          <p:cNvPr id="5" name="TextBox 4">
            <a:extLst>
              <a:ext uri="{FF2B5EF4-FFF2-40B4-BE49-F238E27FC236}">
                <a16:creationId xmlns:a16="http://schemas.microsoft.com/office/drawing/2014/main" id="{A0C55517-7D5D-53DC-EBDC-EAF057601DB8}"/>
              </a:ext>
            </a:extLst>
          </p:cNvPr>
          <p:cNvSpPr txBox="1"/>
          <p:nvPr/>
        </p:nvSpPr>
        <p:spPr>
          <a:xfrm>
            <a:off x="8308938" y="1357884"/>
            <a:ext cx="3608529" cy="738664"/>
          </a:xfrm>
          <a:prstGeom prst="rect">
            <a:avLst/>
          </a:prstGeom>
          <a:noFill/>
        </p:spPr>
        <p:txBody>
          <a:bodyPr wrap="square" rtlCol="0">
            <a:spAutoFit/>
          </a:bodyPr>
          <a:lstStyle/>
          <a:p>
            <a:r>
              <a:rPr lang="en-US" sz="1400" kern="0" spc="-30" dirty="0">
                <a:solidFill>
                  <a:schemeClr val="accent1"/>
                </a:solidFill>
                <a:latin typeface="Poppins" pitchFamily="2" charset="77"/>
                <a:cs typeface="Poppins" pitchFamily="2" charset="77"/>
              </a:rPr>
              <a:t>Divide the training data</a:t>
            </a:r>
          </a:p>
          <a:p>
            <a:pPr marL="285750" indent="-285750">
              <a:buFont typeface="Arial" panose="020B0604020202020204" pitchFamily="34" charset="0"/>
              <a:buChar char="•"/>
            </a:pPr>
            <a:r>
              <a:rPr lang="en-US" sz="1400" kern="0" spc="-30" dirty="0">
                <a:solidFill>
                  <a:schemeClr val="accent1"/>
                </a:solidFill>
                <a:latin typeface="Poppins" pitchFamily="2" charset="77"/>
                <a:cs typeface="Poppins" pitchFamily="2" charset="77"/>
              </a:rPr>
              <a:t>Condition that provides the best split  </a:t>
            </a:r>
          </a:p>
          <a:p>
            <a:pPr marL="285750" indent="-285750">
              <a:buFont typeface="Arial" panose="020B0604020202020204" pitchFamily="34" charset="0"/>
              <a:buChar char="•"/>
            </a:pPr>
            <a:r>
              <a:rPr lang="en-US" sz="1400" kern="0" spc="-30" dirty="0">
                <a:solidFill>
                  <a:schemeClr val="accent1"/>
                </a:solidFill>
                <a:latin typeface="Poppins" pitchFamily="2" charset="77"/>
                <a:cs typeface="Poppins" pitchFamily="2" charset="77"/>
              </a:rPr>
              <a:t>Continue until correctly divided</a:t>
            </a:r>
          </a:p>
        </p:txBody>
      </p:sp>
      <p:sp>
        <p:nvSpPr>
          <p:cNvPr id="6" name="TextBox 5">
            <a:extLst>
              <a:ext uri="{FF2B5EF4-FFF2-40B4-BE49-F238E27FC236}">
                <a16:creationId xmlns:a16="http://schemas.microsoft.com/office/drawing/2014/main" id="{94C2F6CA-DA58-2F61-2D7E-D6B1DDC7B61F}"/>
              </a:ext>
            </a:extLst>
          </p:cNvPr>
          <p:cNvSpPr txBox="1"/>
          <p:nvPr/>
        </p:nvSpPr>
        <p:spPr>
          <a:xfrm>
            <a:off x="272358" y="1427335"/>
            <a:ext cx="2959695" cy="954107"/>
          </a:xfrm>
          <a:prstGeom prst="rect">
            <a:avLst/>
          </a:prstGeom>
          <a:noFill/>
        </p:spPr>
        <p:txBody>
          <a:bodyPr wrap="square" rtlCol="0">
            <a:spAutoFit/>
          </a:bodyPr>
          <a:lstStyle/>
          <a:p>
            <a:r>
              <a:rPr lang="en-US" sz="1400" kern="0" spc="-30" dirty="0">
                <a:solidFill>
                  <a:schemeClr val="accent1"/>
                </a:solidFill>
                <a:latin typeface="Poppins" pitchFamily="2" charset="77"/>
                <a:cs typeface="Poppins" pitchFamily="2" charset="77"/>
              </a:rPr>
              <a:t>Target: Length of Stay</a:t>
            </a:r>
            <a:r>
              <a:rPr lang="en-US" sz="1400" kern="0" spc="-30" dirty="0">
                <a:solidFill>
                  <a:srgbClr val="48B491"/>
                </a:solidFill>
                <a:latin typeface="Poppins" pitchFamily="2" charset="77"/>
                <a:cs typeface="Poppins" pitchFamily="2" charset="77"/>
              </a:rPr>
              <a:t/>
            </a:r>
          </a:p>
          <a:p>
            <a:r>
              <a:rPr lang="en-US" sz="1400" kern="0" spc="-30" dirty="0">
                <a:solidFill>
                  <a:schemeClr val="accent1"/>
                </a:solidFill>
                <a:latin typeface="Poppins" pitchFamily="2" charset="77"/>
                <a:cs typeface="Poppins" pitchFamily="2" charset="77"/>
              </a:rPr>
              <a:t>Features: Age, Severity, Frailty</a:t>
            </a:r>
            <a:r>
              <a:rPr lang="en-US" sz="1400" kern="0" spc="-30" dirty="0">
                <a:solidFill>
                  <a:srgbClr val="00B0F0"/>
                </a:solidFill>
                <a:latin typeface="Poppins" pitchFamily="2" charset="77"/>
                <a:cs typeface="Poppins" pitchFamily="2" charset="77"/>
              </a:rPr>
              <a:t/>
            </a:r>
          </a:p>
          <a:p>
            <a:endParaRPr lang="en-US" sz="1400" kern="0" spc="-30" dirty="0">
              <a:solidFill>
                <a:srgbClr val="FF0000"/>
              </a:solidFill>
              <a:latin typeface="Poppins" pitchFamily="2" charset="77"/>
              <a:cs typeface="Poppins" pitchFamily="2" charset="77"/>
            </a:endParaRPr>
          </a:p>
        </p:txBody>
      </p:sp>
      <p:sp>
        <p:nvSpPr>
          <p:cNvPr id="8" name="TextBox 7">
            <a:extLst>
              <a:ext uri="{FF2B5EF4-FFF2-40B4-BE49-F238E27FC236}">
                <a16:creationId xmlns:a16="http://schemas.microsoft.com/office/drawing/2014/main" id="{CBB15ED2-782D-51E6-FE88-9D131190D758}"/>
              </a:ext>
            </a:extLst>
          </p:cNvPr>
          <p:cNvSpPr txBox="1"/>
          <p:nvPr/>
        </p:nvSpPr>
        <p:spPr>
          <a:xfrm>
            <a:off x="2879025" y="3530246"/>
            <a:ext cx="1794076" cy="461665"/>
          </a:xfrm>
          <a:prstGeom prst="rect">
            <a:avLst/>
          </a:prstGeom>
          <a:noFill/>
        </p:spPr>
        <p:txBody>
          <a:bodyPr wrap="square" rtlCol="0">
            <a:spAutoFit/>
          </a:bodyPr>
          <a:lstStyle/>
          <a:p>
            <a:pPr algn="ctr"/>
            <a:r>
              <a:rPr lang="en-US" sz="1200" kern="0" spc="-30" dirty="0">
                <a:solidFill>
                  <a:srgbClr val="48B491"/>
                </a:solidFill>
                <a:latin typeface="Poppins" pitchFamily="2" charset="77"/>
                <a:cs typeface="Poppins" pitchFamily="2" charset="77"/>
              </a:rPr>
              <a:t>4.9 days, n=35</a:t>
            </a:r>
            <a:r>
              <a:rPr lang="en-US" sz="1200" kern="0" spc="-30" dirty="0" err="1">
                <a:solidFill>
                  <a:srgbClr val="48B491"/>
                </a:solidFill>
                <a:latin typeface="Poppins" pitchFamily="2" charset="77"/>
                <a:cs typeface="Poppins" pitchFamily="2" charset="77"/>
              </a:rPr>
              <a:t/>
            </a:r>
            <a:r>
              <a:rPr lang="en-US" sz="1200" kern="0" spc="-30" dirty="0">
                <a:solidFill>
                  <a:srgbClr val="48B491"/>
                </a:solidFill>
                <a:latin typeface="Poppins" pitchFamily="2" charset="77"/>
                <a:cs typeface="Poppins" pitchFamily="2" charset="77"/>
              </a:rPr>
              <a:t/>
            </a:r>
          </a:p>
          <a:p>
            <a:pPr algn="ctr"/>
            <a:r>
              <a:rPr lang="en-US" sz="1200" kern="0" spc="-30" dirty="0">
                <a:solidFill>
                  <a:srgbClr val="00B0F0"/>
                </a:solidFill>
                <a:latin typeface="Poppins" pitchFamily="2" charset="77"/>
                <a:cs typeface="Poppins" pitchFamily="2" charset="77"/>
              </a:rPr>
              <a:t>Age &lt; 65</a:t>
            </a:r>
          </a:p>
        </p:txBody>
      </p:sp>
      <p:sp>
        <p:nvSpPr>
          <p:cNvPr id="9" name="TextBox 8">
            <a:extLst>
              <a:ext uri="{FF2B5EF4-FFF2-40B4-BE49-F238E27FC236}">
                <a16:creationId xmlns:a16="http://schemas.microsoft.com/office/drawing/2014/main" id="{C161D9E9-8FC5-8B31-EB4C-F2C374E15648}"/>
              </a:ext>
            </a:extLst>
          </p:cNvPr>
          <p:cNvSpPr txBox="1"/>
          <p:nvPr/>
        </p:nvSpPr>
        <p:spPr>
          <a:xfrm>
            <a:off x="7184807" y="3530246"/>
            <a:ext cx="1794076" cy="461665"/>
          </a:xfrm>
          <a:prstGeom prst="rect">
            <a:avLst/>
          </a:prstGeom>
          <a:noFill/>
        </p:spPr>
        <p:txBody>
          <a:bodyPr wrap="square" rtlCol="0">
            <a:spAutoFit/>
          </a:bodyPr>
          <a:lstStyle/>
          <a:p>
            <a:pPr algn="ctr"/>
            <a:r>
              <a:rPr lang="en-US" sz="1200" kern="0" spc="-30" dirty="0">
                <a:solidFill>
                  <a:srgbClr val="48B491"/>
                </a:solidFill>
                <a:latin typeface="Poppins" pitchFamily="2" charset="77"/>
                <a:cs typeface="Poppins" pitchFamily="2" charset="77"/>
              </a:rPr>
              <a:t>6.8 days, n=65</a:t>
            </a:r>
            <a:r>
              <a:rPr lang="en-US" sz="1200" kern="0" spc="-30" dirty="0" err="1">
                <a:solidFill>
                  <a:srgbClr val="48B491"/>
                </a:solidFill>
                <a:latin typeface="Poppins" pitchFamily="2" charset="77"/>
                <a:cs typeface="Poppins" pitchFamily="2" charset="77"/>
              </a:rPr>
              <a:t/>
            </a:r>
            <a:r>
              <a:rPr lang="en-US" sz="1200" kern="0" spc="-30" dirty="0">
                <a:solidFill>
                  <a:srgbClr val="48B491"/>
                </a:solidFill>
                <a:latin typeface="Poppins" pitchFamily="2" charset="77"/>
                <a:cs typeface="Poppins" pitchFamily="2" charset="77"/>
              </a:rPr>
              <a:t/>
            </a:r>
          </a:p>
          <a:p>
            <a:pPr algn="ctr"/>
            <a:r>
              <a:rPr lang="en-US" sz="1200" kern="0" spc="-30" dirty="0">
                <a:solidFill>
                  <a:srgbClr val="00B0F0"/>
                </a:solidFill>
                <a:latin typeface="Poppins" pitchFamily="2" charset="77"/>
                <a:cs typeface="Poppins" pitchFamily="2" charset="77"/>
              </a:rPr>
              <a:t>Severity &lt; 4</a:t>
            </a:r>
          </a:p>
        </p:txBody>
      </p:sp>
      <p:sp>
        <p:nvSpPr>
          <p:cNvPr id="10" name="TextBox 9">
            <a:extLst>
              <a:ext uri="{FF2B5EF4-FFF2-40B4-BE49-F238E27FC236}">
                <a16:creationId xmlns:a16="http://schemas.microsoft.com/office/drawing/2014/main" id="{BC478EB2-A1C9-8B95-F918-B17F83BCDA55}"/>
              </a:ext>
            </a:extLst>
          </p:cNvPr>
          <p:cNvSpPr txBox="1"/>
          <p:nvPr/>
        </p:nvSpPr>
        <p:spPr>
          <a:xfrm>
            <a:off x="1791005" y="5130986"/>
            <a:ext cx="1794076" cy="276999"/>
          </a:xfrm>
          <a:prstGeom prst="rect">
            <a:avLst/>
          </a:prstGeom>
          <a:noFill/>
        </p:spPr>
        <p:txBody>
          <a:bodyPr wrap="square" rtlCol="0">
            <a:spAutoFit/>
          </a:bodyPr>
          <a:lstStyle/>
          <a:p>
            <a:pPr algn="ctr"/>
            <a:r>
              <a:rPr lang="en-US" sz="1200" kern="0" spc="-30" dirty="0">
                <a:solidFill>
                  <a:srgbClr val="48B491"/>
                </a:solidFill>
                <a:latin typeface="Poppins" pitchFamily="2" charset="77"/>
                <a:cs typeface="Poppins" pitchFamily="2" charset="77"/>
              </a:rPr>
              <a:t>4.2 days, n=22</a:t>
            </a:r>
            <a:r>
              <a:rPr lang="en-US" sz="1200" kern="0" spc="-30" dirty="0" err="1">
                <a:solidFill>
                  <a:srgbClr val="48B491"/>
                </a:solidFill>
                <a:latin typeface="Poppins" pitchFamily="2" charset="77"/>
                <a:cs typeface="Poppins" pitchFamily="2" charset="77"/>
              </a:rPr>
              <a:t/>
            </a:r>
            <a:r>
              <a:rPr lang="en-US" sz="1200" kern="0" spc="-30" dirty="0">
                <a:solidFill>
                  <a:srgbClr val="48B491"/>
                </a:solidFill>
                <a:latin typeface="Poppins" pitchFamily="2" charset="77"/>
                <a:cs typeface="Poppins" pitchFamily="2" charset="77"/>
              </a:rPr>
              <a:t/>
            </a:r>
          </a:p>
        </p:txBody>
      </p:sp>
      <p:sp>
        <p:nvSpPr>
          <p:cNvPr id="11" name="TextBox 10">
            <a:extLst>
              <a:ext uri="{FF2B5EF4-FFF2-40B4-BE49-F238E27FC236}">
                <a16:creationId xmlns:a16="http://schemas.microsoft.com/office/drawing/2014/main" id="{EFD739B5-1932-22F3-CB40-15DFBF29B9FF}"/>
              </a:ext>
            </a:extLst>
          </p:cNvPr>
          <p:cNvSpPr txBox="1"/>
          <p:nvPr/>
        </p:nvSpPr>
        <p:spPr>
          <a:xfrm>
            <a:off x="3943896" y="5130986"/>
            <a:ext cx="1794076" cy="276999"/>
          </a:xfrm>
          <a:prstGeom prst="rect">
            <a:avLst/>
          </a:prstGeom>
          <a:noFill/>
        </p:spPr>
        <p:txBody>
          <a:bodyPr wrap="square" rtlCol="0">
            <a:spAutoFit/>
          </a:bodyPr>
          <a:lstStyle/>
          <a:p>
            <a:pPr algn="ctr"/>
            <a:r>
              <a:rPr lang="en-US" sz="1200" kern="0" spc="-30" dirty="0">
                <a:solidFill>
                  <a:srgbClr val="48B491"/>
                </a:solidFill>
                <a:latin typeface="Poppins" pitchFamily="2" charset="77"/>
                <a:cs typeface="Poppins" pitchFamily="2" charset="77"/>
              </a:rPr>
              <a:t>5.6 days, n=13</a:t>
            </a:r>
            <a:r>
              <a:rPr lang="en-US" sz="1200" kern="0" spc="-30" dirty="0" err="1">
                <a:solidFill>
                  <a:srgbClr val="48B491"/>
                </a:solidFill>
                <a:latin typeface="Poppins" pitchFamily="2" charset="77"/>
                <a:cs typeface="Poppins" pitchFamily="2" charset="77"/>
              </a:rPr>
              <a:t/>
            </a:r>
            <a:r>
              <a:rPr lang="en-US" sz="1200" kern="0" spc="-30" dirty="0">
                <a:solidFill>
                  <a:srgbClr val="48B491"/>
                </a:solidFill>
                <a:latin typeface="Poppins" pitchFamily="2" charset="77"/>
                <a:cs typeface="Poppins" pitchFamily="2" charset="77"/>
              </a:rPr>
              <a:t/>
            </a:r>
          </a:p>
        </p:txBody>
      </p:sp>
      <p:sp>
        <p:nvSpPr>
          <p:cNvPr id="13" name="TextBox 12">
            <a:extLst>
              <a:ext uri="{FF2B5EF4-FFF2-40B4-BE49-F238E27FC236}">
                <a16:creationId xmlns:a16="http://schemas.microsoft.com/office/drawing/2014/main" id="{374C05E8-D5E3-9079-0B65-A79003768117}"/>
              </a:ext>
            </a:extLst>
          </p:cNvPr>
          <p:cNvSpPr txBox="1"/>
          <p:nvPr/>
        </p:nvSpPr>
        <p:spPr>
          <a:xfrm>
            <a:off x="8249679" y="5130986"/>
            <a:ext cx="1794076" cy="276999"/>
          </a:xfrm>
          <a:prstGeom prst="rect">
            <a:avLst/>
          </a:prstGeom>
          <a:noFill/>
        </p:spPr>
        <p:txBody>
          <a:bodyPr wrap="square" rtlCol="0">
            <a:spAutoFit/>
          </a:bodyPr>
          <a:lstStyle/>
          <a:p>
            <a:pPr algn="ctr"/>
            <a:r>
              <a:rPr lang="en-US" sz="1200" kern="0" spc="-30" dirty="0">
                <a:solidFill>
                  <a:srgbClr val="48B491"/>
                </a:solidFill>
                <a:latin typeface="Poppins" pitchFamily="2" charset="77"/>
                <a:cs typeface="Poppins" pitchFamily="2" charset="77"/>
              </a:rPr>
              <a:t>7.5 days, n=27</a:t>
            </a:r>
            <a:r>
              <a:rPr lang="en-US" sz="1200" kern="0" spc="-30" dirty="0" err="1">
                <a:solidFill>
                  <a:srgbClr val="48B491"/>
                </a:solidFill>
                <a:latin typeface="Poppins" pitchFamily="2" charset="77"/>
                <a:cs typeface="Poppins" pitchFamily="2" charset="77"/>
              </a:rPr>
              <a:t/>
            </a:r>
            <a:r>
              <a:rPr lang="en-US" sz="1200" kern="0" spc="-30" dirty="0">
                <a:solidFill>
                  <a:srgbClr val="48B491"/>
                </a:solidFill>
                <a:latin typeface="Poppins" pitchFamily="2" charset="77"/>
                <a:cs typeface="Poppins" pitchFamily="2" charset="77"/>
              </a:rPr>
              <a:t/>
            </a:r>
          </a:p>
        </p:txBody>
      </p:sp>
      <p:sp>
        <p:nvSpPr>
          <p:cNvPr id="16" name="TextBox 15">
            <a:extLst>
              <a:ext uri="{FF2B5EF4-FFF2-40B4-BE49-F238E27FC236}">
                <a16:creationId xmlns:a16="http://schemas.microsoft.com/office/drawing/2014/main" id="{DF929F9B-E4F9-FF9F-8D0B-5FC68DE791EC}"/>
              </a:ext>
            </a:extLst>
          </p:cNvPr>
          <p:cNvSpPr txBox="1"/>
          <p:nvPr/>
        </p:nvSpPr>
        <p:spPr>
          <a:xfrm>
            <a:off x="5020342" y="2303329"/>
            <a:ext cx="1794076" cy="461665"/>
          </a:xfrm>
          <a:prstGeom prst="rect">
            <a:avLst/>
          </a:prstGeom>
          <a:noFill/>
        </p:spPr>
        <p:txBody>
          <a:bodyPr wrap="square" rtlCol="0">
            <a:spAutoFit/>
          </a:bodyPr>
          <a:lstStyle/>
          <a:p>
            <a:pPr algn="ctr"/>
            <a:r>
              <a:rPr lang="en-US" sz="1200" kern="0" spc="-30" dirty="0">
                <a:solidFill>
                  <a:srgbClr val="48B491"/>
                </a:solidFill>
                <a:latin typeface="Poppins" pitchFamily="2" charset="77"/>
                <a:cs typeface="Poppins" pitchFamily="2" charset="77"/>
              </a:rPr>
              <a:t>6.1 days, n=100</a:t>
            </a:r>
            <a:r>
              <a:rPr lang="en-US" sz="1200" kern="0" spc="-30" dirty="0" err="1">
                <a:solidFill>
                  <a:srgbClr val="48B491"/>
                </a:solidFill>
                <a:latin typeface="Poppins" pitchFamily="2" charset="77"/>
                <a:cs typeface="Poppins" pitchFamily="2" charset="77"/>
              </a:rPr>
              <a:t/>
            </a:r>
            <a:r>
              <a:rPr lang="en-US" sz="1200" kern="0" spc="-30" dirty="0">
                <a:solidFill>
                  <a:srgbClr val="48B491"/>
                </a:solidFill>
                <a:latin typeface="Poppins" pitchFamily="2" charset="77"/>
                <a:cs typeface="Poppins" pitchFamily="2" charset="77"/>
              </a:rPr>
              <a:t/>
            </a:r>
          </a:p>
          <a:p>
            <a:pPr algn="ctr"/>
            <a:r>
              <a:rPr lang="en-US" sz="1200" kern="0" spc="-30" dirty="0">
                <a:solidFill>
                  <a:srgbClr val="00B0F0"/>
                </a:solidFill>
                <a:latin typeface="Poppins" pitchFamily="2" charset="77"/>
                <a:cs typeface="Poppins" pitchFamily="2" charset="77"/>
              </a:rPr>
              <a:t>Frailty &lt; 0.3</a:t>
            </a:r>
          </a:p>
        </p:txBody>
      </p:sp>
      <p:sp>
        <p:nvSpPr>
          <p:cNvPr id="17" name="TextBox 16">
            <a:extLst>
              <a:ext uri="{FF2B5EF4-FFF2-40B4-BE49-F238E27FC236}">
                <a16:creationId xmlns:a16="http://schemas.microsoft.com/office/drawing/2014/main" id="{5C4F7A17-164F-6F62-4C2E-096B155615F4}"/>
              </a:ext>
            </a:extLst>
          </p:cNvPr>
          <p:cNvSpPr txBox="1"/>
          <p:nvPr/>
        </p:nvSpPr>
        <p:spPr>
          <a:xfrm>
            <a:off x="6108362" y="5130986"/>
            <a:ext cx="1794076" cy="276999"/>
          </a:xfrm>
          <a:prstGeom prst="rect">
            <a:avLst/>
          </a:prstGeom>
          <a:noFill/>
        </p:spPr>
        <p:txBody>
          <a:bodyPr wrap="square" rtlCol="0">
            <a:spAutoFit/>
          </a:bodyPr>
          <a:lstStyle/>
          <a:p>
            <a:pPr algn="ctr"/>
            <a:r>
              <a:rPr lang="en-US" sz="1200" kern="0" spc="-30" dirty="0">
                <a:solidFill>
                  <a:srgbClr val="48B491"/>
                </a:solidFill>
                <a:latin typeface="Poppins" pitchFamily="2" charset="77"/>
                <a:cs typeface="Poppins" pitchFamily="2" charset="77"/>
              </a:rPr>
              <a:t>6.2 days, n=38</a:t>
            </a:r>
            <a:r>
              <a:rPr lang="en-US" sz="1200" kern="0" spc="-30" dirty="0" err="1">
                <a:solidFill>
                  <a:srgbClr val="48B491"/>
                </a:solidFill>
                <a:latin typeface="Poppins" pitchFamily="2" charset="77"/>
                <a:cs typeface="Poppins" pitchFamily="2" charset="77"/>
              </a:rPr>
              <a:t/>
            </a:r>
            <a:r>
              <a:rPr lang="en-US" sz="1200" kern="0" spc="-30" dirty="0">
                <a:solidFill>
                  <a:srgbClr val="48B491"/>
                </a:solidFill>
                <a:latin typeface="Poppins" pitchFamily="2" charset="77"/>
                <a:cs typeface="Poppins" pitchFamily="2" charset="77"/>
              </a:rPr>
              <a:t/>
            </a:r>
          </a:p>
        </p:txBody>
      </p:sp>
    </p:spTree>
    <p:extLst>
      <p:ext uri="{BB962C8B-B14F-4D97-AF65-F5344CB8AC3E}">
        <p14:creationId xmlns:p14="http://schemas.microsoft.com/office/powerpoint/2010/main" val="1161134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BB3332-5EF0-3B91-6345-CD3C4C926703}"/>
              </a:ext>
            </a:extLst>
          </p:cNvPr>
          <p:cNvPicPr>
            <a:picLocks noChangeAspect="1"/>
          </p:cNvPicPr>
          <p:nvPr/>
        </p:nvPicPr>
        <p:blipFill>
          <a:blip r:embed="rId2"/>
          <a:stretch>
            <a:fillRect/>
          </a:stretch>
        </p:blipFill>
        <p:spPr>
          <a:xfrm>
            <a:off x="8017397" y="1787638"/>
            <a:ext cx="3169157" cy="2229338"/>
          </a:xfrm>
          <a:prstGeom prst="rect">
            <a:avLst/>
          </a:prstGeom>
        </p:spPr>
      </p:pic>
      <p:pic>
        <p:nvPicPr>
          <p:cNvPr id="6" name="Picture 5">
            <a:extLst>
              <a:ext uri="{FF2B5EF4-FFF2-40B4-BE49-F238E27FC236}">
                <a16:creationId xmlns:a16="http://schemas.microsoft.com/office/drawing/2014/main" id="{23ADE4EE-10D6-88E1-817C-891524734077}"/>
              </a:ext>
            </a:extLst>
          </p:cNvPr>
          <p:cNvPicPr>
            <a:picLocks noChangeAspect="1"/>
          </p:cNvPicPr>
          <p:nvPr/>
        </p:nvPicPr>
        <p:blipFill>
          <a:blip r:embed="rId3"/>
          <a:stretch>
            <a:fillRect/>
          </a:stretch>
        </p:blipFill>
        <p:spPr>
          <a:xfrm>
            <a:off x="4114140" y="3755425"/>
            <a:ext cx="4116261" cy="2229338"/>
          </a:xfrm>
          <a:prstGeom prst="rect">
            <a:avLst/>
          </a:prstGeom>
        </p:spPr>
      </p:pic>
      <p:pic>
        <p:nvPicPr>
          <p:cNvPr id="7" name="Picture 6">
            <a:extLst>
              <a:ext uri="{FF2B5EF4-FFF2-40B4-BE49-F238E27FC236}">
                <a16:creationId xmlns:a16="http://schemas.microsoft.com/office/drawing/2014/main" id="{BEB11314-2963-9A63-833C-D40490A944F0}"/>
              </a:ext>
            </a:extLst>
          </p:cNvPr>
          <p:cNvPicPr>
            <a:picLocks noChangeAspect="1"/>
          </p:cNvPicPr>
          <p:nvPr/>
        </p:nvPicPr>
        <p:blipFill>
          <a:blip r:embed="rId4"/>
          <a:stretch>
            <a:fillRect/>
          </a:stretch>
        </p:blipFill>
        <p:spPr>
          <a:xfrm>
            <a:off x="4114140" y="873238"/>
            <a:ext cx="3169156" cy="1573650"/>
          </a:xfrm>
          <a:prstGeom prst="rect">
            <a:avLst/>
          </a:prstGeom>
        </p:spPr>
      </p:pic>
      <p:sp>
        <p:nvSpPr>
          <p:cNvPr id="10" name="Title 9">
            <a:extLst>
              <a:ext uri="{FF2B5EF4-FFF2-40B4-BE49-F238E27FC236}">
                <a16:creationId xmlns:a16="http://schemas.microsoft.com/office/drawing/2014/main" id="{15F00DD6-0789-5CA7-17BC-9BCD9BB991EC}"/>
              </a:ext>
            </a:extLst>
          </p:cNvPr>
          <p:cNvSpPr>
            <a:spLocks noGrp="1"/>
          </p:cNvSpPr>
          <p:nvPr>
            <p:ph type="title"/>
          </p:nvPr>
        </p:nvSpPr>
        <p:spPr/>
        <p:txBody>
          <a:bodyPr/>
          <a:lstStyle/>
          <a:p>
            <a:r>
              <a:rPr lang="en-US" b="1" dirty="0"/>
              <a:t>Random Forest </a:t>
            </a:r>
            <a:br>
              <a:rPr lang="en-US" dirty="0"/>
            </a:br>
            <a:r>
              <a:rPr lang="en-US" dirty="0"/>
              <a:t>(of Decision Trees)</a:t>
            </a:r>
          </a:p>
        </p:txBody>
      </p:sp>
      <p:sp>
        <p:nvSpPr>
          <p:cNvPr id="12" name="Text Placeholder 11">
            <a:extLst>
              <a:ext uri="{FF2B5EF4-FFF2-40B4-BE49-F238E27FC236}">
                <a16:creationId xmlns:a16="http://schemas.microsoft.com/office/drawing/2014/main" id="{94AD21D9-8375-2E07-E45C-C5E85B7998AD}"/>
              </a:ext>
            </a:extLst>
          </p:cNvPr>
          <p:cNvSpPr>
            <a:spLocks noGrp="1"/>
          </p:cNvSpPr>
          <p:nvPr>
            <p:ph type="body" sz="half" idx="2"/>
          </p:nvPr>
        </p:nvSpPr>
        <p:spPr/>
        <p:txBody>
          <a:bodyPr/>
          <a:lstStyle/>
          <a:p>
            <a:pPr marL="285750" indent="-285750">
              <a:buClr>
                <a:schemeClr val="bg1"/>
              </a:buClr>
              <a:buFont typeface="Arial" panose="020B0604020202020204" pitchFamily="34" charset="0"/>
              <a:buChar char="•"/>
            </a:pPr>
            <a:r>
              <a:rPr lang="en-US" dirty="0">
                <a:cs typeface="Poppins" pitchFamily="2" charset="77"/>
              </a:rPr>
              <a:t>Create a large set of different trees</a:t>
            </a:r>
          </a:p>
          <a:p>
            <a:pPr marL="285750" indent="-285750">
              <a:buClr>
                <a:schemeClr val="bg1"/>
              </a:buClr>
              <a:buFont typeface="Arial" panose="020B0604020202020204" pitchFamily="34" charset="0"/>
              <a:buChar char="•"/>
            </a:pPr>
            <a:r>
              <a:rPr lang="en-US" dirty="0">
                <a:cs typeface="Poppins" pitchFamily="2" charset="77"/>
              </a:rPr>
              <a:t>Select a random subset of features (bagging) at each node</a:t>
            </a:r>
          </a:p>
          <a:p>
            <a:pPr marL="285750" indent="-285750">
              <a:buClr>
                <a:schemeClr val="bg1"/>
              </a:buClr>
              <a:buFont typeface="Arial" panose="020B0604020202020204" pitchFamily="34" charset="0"/>
              <a:buChar char="•"/>
            </a:pPr>
            <a:r>
              <a:rPr lang="en-US" dirty="0">
                <a:cs typeface="Poppins" pitchFamily="2" charset="77"/>
              </a:rPr>
              <a:t>Choose the most frequent classification or mean regression</a:t>
            </a:r>
          </a:p>
        </p:txBody>
      </p:sp>
    </p:spTree>
    <p:extLst>
      <p:ext uri="{BB962C8B-B14F-4D97-AF65-F5344CB8AC3E}">
        <p14:creationId xmlns:p14="http://schemas.microsoft.com/office/powerpoint/2010/main" val="2343138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C02A9-32BA-E54F-C721-8E73F509AEBD}"/>
              </a:ext>
            </a:extLst>
          </p:cNvPr>
          <p:cNvSpPr>
            <a:spLocks noGrp="1"/>
          </p:cNvSpPr>
          <p:nvPr>
            <p:ph type="title"/>
          </p:nvPr>
        </p:nvSpPr>
        <p:spPr/>
        <p:txBody>
          <a:bodyPr/>
          <a:lstStyle/>
          <a:p>
            <a:r>
              <a:rPr lang="en-US" b="1" dirty="0"/>
              <a:t>Gradient Boosting</a:t>
            </a:r>
          </a:p>
        </p:txBody>
      </p:sp>
      <p:sp>
        <p:nvSpPr>
          <p:cNvPr id="3" name="Content Placeholder 2">
            <a:extLst>
              <a:ext uri="{FF2B5EF4-FFF2-40B4-BE49-F238E27FC236}">
                <a16:creationId xmlns:a16="http://schemas.microsoft.com/office/drawing/2014/main" id="{73F99BAA-FF63-0C37-58C0-01E330511889}"/>
              </a:ext>
            </a:extLst>
          </p:cNvPr>
          <p:cNvSpPr>
            <a:spLocks noGrp="1"/>
          </p:cNvSpPr>
          <p:nvPr>
            <p:ph idx="1"/>
          </p:nvPr>
        </p:nvSpPr>
        <p:spPr/>
        <p:txBody>
          <a:bodyPr/>
          <a:lstStyle/>
          <a:p>
            <a:r>
              <a:rPr lang="en-US" dirty="0"/>
              <a:t>Train a model then determine the error for the training data</a:t>
            </a:r>
          </a:p>
          <a:p>
            <a:r>
              <a:rPr lang="en-US" dirty="0"/>
              <a:t>Train another model on the error and subtract its results from the original error</a:t>
            </a:r>
          </a:p>
          <a:p>
            <a:r>
              <a:rPr lang="en-US" dirty="0"/>
              <a:t>Continue this process to reduce the error</a:t>
            </a:r>
          </a:p>
          <a:p>
            <a:r>
              <a:rPr lang="en-US" dirty="0"/>
              <a:t>Use a validation set to avoid overfitting (regularization)</a:t>
            </a:r>
          </a:p>
        </p:txBody>
      </p:sp>
    </p:spTree>
    <p:extLst>
      <p:ext uri="{BB962C8B-B14F-4D97-AF65-F5344CB8AC3E}">
        <p14:creationId xmlns:p14="http://schemas.microsoft.com/office/powerpoint/2010/main" val="51213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30159E7-EBA1-72ED-D431-352AE882788B}"/>
              </a:ext>
            </a:extLst>
          </p:cNvPr>
          <p:cNvPicPr>
            <a:picLocks noChangeAspect="1"/>
          </p:cNvPicPr>
          <p:nvPr/>
        </p:nvPicPr>
        <p:blipFill>
          <a:blip r:embed="rId2"/>
          <a:stretch>
            <a:fillRect/>
          </a:stretch>
        </p:blipFill>
        <p:spPr>
          <a:xfrm>
            <a:off x="-1" y="0"/>
            <a:ext cx="9309047" cy="971550"/>
          </a:xfrm>
          <a:prstGeom prst="rect">
            <a:avLst/>
          </a:prstGeom>
        </p:spPr>
      </p:pic>
      <p:sp>
        <p:nvSpPr>
          <p:cNvPr id="7" name="TextBox 6">
            <a:extLst>
              <a:ext uri="{FF2B5EF4-FFF2-40B4-BE49-F238E27FC236}">
                <a16:creationId xmlns:a16="http://schemas.microsoft.com/office/drawing/2014/main" id="{A476A2BF-8285-44E9-DF4F-A29831CC35AB}"/>
              </a:ext>
            </a:extLst>
          </p:cNvPr>
          <p:cNvSpPr txBox="1"/>
          <p:nvPr/>
        </p:nvSpPr>
        <p:spPr>
          <a:xfrm>
            <a:off x="246491" y="318052"/>
            <a:ext cx="7609398" cy="338554"/>
          </a:xfrm>
          <a:prstGeom prst="rect">
            <a:avLst/>
          </a:prstGeom>
          <a:noFill/>
        </p:spPr>
        <p:txBody>
          <a:bodyPr wrap="square" rtlCol="0">
            <a:spAutoFit/>
          </a:bodyPr>
          <a:lstStyle/>
          <a:p>
            <a:r>
              <a:rPr lang="en-US" sz="1600" b="1" dirty="0">
                <a:solidFill>
                  <a:schemeClr val="bg1"/>
                </a:solidFill>
                <a:latin typeface="Poppins" pitchFamily="2" charset="77"/>
                <a:cs typeface="Poppins" pitchFamily="2" charset="77"/>
              </a:rPr>
              <a:t>Gradient Boosting: </a:t>
            </a:r>
            <a:r>
              <a:rPr lang="en-US" sz="1600" dirty="0">
                <a:solidFill>
                  <a:schemeClr val="bg1"/>
                </a:solidFill>
                <a:latin typeface="Poppins" pitchFamily="2" charset="77"/>
                <a:cs typeface="Poppins" pitchFamily="2" charset="77"/>
              </a:rPr>
              <a:t>Gradient Boosting Process Visualization</a:t>
            </a:r>
          </a:p>
        </p:txBody>
      </p:sp>
      <p:sp>
        <p:nvSpPr>
          <p:cNvPr id="12" name="TextBox 11">
            <a:extLst>
              <a:ext uri="{FF2B5EF4-FFF2-40B4-BE49-F238E27FC236}">
                <a16:creationId xmlns:a16="http://schemas.microsoft.com/office/drawing/2014/main" id="{B37652A0-C7E0-C867-68FE-9E4B5814597C}"/>
              </a:ext>
            </a:extLst>
          </p:cNvPr>
          <p:cNvSpPr txBox="1"/>
          <p:nvPr/>
        </p:nvSpPr>
        <p:spPr>
          <a:xfrm>
            <a:off x="246491" y="1203904"/>
            <a:ext cx="1267984" cy="839236"/>
          </a:xfrm>
          <a:prstGeom prst="rect">
            <a:avLst/>
          </a:prstGeom>
          <a:noFill/>
        </p:spPr>
        <p:txBody>
          <a:bodyPr wrap="square" rtlCol="0">
            <a:spAutoFit/>
          </a:bodyPr>
          <a:lstStyle/>
          <a:p>
            <a:r>
              <a:rPr lang="en-US" sz="1600" b="1" dirty="0">
                <a:solidFill>
                  <a:schemeClr val="accent1"/>
                </a:solidFill>
                <a:latin typeface="Poppins" pitchFamily="2" charset="77"/>
                <a:cs typeface="Poppins" pitchFamily="2" charset="77"/>
              </a:rPr>
              <a:t>Step 1:</a:t>
            </a:r>
          </a:p>
          <a:p>
            <a:r>
              <a:rPr lang="en-US" sz="1600" dirty="0">
                <a:solidFill>
                  <a:schemeClr val="accent1"/>
                </a:solidFill>
                <a:latin typeface="Poppins" pitchFamily="2" charset="77"/>
                <a:cs typeface="Poppins" pitchFamily="2" charset="77"/>
              </a:rPr>
              <a:t>Initial Prediction</a:t>
            </a:r>
          </a:p>
        </p:txBody>
      </p:sp>
      <p:sp>
        <p:nvSpPr>
          <p:cNvPr id="13" name="TextBox 12">
            <a:extLst>
              <a:ext uri="{FF2B5EF4-FFF2-40B4-BE49-F238E27FC236}">
                <a16:creationId xmlns:a16="http://schemas.microsoft.com/office/drawing/2014/main" id="{B1F0C3A5-FA54-6BA9-26F7-2E535A0DBFCA}"/>
              </a:ext>
            </a:extLst>
          </p:cNvPr>
          <p:cNvSpPr txBox="1"/>
          <p:nvPr/>
        </p:nvSpPr>
        <p:spPr>
          <a:xfrm>
            <a:off x="6127322" y="1203904"/>
            <a:ext cx="1267984" cy="830997"/>
          </a:xfrm>
          <a:prstGeom prst="rect">
            <a:avLst/>
          </a:prstGeom>
          <a:noFill/>
        </p:spPr>
        <p:txBody>
          <a:bodyPr wrap="square" rtlCol="0">
            <a:spAutoFit/>
          </a:bodyPr>
          <a:lstStyle/>
          <a:p>
            <a:r>
              <a:rPr lang="en-US" sz="1600" b="1" dirty="0">
                <a:solidFill>
                  <a:schemeClr val="accent1"/>
                </a:solidFill>
                <a:latin typeface="Poppins" pitchFamily="2" charset="77"/>
                <a:cs typeface="Poppins" pitchFamily="2" charset="77"/>
              </a:rPr>
              <a:t>Step 2:</a:t>
            </a:r>
          </a:p>
          <a:p>
            <a:r>
              <a:rPr lang="en-US" sz="1600" dirty="0">
                <a:solidFill>
                  <a:schemeClr val="accent1"/>
                </a:solidFill>
                <a:latin typeface="Poppins" pitchFamily="2" charset="77"/>
                <a:cs typeface="Poppins" pitchFamily="2" charset="77"/>
              </a:rPr>
              <a:t>Fit Tree to Residuals</a:t>
            </a:r>
          </a:p>
        </p:txBody>
      </p:sp>
      <p:sp>
        <p:nvSpPr>
          <p:cNvPr id="14" name="TextBox 13">
            <a:extLst>
              <a:ext uri="{FF2B5EF4-FFF2-40B4-BE49-F238E27FC236}">
                <a16:creationId xmlns:a16="http://schemas.microsoft.com/office/drawing/2014/main" id="{FCBDCF30-A1DC-63C7-D193-7503F2B1D73C}"/>
              </a:ext>
            </a:extLst>
          </p:cNvPr>
          <p:cNvSpPr txBox="1"/>
          <p:nvPr/>
        </p:nvSpPr>
        <p:spPr>
          <a:xfrm>
            <a:off x="246491" y="3974934"/>
            <a:ext cx="1267984" cy="830997"/>
          </a:xfrm>
          <a:prstGeom prst="rect">
            <a:avLst/>
          </a:prstGeom>
          <a:noFill/>
        </p:spPr>
        <p:txBody>
          <a:bodyPr wrap="square" rtlCol="0">
            <a:spAutoFit/>
          </a:bodyPr>
          <a:lstStyle/>
          <a:p>
            <a:r>
              <a:rPr lang="en-US" sz="1600" b="1" dirty="0">
                <a:solidFill>
                  <a:schemeClr val="accent1"/>
                </a:solidFill>
                <a:latin typeface="Poppins" pitchFamily="2" charset="77"/>
                <a:cs typeface="Poppins" pitchFamily="2" charset="77"/>
              </a:rPr>
              <a:t>Step 3:</a:t>
            </a:r>
          </a:p>
          <a:p>
            <a:r>
              <a:rPr lang="en-US" sz="1600" dirty="0">
                <a:solidFill>
                  <a:schemeClr val="accent1"/>
                </a:solidFill>
                <a:latin typeface="Poppins" pitchFamily="2" charset="77"/>
                <a:cs typeface="Poppins" pitchFamily="2" charset="77"/>
              </a:rPr>
              <a:t>Updated Prediction</a:t>
            </a:r>
          </a:p>
        </p:txBody>
      </p:sp>
      <p:sp>
        <p:nvSpPr>
          <p:cNvPr id="15" name="TextBox 14">
            <a:extLst>
              <a:ext uri="{FF2B5EF4-FFF2-40B4-BE49-F238E27FC236}">
                <a16:creationId xmlns:a16="http://schemas.microsoft.com/office/drawing/2014/main" id="{B574E3D2-9E7D-51C7-A76B-057674D95C8A}"/>
              </a:ext>
            </a:extLst>
          </p:cNvPr>
          <p:cNvSpPr txBox="1"/>
          <p:nvPr/>
        </p:nvSpPr>
        <p:spPr>
          <a:xfrm>
            <a:off x="6127322" y="3974934"/>
            <a:ext cx="1267984" cy="1077218"/>
          </a:xfrm>
          <a:prstGeom prst="rect">
            <a:avLst/>
          </a:prstGeom>
          <a:noFill/>
        </p:spPr>
        <p:txBody>
          <a:bodyPr wrap="square" rtlCol="0">
            <a:spAutoFit/>
          </a:bodyPr>
          <a:lstStyle/>
          <a:p>
            <a:r>
              <a:rPr lang="en-US" sz="1600" b="1" dirty="0">
                <a:solidFill>
                  <a:schemeClr val="accent1"/>
                </a:solidFill>
                <a:latin typeface="Poppins" pitchFamily="2" charset="77"/>
                <a:cs typeface="Poppins" pitchFamily="2" charset="77"/>
              </a:rPr>
              <a:t>Step 4:</a:t>
            </a:r>
          </a:p>
          <a:p>
            <a:r>
              <a:rPr lang="en-US" sz="1600" dirty="0">
                <a:solidFill>
                  <a:schemeClr val="accent1"/>
                </a:solidFill>
                <a:latin typeface="Poppins" pitchFamily="2" charset="77"/>
                <a:cs typeface="Poppins" pitchFamily="2" charset="77"/>
              </a:rPr>
              <a:t>After Multiple Iterations</a:t>
            </a:r>
          </a:p>
        </p:txBody>
      </p:sp>
      <p:pic>
        <p:nvPicPr>
          <p:cNvPr id="3" name="Picture 2">
            <a:extLst>
              <a:ext uri="{FF2B5EF4-FFF2-40B4-BE49-F238E27FC236}">
                <a16:creationId xmlns:a16="http://schemas.microsoft.com/office/drawing/2014/main" id="{3D8157BB-0FB5-6CCF-428A-94490A320AD0}"/>
              </a:ext>
            </a:extLst>
          </p:cNvPr>
          <p:cNvPicPr>
            <a:picLocks noChangeAspect="1"/>
          </p:cNvPicPr>
          <p:nvPr/>
        </p:nvPicPr>
        <p:blipFill>
          <a:blip r:embed="rId3"/>
          <a:stretch>
            <a:fillRect/>
          </a:stretch>
        </p:blipFill>
        <p:spPr>
          <a:xfrm>
            <a:off x="1429407" y="1050907"/>
            <a:ext cx="4247977" cy="2718010"/>
          </a:xfrm>
          <a:prstGeom prst="rect">
            <a:avLst/>
          </a:prstGeom>
        </p:spPr>
      </p:pic>
      <p:pic>
        <p:nvPicPr>
          <p:cNvPr id="4" name="Picture 3">
            <a:extLst>
              <a:ext uri="{FF2B5EF4-FFF2-40B4-BE49-F238E27FC236}">
                <a16:creationId xmlns:a16="http://schemas.microsoft.com/office/drawing/2014/main" id="{63E12AAD-D4C9-BF88-77D7-8F978AAC34BC}"/>
              </a:ext>
            </a:extLst>
          </p:cNvPr>
          <p:cNvPicPr>
            <a:picLocks noChangeAspect="1"/>
          </p:cNvPicPr>
          <p:nvPr/>
        </p:nvPicPr>
        <p:blipFill>
          <a:blip r:embed="rId4"/>
          <a:stretch>
            <a:fillRect/>
          </a:stretch>
        </p:blipFill>
        <p:spPr>
          <a:xfrm>
            <a:off x="7395306" y="1074885"/>
            <a:ext cx="4262201" cy="2694032"/>
          </a:xfrm>
          <a:prstGeom prst="rect">
            <a:avLst/>
          </a:prstGeom>
        </p:spPr>
      </p:pic>
      <p:pic>
        <p:nvPicPr>
          <p:cNvPr id="5" name="Picture 4">
            <a:extLst>
              <a:ext uri="{FF2B5EF4-FFF2-40B4-BE49-F238E27FC236}">
                <a16:creationId xmlns:a16="http://schemas.microsoft.com/office/drawing/2014/main" id="{C56179ED-2AD8-9977-D5EE-479FE9A3AD2F}"/>
              </a:ext>
            </a:extLst>
          </p:cNvPr>
          <p:cNvPicPr>
            <a:picLocks noChangeAspect="1"/>
          </p:cNvPicPr>
          <p:nvPr/>
        </p:nvPicPr>
        <p:blipFill>
          <a:blip r:embed="rId5"/>
          <a:stretch>
            <a:fillRect/>
          </a:stretch>
        </p:blipFill>
        <p:spPr>
          <a:xfrm>
            <a:off x="1415183" y="3884234"/>
            <a:ext cx="4262200" cy="2721296"/>
          </a:xfrm>
          <a:prstGeom prst="rect">
            <a:avLst/>
          </a:prstGeom>
        </p:spPr>
      </p:pic>
      <p:pic>
        <p:nvPicPr>
          <p:cNvPr id="11" name="Picture 10">
            <a:extLst>
              <a:ext uri="{FF2B5EF4-FFF2-40B4-BE49-F238E27FC236}">
                <a16:creationId xmlns:a16="http://schemas.microsoft.com/office/drawing/2014/main" id="{BEEA19C9-4993-CBFA-4270-97CB0719FBAA}"/>
              </a:ext>
            </a:extLst>
          </p:cNvPr>
          <p:cNvPicPr>
            <a:picLocks noChangeAspect="1"/>
          </p:cNvPicPr>
          <p:nvPr/>
        </p:nvPicPr>
        <p:blipFill>
          <a:blip r:embed="rId6"/>
          <a:stretch>
            <a:fillRect/>
          </a:stretch>
        </p:blipFill>
        <p:spPr>
          <a:xfrm>
            <a:off x="7395306" y="3884234"/>
            <a:ext cx="4247977" cy="2729179"/>
          </a:xfrm>
          <a:prstGeom prst="rect">
            <a:avLst/>
          </a:prstGeom>
        </p:spPr>
      </p:pic>
    </p:spTree>
    <p:extLst>
      <p:ext uri="{BB962C8B-B14F-4D97-AF65-F5344CB8AC3E}">
        <p14:creationId xmlns:p14="http://schemas.microsoft.com/office/powerpoint/2010/main" val="4135264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86BD6-BF6E-C062-C27A-AC3199C950F9}"/>
              </a:ext>
            </a:extLst>
          </p:cNvPr>
          <p:cNvSpPr>
            <a:spLocks noGrp="1"/>
          </p:cNvSpPr>
          <p:nvPr>
            <p:ph type="title"/>
          </p:nvPr>
        </p:nvSpPr>
        <p:spPr/>
        <p:txBody>
          <a:bodyPr>
            <a:normAutofit/>
          </a:bodyPr>
          <a:lstStyle/>
          <a:p>
            <a:r>
              <a:rPr lang="en-US" sz="3100" b="1" dirty="0"/>
              <a:t>Improvement in Accuracy</a:t>
            </a:r>
          </a:p>
        </p:txBody>
      </p:sp>
      <p:pic>
        <p:nvPicPr>
          <p:cNvPr id="6" name="Picture 5">
            <a:extLst>
              <a:ext uri="{FF2B5EF4-FFF2-40B4-BE49-F238E27FC236}">
                <a16:creationId xmlns:a16="http://schemas.microsoft.com/office/drawing/2014/main" id="{C3F9ABA8-2023-1FB4-3F9E-F44D544791B9}"/>
              </a:ext>
            </a:extLst>
          </p:cNvPr>
          <p:cNvPicPr>
            <a:picLocks noChangeAspect="1"/>
          </p:cNvPicPr>
          <p:nvPr/>
        </p:nvPicPr>
        <p:blipFill>
          <a:blip r:embed="rId2"/>
          <a:stretch>
            <a:fillRect/>
          </a:stretch>
        </p:blipFill>
        <p:spPr>
          <a:xfrm>
            <a:off x="4111389" y="1332384"/>
            <a:ext cx="6501162" cy="5202927"/>
          </a:xfrm>
          <a:prstGeom prst="rect">
            <a:avLst/>
          </a:prstGeom>
        </p:spPr>
      </p:pic>
      <p:sp>
        <p:nvSpPr>
          <p:cNvPr id="8" name="TextBox 7">
            <a:extLst>
              <a:ext uri="{FF2B5EF4-FFF2-40B4-BE49-F238E27FC236}">
                <a16:creationId xmlns:a16="http://schemas.microsoft.com/office/drawing/2014/main" id="{57BB0223-C106-0EFC-F58B-9E4BAE4CB547}"/>
              </a:ext>
            </a:extLst>
          </p:cNvPr>
          <p:cNvSpPr txBox="1"/>
          <p:nvPr/>
        </p:nvSpPr>
        <p:spPr>
          <a:xfrm>
            <a:off x="4443663" y="673767"/>
            <a:ext cx="6464968" cy="369332"/>
          </a:xfrm>
          <a:prstGeom prst="rect">
            <a:avLst/>
          </a:prstGeom>
          <a:noFill/>
        </p:spPr>
        <p:txBody>
          <a:bodyPr wrap="square" rtlCol="0">
            <a:spAutoFit/>
          </a:bodyPr>
          <a:lstStyle/>
          <a:p>
            <a:pPr algn="ctr"/>
            <a:r>
              <a:rPr lang="en-US" b="1" dirty="0">
                <a:solidFill>
                  <a:schemeClr val="accent1"/>
                </a:solidFill>
                <a:latin typeface="Poppins" pitchFamily="2" charset="77"/>
                <a:cs typeface="Poppins" pitchFamily="2" charset="77"/>
              </a:rPr>
              <a:t>Learning Progression: Number of Decision Trees</a:t>
            </a:r>
          </a:p>
        </p:txBody>
      </p:sp>
    </p:spTree>
    <p:extLst>
      <p:ext uri="{BB962C8B-B14F-4D97-AF65-F5344CB8AC3E}">
        <p14:creationId xmlns:p14="http://schemas.microsoft.com/office/powerpoint/2010/main" val="3360102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40D34-5170-CFD1-51D6-B1CD97949CDC}"/>
              </a:ext>
            </a:extLst>
          </p:cNvPr>
          <p:cNvSpPr>
            <a:spLocks noGrp="1"/>
          </p:cNvSpPr>
          <p:nvPr>
            <p:ph type="title"/>
          </p:nvPr>
        </p:nvSpPr>
        <p:spPr/>
        <p:txBody>
          <a:bodyPr/>
          <a:lstStyle/>
          <a:p>
            <a:r>
              <a:rPr lang="en-CA" b="1" dirty="0"/>
              <a:t>Classical Machine Learning </a:t>
            </a:r>
            <a:br>
              <a:rPr lang="en-CA" b="1" dirty="0"/>
            </a:br>
            <a:r>
              <a:rPr lang="en-CA" b="1" dirty="0"/>
              <a:t>- </a:t>
            </a:r>
            <a:r>
              <a:rPr lang="en-US" dirty="0"/>
              <a:t>Extreme Gradient Boosting</a:t>
            </a:r>
          </a:p>
        </p:txBody>
      </p:sp>
      <p:sp>
        <p:nvSpPr>
          <p:cNvPr id="3" name="Content Placeholder 2">
            <a:extLst>
              <a:ext uri="{FF2B5EF4-FFF2-40B4-BE49-F238E27FC236}">
                <a16:creationId xmlns:a16="http://schemas.microsoft.com/office/drawing/2014/main" id="{CCBA8391-918B-C073-0C27-9DB7059AFB9E}"/>
              </a:ext>
            </a:extLst>
          </p:cNvPr>
          <p:cNvSpPr>
            <a:spLocks noGrp="1"/>
          </p:cNvSpPr>
          <p:nvPr>
            <p:ph idx="1"/>
          </p:nvPr>
        </p:nvSpPr>
        <p:spPr/>
        <p:txBody>
          <a:bodyPr/>
          <a:lstStyle/>
          <a:p>
            <a:r>
              <a:rPr lang="en-CA" dirty="0" err="1"/>
              <a:t>XGBoost</a:t>
            </a:r>
            <a:r>
              <a:rPr lang="en-CA" dirty="0"/>
              <a:t> is a supervised learning, decision-tree based ensemble model</a:t>
            </a:r>
          </a:p>
          <a:p>
            <a:r>
              <a:rPr lang="en-CA" dirty="0"/>
              <a:t>It combines the results of multiple decision trees</a:t>
            </a:r>
          </a:p>
          <a:p>
            <a:r>
              <a:rPr lang="en-CA" dirty="0" err="1"/>
              <a:t>XGBoost</a:t>
            </a:r>
            <a:r>
              <a:rPr lang="en-CA" dirty="0"/>
              <a:t> uses gradient boosting to iteratively build trees that minimize its loss function</a:t>
            </a:r>
          </a:p>
          <a:p>
            <a:r>
              <a:rPr lang="en-CA" dirty="0"/>
              <a:t>It includes regularization (parameter value limits) to prevent overfitting</a:t>
            </a:r>
          </a:p>
          <a:p>
            <a:r>
              <a:rPr lang="en-US" dirty="0"/>
              <a:t>Designed for large, complicated data sets</a:t>
            </a:r>
          </a:p>
        </p:txBody>
      </p:sp>
    </p:spTree>
    <p:extLst>
      <p:ext uri="{BB962C8B-B14F-4D97-AF65-F5344CB8AC3E}">
        <p14:creationId xmlns:p14="http://schemas.microsoft.com/office/powerpoint/2010/main" val="3914394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E07E5-80BA-3576-6541-F59CEF0C067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0761188-70F8-2061-FE73-4EB4A8CA90EF}"/>
              </a:ext>
            </a:extLst>
          </p:cNvPr>
          <p:cNvPicPr>
            <a:picLocks noChangeAspect="1"/>
          </p:cNvPicPr>
          <p:nvPr/>
        </p:nvPicPr>
        <p:blipFill>
          <a:blip r:embed="rId2"/>
          <a:srcRect/>
          <a:stretch/>
        </p:blipFill>
        <p:spPr>
          <a:xfrm>
            <a:off x="3896854" y="711576"/>
            <a:ext cx="6987856" cy="5590285"/>
          </a:xfrm>
          <a:prstGeom prst="rect">
            <a:avLst/>
          </a:prstGeom>
        </p:spPr>
      </p:pic>
      <p:sp>
        <p:nvSpPr>
          <p:cNvPr id="2" name="Title 1">
            <a:extLst>
              <a:ext uri="{FF2B5EF4-FFF2-40B4-BE49-F238E27FC236}">
                <a16:creationId xmlns:a16="http://schemas.microsoft.com/office/drawing/2014/main" id="{53E24382-7BB9-E1C0-56E1-2D0E694B525F}"/>
              </a:ext>
            </a:extLst>
          </p:cNvPr>
          <p:cNvSpPr>
            <a:spLocks noGrp="1"/>
          </p:cNvSpPr>
          <p:nvPr>
            <p:ph type="title"/>
          </p:nvPr>
        </p:nvSpPr>
        <p:spPr/>
        <p:txBody>
          <a:bodyPr/>
          <a:lstStyle/>
          <a:p>
            <a:r>
              <a:rPr lang="en-US" b="1" dirty="0"/>
              <a:t>K-Nearest </a:t>
            </a:r>
            <a:r>
              <a:rPr lang="en-US" b="1" dirty="0" err="1"/>
              <a:t>Neighbours</a:t>
            </a:r>
            <a:r>
              <a:rPr lang="en-US" b="1" dirty="0"/>
              <a:t> (KNN)</a:t>
            </a:r>
          </a:p>
        </p:txBody>
      </p:sp>
    </p:spTree>
    <p:extLst>
      <p:ext uri="{BB962C8B-B14F-4D97-AF65-F5344CB8AC3E}">
        <p14:creationId xmlns:p14="http://schemas.microsoft.com/office/powerpoint/2010/main" val="2458159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5A93C-B4B5-FFB9-A000-D28AC7BA10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696B85-C78B-CD1E-5079-D0C298DE6C7F}"/>
              </a:ext>
            </a:extLst>
          </p:cNvPr>
          <p:cNvSpPr>
            <a:spLocks noGrp="1"/>
          </p:cNvSpPr>
          <p:nvPr>
            <p:ph type="title"/>
          </p:nvPr>
        </p:nvSpPr>
        <p:spPr/>
        <p:txBody>
          <a:bodyPr/>
          <a:lstStyle/>
          <a:p>
            <a:r>
              <a:rPr lang="en-US" b="1" dirty="0"/>
              <a:t>Support Vector Machines (SVM)</a:t>
            </a:r>
          </a:p>
        </p:txBody>
      </p:sp>
      <p:pic>
        <p:nvPicPr>
          <p:cNvPr id="5" name="Picture 4" descr="slide42_ecg_svm.png"/>
          <p:cNvPicPr>
            <a:picLocks noChangeAspect="1"/>
          </p:cNvPicPr>
          <p:nvPr/>
        </p:nvPicPr>
        <p:blipFill>
          <a:blip r:embed="rId4"/>
          <a:stretch>
            <a:fillRect/>
          </a:stretch>
        </p:blipFill>
        <p:spPr>
          <a:xfrm>
            <a:off x="4087417" y="1106905"/>
            <a:ext cx="6923685" cy="5248902"/>
          </a:xfrm>
          <a:prstGeom prst="rect">
            <a:avLst/>
          </a:prstGeom>
        </p:spPr>
      </p:pic>
      <p:sp>
        <p:nvSpPr>
          <p:cNvPr id="3" name="TextBox 2">
            <a:extLst>
              <a:ext uri="{FF2B5EF4-FFF2-40B4-BE49-F238E27FC236}">
                <a16:creationId xmlns:a16="http://schemas.microsoft.com/office/drawing/2014/main" id="{B7B6184E-54BB-905B-C559-61413B45BAE8}"/>
              </a:ext>
            </a:extLst>
          </p:cNvPr>
          <p:cNvSpPr txBox="1"/>
          <p:nvPr/>
        </p:nvSpPr>
        <p:spPr>
          <a:xfrm>
            <a:off x="4331369" y="593556"/>
            <a:ext cx="6464968" cy="369332"/>
          </a:xfrm>
          <a:prstGeom prst="rect">
            <a:avLst/>
          </a:prstGeom>
          <a:noFill/>
        </p:spPr>
        <p:txBody>
          <a:bodyPr wrap="square" rtlCol="0">
            <a:spAutoFit/>
          </a:bodyPr>
          <a:lstStyle/>
          <a:p>
            <a:pPr algn="ctr"/>
            <a:r>
              <a:rPr lang="en-US" b="1" dirty="0">
                <a:solidFill>
                  <a:schemeClr val="accent1"/>
                </a:solidFill>
                <a:latin typeface="Poppins" pitchFamily="2" charset="77"/>
                <a:cs typeface="Poppins" pitchFamily="2" charset="77"/>
              </a:rPr>
              <a:t>Linear SVM: Rate Deviation vs QRS Duration</a:t>
            </a:r>
          </a:p>
        </p:txBody>
      </p:sp>
    </p:spTree>
    <p:extLst>
      <p:ext uri="{BB962C8B-B14F-4D97-AF65-F5344CB8AC3E}">
        <p14:creationId xmlns:p14="http://schemas.microsoft.com/office/powerpoint/2010/main" val="3233744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BFDCCE-C33A-6D2E-D34C-83BCEA326FBF}"/>
              </a:ext>
            </a:extLst>
          </p:cNvPr>
          <p:cNvPicPr>
            <a:picLocks noChangeAspect="1"/>
          </p:cNvPicPr>
          <p:nvPr/>
        </p:nvPicPr>
        <p:blipFill>
          <a:blip r:embed="rId2"/>
          <a:stretch>
            <a:fillRect/>
          </a:stretch>
        </p:blipFill>
        <p:spPr>
          <a:xfrm>
            <a:off x="4235268" y="759081"/>
            <a:ext cx="6529343" cy="5339838"/>
          </a:xfrm>
          <a:prstGeom prst="rect">
            <a:avLst/>
          </a:prstGeom>
        </p:spPr>
      </p:pic>
      <p:sp>
        <p:nvSpPr>
          <p:cNvPr id="6" name="Title 5">
            <a:extLst>
              <a:ext uri="{FF2B5EF4-FFF2-40B4-BE49-F238E27FC236}">
                <a16:creationId xmlns:a16="http://schemas.microsoft.com/office/drawing/2014/main" id="{647D2A4F-B450-40E2-40D4-DC7EC032CD30}"/>
              </a:ext>
            </a:extLst>
          </p:cNvPr>
          <p:cNvSpPr>
            <a:spLocks noGrp="1"/>
          </p:cNvSpPr>
          <p:nvPr>
            <p:ph type="title"/>
          </p:nvPr>
        </p:nvSpPr>
        <p:spPr/>
        <p:txBody>
          <a:bodyPr/>
          <a:lstStyle/>
          <a:p>
            <a:r>
              <a:rPr lang="en-US" b="1" dirty="0"/>
              <a:t>Principal Component Analysis</a:t>
            </a:r>
          </a:p>
        </p:txBody>
      </p:sp>
      <p:sp>
        <p:nvSpPr>
          <p:cNvPr id="8" name="Text Placeholder 7">
            <a:extLst>
              <a:ext uri="{FF2B5EF4-FFF2-40B4-BE49-F238E27FC236}">
                <a16:creationId xmlns:a16="http://schemas.microsoft.com/office/drawing/2014/main" id="{DB190691-B1AE-F40F-BD77-DFA0D7AFF223}"/>
              </a:ext>
            </a:extLst>
          </p:cNvPr>
          <p:cNvSpPr>
            <a:spLocks noGrp="1"/>
          </p:cNvSpPr>
          <p:nvPr>
            <p:ph type="body" sz="half" idx="2"/>
          </p:nvPr>
        </p:nvSpPr>
        <p:spPr/>
        <p:txBody>
          <a:bodyPr/>
          <a:lstStyle/>
          <a:p>
            <a:r>
              <a:rPr lang="en-CA" dirty="0"/>
              <a:t>Novembre, John et al. </a:t>
            </a:r>
            <a:br>
              <a:rPr lang="en-CA" dirty="0"/>
            </a:br>
            <a:r>
              <a:rPr lang="en-CA" dirty="0"/>
              <a:t>“Genes mirror geography within Europe.” </a:t>
            </a:r>
            <a:r>
              <a:rPr lang="en-CA" i="1" dirty="0"/>
              <a:t>Nature</a:t>
            </a:r>
            <a:r>
              <a:rPr lang="en-CA" dirty="0"/>
              <a:t> vol. 456,7218 (2008): 98-101. doi:10.1038/nature07331</a:t>
            </a:r>
            <a:endParaRPr lang="en-US" kern="0" spc="-30" dirty="0">
              <a:solidFill>
                <a:srgbClr val="009EE2"/>
              </a:solidFill>
              <a:latin typeface="Arial"/>
              <a:cs typeface="Arial"/>
            </a:endParaRPr>
          </a:p>
        </p:txBody>
      </p:sp>
    </p:spTree>
    <p:extLst>
      <p:ext uri="{BB962C8B-B14F-4D97-AF65-F5344CB8AC3E}">
        <p14:creationId xmlns:p14="http://schemas.microsoft.com/office/powerpoint/2010/main" val="1913050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403A2-C7DE-FE04-85D7-8C57437EFBE7}"/>
              </a:ext>
            </a:extLst>
          </p:cNvPr>
          <p:cNvSpPr>
            <a:spLocks noGrp="1"/>
          </p:cNvSpPr>
          <p:nvPr>
            <p:ph type="title"/>
          </p:nvPr>
        </p:nvSpPr>
        <p:spPr/>
        <p:txBody>
          <a:bodyPr/>
          <a:lstStyle/>
          <a:p>
            <a:r>
              <a:rPr lang="en-US" b="1" dirty="0"/>
              <a:t>Quality Data</a:t>
            </a:r>
          </a:p>
        </p:txBody>
      </p:sp>
      <p:sp>
        <p:nvSpPr>
          <p:cNvPr id="3" name="Content Placeholder 2">
            <a:extLst>
              <a:ext uri="{FF2B5EF4-FFF2-40B4-BE49-F238E27FC236}">
                <a16:creationId xmlns:a16="http://schemas.microsoft.com/office/drawing/2014/main" id="{58D1839C-7361-B56A-85C4-C7DC44E5A6AE}"/>
              </a:ext>
            </a:extLst>
          </p:cNvPr>
          <p:cNvSpPr>
            <a:spLocks noGrp="1"/>
          </p:cNvSpPr>
          <p:nvPr>
            <p:ph idx="1"/>
          </p:nvPr>
        </p:nvSpPr>
        <p:spPr/>
        <p:txBody>
          <a:bodyPr>
            <a:normAutofit/>
          </a:bodyPr>
          <a:lstStyle/>
          <a:p>
            <a:r>
              <a:rPr lang="en-CA" dirty="0"/>
              <a:t>The goal of training a machine learning model is to learn the patterns in the training data that will allow it to provide useful outputs </a:t>
            </a:r>
          </a:p>
          <a:p>
            <a:pPr lvl="1"/>
            <a:r>
              <a:rPr lang="en-CA" sz="2000" dirty="0"/>
              <a:t>when tested</a:t>
            </a:r>
          </a:p>
          <a:p>
            <a:pPr lvl="1"/>
            <a:r>
              <a:rPr lang="en-CA" sz="2000" dirty="0"/>
              <a:t>when used with new data</a:t>
            </a:r>
          </a:p>
          <a:p>
            <a:r>
              <a:rPr lang="en-CA" dirty="0"/>
              <a:t>It is important that the training data contain a broad set of information and patterns and, if possible, that it contain a minimum amount of random noise</a:t>
            </a:r>
          </a:p>
          <a:p>
            <a:r>
              <a:rPr lang="en-CA" dirty="0"/>
              <a:t>Knowledge of the domain is used to choose the set of features needed to provide sufficient information for the training</a:t>
            </a:r>
          </a:p>
          <a:p>
            <a:r>
              <a:rPr lang="en-CA" dirty="0"/>
              <a:t>And the information should be correct (few errors)</a:t>
            </a:r>
          </a:p>
          <a:p>
            <a:r>
              <a:rPr lang="en-CA" dirty="0"/>
              <a:t>For example, if the training data set contains labelled output, care should be taken that the labels are correct</a:t>
            </a:r>
          </a:p>
        </p:txBody>
      </p:sp>
    </p:spTree>
    <p:extLst>
      <p:ext uri="{BB962C8B-B14F-4D97-AF65-F5344CB8AC3E}">
        <p14:creationId xmlns:p14="http://schemas.microsoft.com/office/powerpoint/2010/main" val="15878822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41C52-C2FA-DB6D-A847-0A464D2DAD71}"/>
              </a:ext>
            </a:extLst>
          </p:cNvPr>
          <p:cNvSpPr>
            <a:spLocks noGrp="1"/>
          </p:cNvSpPr>
          <p:nvPr>
            <p:ph type="title"/>
          </p:nvPr>
        </p:nvSpPr>
        <p:spPr/>
        <p:txBody>
          <a:bodyPr/>
          <a:lstStyle/>
          <a:p>
            <a:r>
              <a:rPr lang="en-US" b="1" dirty="0"/>
              <a:t>Data Availability</a:t>
            </a:r>
          </a:p>
        </p:txBody>
      </p:sp>
      <p:sp>
        <p:nvSpPr>
          <p:cNvPr id="3" name="Content Placeholder 2">
            <a:extLst>
              <a:ext uri="{FF2B5EF4-FFF2-40B4-BE49-F238E27FC236}">
                <a16:creationId xmlns:a16="http://schemas.microsoft.com/office/drawing/2014/main" id="{8EAEAC7D-2489-E35A-B1F5-A2CCF167F5DD}"/>
              </a:ext>
            </a:extLst>
          </p:cNvPr>
          <p:cNvSpPr>
            <a:spLocks noGrp="1"/>
          </p:cNvSpPr>
          <p:nvPr>
            <p:ph sz="half" idx="1"/>
          </p:nvPr>
        </p:nvSpPr>
        <p:spPr/>
        <p:txBody>
          <a:bodyPr/>
          <a:lstStyle/>
          <a:p>
            <a:r>
              <a:rPr lang="en-CA" dirty="0"/>
              <a:t>When using historical data there is the danger of selecting features that contain information not available when the model is used. For example, consider the goal of predicting length of stay for an admission. </a:t>
            </a:r>
          </a:p>
        </p:txBody>
      </p:sp>
      <p:sp>
        <p:nvSpPr>
          <p:cNvPr id="4" name="Content Placeholder 3">
            <a:extLst>
              <a:ext uri="{FF2B5EF4-FFF2-40B4-BE49-F238E27FC236}">
                <a16:creationId xmlns:a16="http://schemas.microsoft.com/office/drawing/2014/main" id="{611097A3-1DF0-5FE3-8A9F-2C230345BF25}"/>
              </a:ext>
            </a:extLst>
          </p:cNvPr>
          <p:cNvSpPr>
            <a:spLocks noGrp="1"/>
          </p:cNvSpPr>
          <p:nvPr>
            <p:ph sz="half" idx="2"/>
          </p:nvPr>
        </p:nvSpPr>
        <p:spPr/>
        <p:txBody>
          <a:bodyPr/>
          <a:lstStyle/>
          <a:p>
            <a:r>
              <a:rPr lang="en-CA" dirty="0">
                <a:solidFill>
                  <a:schemeClr val="accent2"/>
                </a:solidFill>
              </a:rPr>
              <a:t>Not available</a:t>
            </a:r>
          </a:p>
          <a:p>
            <a:pPr lvl="1"/>
            <a:r>
              <a:rPr lang="en-CA" dirty="0"/>
              <a:t>Actual complications</a:t>
            </a:r>
          </a:p>
          <a:p>
            <a:pPr lvl="1"/>
            <a:r>
              <a:rPr lang="en-CA" dirty="0"/>
              <a:t>Discharge diagnosis</a:t>
            </a:r>
          </a:p>
          <a:p>
            <a:pPr lvl="1"/>
            <a:r>
              <a:rPr lang="en-CA" dirty="0"/>
              <a:t>Rehab bed wait</a:t>
            </a:r>
          </a:p>
          <a:p>
            <a:pPr lvl="1"/>
            <a:r>
              <a:rPr lang="en-CA" dirty="0"/>
              <a:t>Procedures performed</a:t>
            </a:r>
          </a:p>
          <a:p>
            <a:r>
              <a:rPr lang="en-CA" dirty="0">
                <a:solidFill>
                  <a:schemeClr val="accent2"/>
                </a:solidFill>
              </a:rPr>
              <a:t>Available</a:t>
            </a:r>
          </a:p>
          <a:p>
            <a:pPr lvl="1"/>
            <a:r>
              <a:rPr lang="en-CA" dirty="0"/>
              <a:t>Presenting complaint</a:t>
            </a:r>
          </a:p>
          <a:p>
            <a:pPr lvl="1"/>
            <a:r>
              <a:rPr lang="en-CA" dirty="0"/>
              <a:t>Admission severity</a:t>
            </a:r>
          </a:p>
          <a:p>
            <a:pPr lvl="1"/>
            <a:r>
              <a:rPr lang="en-CA" dirty="0"/>
              <a:t>Planned procedure</a:t>
            </a:r>
          </a:p>
          <a:p>
            <a:pPr lvl="1"/>
            <a:r>
              <a:rPr lang="en-CA" dirty="0"/>
              <a:t>Prior admission date</a:t>
            </a:r>
          </a:p>
        </p:txBody>
      </p:sp>
    </p:spTree>
    <p:extLst>
      <p:ext uri="{BB962C8B-B14F-4D97-AF65-F5344CB8AC3E}">
        <p14:creationId xmlns:p14="http://schemas.microsoft.com/office/powerpoint/2010/main" val="2680901898"/>
      </p:ext>
    </p:extLst>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Label Leakage</a:t>
            </a:r>
          </a:p>
        </p:txBody>
      </p:sp>
      <p:sp>
        <p:nvSpPr>
          <p:cNvPr id="3" name="Content Placeholder 2"/>
          <p:cNvSpPr>
            <a:spLocks noGrp="1"/>
          </p:cNvSpPr>
          <p:nvPr>
            <p:ph idx="1"/>
          </p:nvPr>
        </p:nvSpPr>
        <p:spPr/>
        <p:txBody>
          <a:bodyPr/>
          <a:lstStyle/>
          <a:p>
            <a:pPr/>
            <a:r>
              <a:t>A model that looks excellent in testing is often reading the answer rather than predicting it.</a:t>
            </a:r>
          </a:p>
          <a:p>
            <a:pPr/>
            <a:r>
              <a:t>Example: predicting sepsis from a feature set that includes the antibiotic order.</a:t>
            </a:r>
          </a:p>
          <a:p>
            <a:pPr lvl="1"/>
            <a:r>
              <a:t>The order exists because a clinician already suspected sepsis. The model learned the clinician, not the disease.</a:t>
            </a:r>
          </a:p>
          <a:p>
            <a:pPr/>
            <a:r>
              <a:t>Common leaks in hospital data:</a:t>
            </a:r>
          </a:p>
          <a:p>
            <a:pPr lvl="1"/>
            <a:r>
              <a:t>Discharge diagnosis codes, assigned after the episode ended</a:t>
            </a:r>
          </a:p>
          <a:p>
            <a:pPr lvl="1"/>
            <a:r>
              <a:t>Transfer to critical care, which is a consequence rather than a predictor</a:t>
            </a:r>
          </a:p>
          <a:p>
            <a:pPr lvl="1"/>
            <a:r>
              <a:t>A test that is only ordered when the diagnosis is already suspected</a:t>
            </a:r>
          </a:p>
          <a:p>
            <a:pPr/>
            <a:r>
              <a:t>The test to apply: could this value have been recorded before the moment the prediction is made?</a:t>
            </a:r>
          </a:p>
          <a:p>
            <a:pPr/>
            <a:r>
              <a:t>Leakage does not appear as an error. It appears as suspiciously good performance.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Missing Data Is a Clinical Decision</a:t>
            </a:r>
          </a:p>
        </p:txBody>
      </p:sp>
      <p:sp>
        <p:nvSpPr>
          <p:cNvPr id="3" name="Content Placeholder 2"/>
          <p:cNvSpPr>
            <a:spLocks noGrp="1"/>
          </p:cNvSpPr>
          <p:nvPr>
            <p:ph idx="1"/>
          </p:nvPr>
        </p:nvSpPr>
        <p:spPr/>
        <p:txBody>
          <a:bodyPr/>
          <a:lstStyle/>
          <a:p>
            <a:pPr/>
            <a:r>
              <a:t>In most datasets a missing value is an accident. In clinical data it is usually a decision.</a:t>
            </a:r>
          </a:p>
          <a:p>
            <a:pPr/>
            <a:r>
              <a:t>A test that was not ordered tells you the clinician was not concerned.</a:t>
            </a:r>
          </a:p>
          <a:p>
            <a:pPr/>
            <a:r>
              <a:t>A patient with no overnight observations was probably well enough to be left asleep.</a:t>
            </a:r>
          </a:p>
          <a:p>
            <a:pPr/>
            <a:r>
              <a:t>Filling the gap with the column mean erases that signal, and can reverse it.</a:t>
            </a:r>
          </a:p>
          <a:p>
            <a:pPr/>
            <a:r>
              <a:t>Practical approach:</a:t>
            </a:r>
          </a:p>
          <a:p>
            <a:pPr lvl="1"/>
            <a:r>
              <a:t>Keep a missingness indicator alongside the imputed value</a:t>
            </a:r>
          </a:p>
          <a:p>
            <a:pPr lvl="1"/>
            <a:r>
              <a:t>Ask why the gap exists before deciding how to fill it</a:t>
            </a:r>
          </a:p>
          <a:p>
            <a:pPr/>
            <a:r>
              <a:t>The matching trap: a model that learns 'many tests ordered' means 'seriously ill' will fail in a unit that orders those tests routinely.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EEE74-601C-A18F-771D-726144A17706}"/>
              </a:ext>
            </a:extLst>
          </p:cNvPr>
          <p:cNvSpPr>
            <a:spLocks noGrp="1"/>
          </p:cNvSpPr>
          <p:nvPr>
            <p:ph type="title"/>
          </p:nvPr>
        </p:nvSpPr>
        <p:spPr/>
        <p:txBody>
          <a:bodyPr/>
          <a:lstStyle/>
          <a:p>
            <a:r>
              <a:rPr lang="en-US" b="1" dirty="0"/>
              <a:t>Overfitting vs Underfitting</a:t>
            </a:r>
          </a:p>
        </p:txBody>
      </p:sp>
      <p:sp>
        <p:nvSpPr>
          <p:cNvPr id="3" name="Content Placeholder 2">
            <a:extLst>
              <a:ext uri="{FF2B5EF4-FFF2-40B4-BE49-F238E27FC236}">
                <a16:creationId xmlns:a16="http://schemas.microsoft.com/office/drawing/2014/main" id="{C8C0E4A8-94BA-BCF0-192A-DAFF0CC92BEE}"/>
              </a:ext>
            </a:extLst>
          </p:cNvPr>
          <p:cNvSpPr>
            <a:spLocks noGrp="1"/>
          </p:cNvSpPr>
          <p:nvPr>
            <p:ph idx="1"/>
          </p:nvPr>
        </p:nvSpPr>
        <p:spPr/>
        <p:txBody>
          <a:bodyPr>
            <a:normAutofit lnSpcReduction="10000"/>
          </a:bodyPr>
          <a:lstStyle/>
          <a:p>
            <a:r>
              <a:rPr lang="en-CA" dirty="0"/>
              <a:t>The data used to train a machine learning model will contain both information and random noise</a:t>
            </a:r>
          </a:p>
          <a:p>
            <a:r>
              <a:rPr lang="en-CA" dirty="0"/>
              <a:t>The data used to test the model will contain the same information but different random noise</a:t>
            </a:r>
          </a:p>
          <a:p>
            <a:r>
              <a:rPr lang="en-CA" dirty="0"/>
              <a:t>We want the model to learn the information and ignore the noise</a:t>
            </a:r>
          </a:p>
          <a:p>
            <a:r>
              <a:rPr lang="en-CA" dirty="0"/>
              <a:t>If the training is insufficient and it does not use all the information, we describe it as underfit </a:t>
            </a:r>
          </a:p>
          <a:p>
            <a:r>
              <a:rPr lang="en-CA" dirty="0"/>
              <a:t>A model that is underfit will generally not perform well when tested using the test data</a:t>
            </a:r>
          </a:p>
          <a:p>
            <a:r>
              <a:rPr lang="en-CA" dirty="0"/>
              <a:t>Similarly, if the model is over trained it will learn both the information and the noise in the training data </a:t>
            </a:r>
          </a:p>
          <a:p>
            <a:r>
              <a:rPr lang="en-CA" dirty="0"/>
              <a:t>Again, it will perform poorly when tested since although it encounters the same information in the test data, it will encounter different noise</a:t>
            </a:r>
            <a:endParaRPr lang="en-US" dirty="0"/>
          </a:p>
        </p:txBody>
      </p:sp>
    </p:spTree>
    <p:extLst>
      <p:ext uri="{BB962C8B-B14F-4D97-AF65-F5344CB8AC3E}">
        <p14:creationId xmlns:p14="http://schemas.microsoft.com/office/powerpoint/2010/main" val="3960495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3B22F-EBF0-4EC3-890E-5D0AAE654C82}"/>
              </a:ext>
            </a:extLst>
          </p:cNvPr>
          <p:cNvSpPr>
            <a:spLocks noGrp="1"/>
          </p:cNvSpPr>
          <p:nvPr>
            <p:ph type="title"/>
          </p:nvPr>
        </p:nvSpPr>
        <p:spPr/>
        <p:txBody>
          <a:bodyPr>
            <a:normAutofit/>
          </a:bodyPr>
          <a:lstStyle/>
          <a:p>
            <a:r>
              <a:rPr lang="en-US" sz="3000" b="1" dirty="0"/>
              <a:t>Regularization</a:t>
            </a:r>
          </a:p>
        </p:txBody>
      </p:sp>
      <p:sp>
        <p:nvSpPr>
          <p:cNvPr id="3" name="Content Placeholder 2">
            <a:extLst>
              <a:ext uri="{FF2B5EF4-FFF2-40B4-BE49-F238E27FC236}">
                <a16:creationId xmlns:a16="http://schemas.microsoft.com/office/drawing/2014/main" id="{01EF8BE2-03D1-0961-2FEA-F42245F767E8}"/>
              </a:ext>
            </a:extLst>
          </p:cNvPr>
          <p:cNvSpPr>
            <a:spLocks noGrp="1"/>
          </p:cNvSpPr>
          <p:nvPr>
            <p:ph idx="1"/>
          </p:nvPr>
        </p:nvSpPr>
        <p:spPr/>
        <p:txBody>
          <a:bodyPr/>
          <a:lstStyle/>
          <a:p>
            <a:r>
              <a:rPr lang="en-CA" dirty="0"/>
              <a:t>In machine learning we use techniques like regularization and the use of a validation data set during training to avoid overfitting </a:t>
            </a:r>
          </a:p>
          <a:p>
            <a:r>
              <a:rPr lang="en-CA" dirty="0"/>
              <a:t>Some machine learning models are so capable that they can essentially memorize every sample in a training data set</a:t>
            </a:r>
          </a:p>
          <a:p>
            <a:r>
              <a:rPr lang="en-CA" dirty="0"/>
              <a:t>This will obviously produce exceptional results while training, but it will do poorly during testing</a:t>
            </a:r>
          </a:p>
          <a:p>
            <a:r>
              <a:rPr lang="en-CA" dirty="0"/>
              <a:t>One way to avoid memorization and overfitting is to use regularization to add a penalty to the loss value if the parameter (coefficient) values are large</a:t>
            </a:r>
          </a:p>
          <a:p>
            <a:r>
              <a:rPr lang="en-CA" dirty="0"/>
              <a:t>This encourages the model to “keep it simple”</a:t>
            </a:r>
          </a:p>
        </p:txBody>
      </p:sp>
    </p:spTree>
    <p:extLst>
      <p:ext uri="{BB962C8B-B14F-4D97-AF65-F5344CB8AC3E}">
        <p14:creationId xmlns:p14="http://schemas.microsoft.com/office/powerpoint/2010/main" val="3995657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9E222C21-6405-3E9E-D4AD-7CA62644CB71}"/>
              </a:ext>
            </a:extLst>
          </p:cNvPr>
          <p:cNvPicPr>
            <a:picLocks noChangeAspect="1"/>
          </p:cNvPicPr>
          <p:nvPr/>
        </p:nvPicPr>
        <p:blipFill>
          <a:blip r:embed="rId2"/>
          <a:stretch>
            <a:fillRect/>
          </a:stretch>
        </p:blipFill>
        <p:spPr>
          <a:xfrm>
            <a:off x="4210383" y="825072"/>
            <a:ext cx="6618037" cy="5252881"/>
          </a:xfrm>
          <a:prstGeom prst="rect">
            <a:avLst/>
          </a:prstGeom>
        </p:spPr>
      </p:pic>
      <p:sp>
        <p:nvSpPr>
          <p:cNvPr id="2" name="Title 1">
            <a:extLst>
              <a:ext uri="{FF2B5EF4-FFF2-40B4-BE49-F238E27FC236}">
                <a16:creationId xmlns:a16="http://schemas.microsoft.com/office/drawing/2014/main" id="{F5CE9C52-F2E2-4478-7A0B-62689F719A85}"/>
              </a:ext>
            </a:extLst>
          </p:cNvPr>
          <p:cNvSpPr>
            <a:spLocks noGrp="1"/>
          </p:cNvSpPr>
          <p:nvPr>
            <p:ph type="title"/>
          </p:nvPr>
        </p:nvSpPr>
        <p:spPr>
          <a:xfrm>
            <a:off x="256032" y="1909011"/>
            <a:ext cx="2834640" cy="1065998"/>
          </a:xfrm>
        </p:spPr>
        <p:txBody>
          <a:bodyPr>
            <a:normAutofit/>
          </a:bodyPr>
          <a:lstStyle/>
          <a:p>
            <a:r>
              <a:rPr lang="en-US" b="1" dirty="0"/>
              <a:t>Bias</a:t>
            </a:r>
            <a:r>
              <a:rPr lang="en-US" sz="3300" b="1" dirty="0"/>
              <a:t> </a:t>
            </a:r>
            <a:r>
              <a:rPr lang="en-US" sz="3300" dirty="0"/>
              <a:t>(inaccuracy)</a:t>
            </a:r>
          </a:p>
        </p:txBody>
      </p:sp>
      <p:sp>
        <p:nvSpPr>
          <p:cNvPr id="21" name="Text Placeholder 20">
            <a:extLst>
              <a:ext uri="{FF2B5EF4-FFF2-40B4-BE49-F238E27FC236}">
                <a16:creationId xmlns:a16="http://schemas.microsoft.com/office/drawing/2014/main" id="{1BC0641F-2A4D-996D-2D2D-FB0B61E18587}"/>
              </a:ext>
            </a:extLst>
          </p:cNvPr>
          <p:cNvSpPr>
            <a:spLocks noGrp="1"/>
          </p:cNvSpPr>
          <p:nvPr>
            <p:ph type="body" sz="half" idx="2"/>
          </p:nvPr>
        </p:nvSpPr>
        <p:spPr>
          <a:xfrm>
            <a:off x="256032" y="3173335"/>
            <a:ext cx="2834640" cy="2321990"/>
          </a:xfrm>
        </p:spPr>
        <p:txBody>
          <a:bodyPr>
            <a:normAutofit/>
          </a:bodyPr>
          <a:lstStyle/>
          <a:p>
            <a:pPr marL="285750" indent="-285750">
              <a:buClr>
                <a:schemeClr val="bg1"/>
              </a:buClr>
              <a:buFont typeface="Arial" panose="020B0604020202020204" pitchFamily="34" charset="0"/>
              <a:buChar char="•"/>
            </a:pPr>
            <a:r>
              <a:rPr lang="en-US" sz="1600" kern="0" spc="-30" dirty="0">
                <a:cs typeface="Poppins" pitchFamily="2" charset="77"/>
              </a:rPr>
              <a:t>Underfitted</a:t>
            </a:r>
          </a:p>
          <a:p>
            <a:pPr marL="285750" indent="-285750">
              <a:buClr>
                <a:schemeClr val="bg1"/>
              </a:buClr>
              <a:buFont typeface="Arial" panose="020B0604020202020204" pitchFamily="34" charset="0"/>
              <a:buChar char="•"/>
            </a:pPr>
            <a:r>
              <a:rPr lang="en-US" sz="1600" kern="0" spc="-30" dirty="0">
                <a:cs typeface="Poppins" pitchFamily="2" charset="77"/>
              </a:rPr>
              <a:t>Model Missing Information</a:t>
            </a:r>
          </a:p>
          <a:p>
            <a:pPr marL="285750" indent="-285750">
              <a:buClr>
                <a:schemeClr val="bg1"/>
              </a:buClr>
              <a:buFont typeface="Arial" panose="020B0604020202020204" pitchFamily="34" charset="0"/>
              <a:buChar char="•"/>
            </a:pPr>
            <a:r>
              <a:rPr lang="en-US" sz="1600" kern="0" spc="-30" dirty="0">
                <a:cs typeface="Poppins" pitchFamily="2" charset="77"/>
              </a:rPr>
              <a:t>Stable with Different Training Data</a:t>
            </a:r>
          </a:p>
        </p:txBody>
      </p:sp>
      <p:grpSp>
        <p:nvGrpSpPr>
          <p:cNvPr id="17" name="Group 16">
            <a:extLst>
              <a:ext uri="{FF2B5EF4-FFF2-40B4-BE49-F238E27FC236}">
                <a16:creationId xmlns:a16="http://schemas.microsoft.com/office/drawing/2014/main" id="{CD8E97D0-8A5B-7445-A5F1-4F1F98AB9997}"/>
              </a:ext>
            </a:extLst>
          </p:cNvPr>
          <p:cNvGrpSpPr/>
          <p:nvPr/>
        </p:nvGrpSpPr>
        <p:grpSpPr>
          <a:xfrm>
            <a:off x="4747126" y="2021307"/>
            <a:ext cx="6096280" cy="3513220"/>
            <a:chOff x="1955800" y="1313303"/>
            <a:chExt cx="5125720" cy="2953897"/>
          </a:xfrm>
          <a:solidFill>
            <a:schemeClr val="accent2"/>
          </a:solidFill>
        </p:grpSpPr>
        <p:sp>
          <p:nvSpPr>
            <p:cNvPr id="3" name="Oval 2">
              <a:extLst>
                <a:ext uri="{FF2B5EF4-FFF2-40B4-BE49-F238E27FC236}">
                  <a16:creationId xmlns:a16="http://schemas.microsoft.com/office/drawing/2014/main" id="{63FA58B4-6381-BE56-4962-F668A02FBDA2}"/>
                </a:ext>
              </a:extLst>
            </p:cNvPr>
            <p:cNvSpPr/>
            <p:nvPr/>
          </p:nvSpPr>
          <p:spPr>
            <a:xfrm>
              <a:off x="2265680" y="4114800"/>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 name="Oval 3">
              <a:extLst>
                <a:ext uri="{FF2B5EF4-FFF2-40B4-BE49-F238E27FC236}">
                  <a16:creationId xmlns:a16="http://schemas.microsoft.com/office/drawing/2014/main" id="{40867601-ADD7-98C8-C577-1F1EDDCD62C8}"/>
                </a:ext>
              </a:extLst>
            </p:cNvPr>
            <p:cNvSpPr/>
            <p:nvPr/>
          </p:nvSpPr>
          <p:spPr>
            <a:xfrm>
              <a:off x="2418080" y="3585457"/>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3B07A9F7-A816-3428-B11C-0D8B807CF6D6}"/>
                </a:ext>
              </a:extLst>
            </p:cNvPr>
            <p:cNvSpPr/>
            <p:nvPr/>
          </p:nvSpPr>
          <p:spPr>
            <a:xfrm>
              <a:off x="2895600" y="3707377"/>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2FDA2394-FAC2-95AE-ACD7-02F5A5BA179E}"/>
                </a:ext>
              </a:extLst>
            </p:cNvPr>
            <p:cNvSpPr/>
            <p:nvPr/>
          </p:nvSpPr>
          <p:spPr>
            <a:xfrm>
              <a:off x="1955800" y="3941569"/>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32A1728B-F425-1ABF-FCA9-D6A29E9AEC75}"/>
                </a:ext>
              </a:extLst>
            </p:cNvPr>
            <p:cNvSpPr/>
            <p:nvPr/>
          </p:nvSpPr>
          <p:spPr>
            <a:xfrm>
              <a:off x="3474720" y="3281680"/>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60D8B5D7-0C26-056F-F3A2-4B8785BD7D87}"/>
                </a:ext>
              </a:extLst>
            </p:cNvPr>
            <p:cNvSpPr/>
            <p:nvPr/>
          </p:nvSpPr>
          <p:spPr>
            <a:xfrm>
              <a:off x="3942080" y="2592071"/>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D2B0FB18-20C6-58D0-3D8C-AB17860C5764}"/>
                </a:ext>
              </a:extLst>
            </p:cNvPr>
            <p:cNvSpPr/>
            <p:nvPr/>
          </p:nvSpPr>
          <p:spPr>
            <a:xfrm>
              <a:off x="4699000" y="2439670"/>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812403B1-171D-BEF0-9D46-ACC836315B5B}"/>
                </a:ext>
              </a:extLst>
            </p:cNvPr>
            <p:cNvSpPr/>
            <p:nvPr/>
          </p:nvSpPr>
          <p:spPr>
            <a:xfrm>
              <a:off x="4419600" y="1924808"/>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5FCC85F2-5425-022B-B83A-EB6C2B1A5C5B}"/>
                </a:ext>
              </a:extLst>
            </p:cNvPr>
            <p:cNvSpPr/>
            <p:nvPr/>
          </p:nvSpPr>
          <p:spPr>
            <a:xfrm>
              <a:off x="6096000" y="1580004"/>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84301E3D-A42A-50D2-B1BD-08607700F3F9}"/>
                </a:ext>
              </a:extLst>
            </p:cNvPr>
            <p:cNvSpPr/>
            <p:nvPr/>
          </p:nvSpPr>
          <p:spPr>
            <a:xfrm>
              <a:off x="5049522" y="2571750"/>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A65EC12F-CC2B-8839-04F5-4835E14232DF}"/>
                </a:ext>
              </a:extLst>
            </p:cNvPr>
            <p:cNvSpPr/>
            <p:nvPr/>
          </p:nvSpPr>
          <p:spPr>
            <a:xfrm>
              <a:off x="6929120" y="1656204"/>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0DC1A259-71EA-1C17-92BB-6E2DA08AF5B7}"/>
                </a:ext>
              </a:extLst>
            </p:cNvPr>
            <p:cNvSpPr/>
            <p:nvPr/>
          </p:nvSpPr>
          <p:spPr>
            <a:xfrm>
              <a:off x="5938520" y="2178553"/>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663D31A1-2F35-2EAA-08BF-501CF7347C4E}"/>
                </a:ext>
              </a:extLst>
            </p:cNvPr>
            <p:cNvSpPr/>
            <p:nvPr/>
          </p:nvSpPr>
          <p:spPr>
            <a:xfrm>
              <a:off x="5293360" y="1985257"/>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6" name="Straight Connector 15">
              <a:extLst>
                <a:ext uri="{FF2B5EF4-FFF2-40B4-BE49-F238E27FC236}">
                  <a16:creationId xmlns:a16="http://schemas.microsoft.com/office/drawing/2014/main" id="{FB626079-4B87-D6A8-9FE3-2560982B5EDA}"/>
                </a:ext>
              </a:extLst>
            </p:cNvPr>
            <p:cNvCxnSpPr>
              <a:cxnSpLocks/>
            </p:cNvCxnSpPr>
            <p:nvPr/>
          </p:nvCxnSpPr>
          <p:spPr>
            <a:xfrm flipH="1">
              <a:off x="1955800" y="1313303"/>
              <a:ext cx="4922520" cy="2867537"/>
            </a:xfrm>
            <a:prstGeom prst="line">
              <a:avLst/>
            </a:prstGeom>
            <a:grpFill/>
            <a:ln>
              <a:solidFill>
                <a:schemeClr val="tx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599410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BC280-0166-03DB-790C-64DED32AFC5A}"/>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46A91C7B-5EE4-7E67-2730-F25C1FB4B82C}"/>
              </a:ext>
            </a:extLst>
          </p:cNvPr>
          <p:cNvPicPr>
            <a:picLocks noChangeAspect="1"/>
          </p:cNvPicPr>
          <p:nvPr/>
        </p:nvPicPr>
        <p:blipFill>
          <a:blip r:embed="rId3"/>
          <a:stretch>
            <a:fillRect/>
          </a:stretch>
        </p:blipFill>
        <p:spPr>
          <a:xfrm>
            <a:off x="4210383" y="825072"/>
            <a:ext cx="6618037" cy="5252881"/>
          </a:xfrm>
          <a:prstGeom prst="rect">
            <a:avLst/>
          </a:prstGeom>
        </p:spPr>
      </p:pic>
      <p:sp>
        <p:nvSpPr>
          <p:cNvPr id="34" name="Freeform 33">
            <a:extLst>
              <a:ext uri="{FF2B5EF4-FFF2-40B4-BE49-F238E27FC236}">
                <a16:creationId xmlns:a16="http://schemas.microsoft.com/office/drawing/2014/main" id="{A63D8215-245A-6107-7BEB-11C91F90673B}"/>
              </a:ext>
            </a:extLst>
          </p:cNvPr>
          <p:cNvSpPr/>
          <p:nvPr/>
        </p:nvSpPr>
        <p:spPr>
          <a:xfrm>
            <a:off x="4724934" y="2937325"/>
            <a:ext cx="3656333" cy="2498743"/>
          </a:xfrm>
          <a:custGeom>
            <a:avLst/>
            <a:gdLst>
              <a:gd name="connsiteX0" fmla="*/ 0 w 3261360"/>
              <a:gd name="connsiteY0" fmla="*/ 1871463 h 2228818"/>
              <a:gd name="connsiteX1" fmla="*/ 447040 w 3261360"/>
              <a:gd name="connsiteY1" fmla="*/ 2227063 h 2228818"/>
              <a:gd name="connsiteX2" fmla="*/ 589280 w 3261360"/>
              <a:gd name="connsiteY2" fmla="*/ 1739383 h 2228818"/>
              <a:gd name="connsiteX3" fmla="*/ 1066800 w 3261360"/>
              <a:gd name="connsiteY3" fmla="*/ 1840983 h 2228818"/>
              <a:gd name="connsiteX4" fmla="*/ 1706880 w 3261360"/>
              <a:gd name="connsiteY4" fmla="*/ 1383783 h 2228818"/>
              <a:gd name="connsiteX5" fmla="*/ 1706880 w 3261360"/>
              <a:gd name="connsiteY5" fmla="*/ 1383783 h 2228818"/>
              <a:gd name="connsiteX6" fmla="*/ 2143760 w 3261360"/>
              <a:gd name="connsiteY6" fmla="*/ 713223 h 2228818"/>
              <a:gd name="connsiteX7" fmla="*/ 2631440 w 3261360"/>
              <a:gd name="connsiteY7" fmla="*/ 2023 h 2228818"/>
              <a:gd name="connsiteX8" fmla="*/ 2915920 w 3261360"/>
              <a:gd name="connsiteY8" fmla="*/ 499863 h 2228818"/>
              <a:gd name="connsiteX9" fmla="*/ 2915920 w 3261360"/>
              <a:gd name="connsiteY9" fmla="*/ 540503 h 2228818"/>
              <a:gd name="connsiteX10" fmla="*/ 3261360 w 3261360"/>
              <a:gd name="connsiteY10" fmla="*/ 682743 h 2228818"/>
              <a:gd name="connsiteX11" fmla="*/ 3261360 w 3261360"/>
              <a:gd name="connsiteY11" fmla="*/ 682743 h 222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61360" h="2228818">
                <a:moveTo>
                  <a:pt x="0" y="1871463"/>
                </a:moveTo>
                <a:cubicBezTo>
                  <a:pt x="174413" y="2060269"/>
                  <a:pt x="348827" y="2249076"/>
                  <a:pt x="447040" y="2227063"/>
                </a:cubicBezTo>
                <a:cubicBezTo>
                  <a:pt x="545253" y="2205050"/>
                  <a:pt x="485987" y="1803730"/>
                  <a:pt x="589280" y="1739383"/>
                </a:cubicBezTo>
                <a:cubicBezTo>
                  <a:pt x="692573" y="1675036"/>
                  <a:pt x="880533" y="1900250"/>
                  <a:pt x="1066800" y="1840983"/>
                </a:cubicBezTo>
                <a:cubicBezTo>
                  <a:pt x="1253067" y="1781716"/>
                  <a:pt x="1706880" y="1383783"/>
                  <a:pt x="1706880" y="1383783"/>
                </a:cubicBezTo>
                <a:lnTo>
                  <a:pt x="1706880" y="1383783"/>
                </a:lnTo>
                <a:cubicBezTo>
                  <a:pt x="1779693" y="1272023"/>
                  <a:pt x="1989667" y="943516"/>
                  <a:pt x="2143760" y="713223"/>
                </a:cubicBezTo>
                <a:cubicBezTo>
                  <a:pt x="2297853" y="482930"/>
                  <a:pt x="2502747" y="37583"/>
                  <a:pt x="2631440" y="2023"/>
                </a:cubicBezTo>
                <a:cubicBezTo>
                  <a:pt x="2760133" y="-33537"/>
                  <a:pt x="2868507" y="410116"/>
                  <a:pt x="2915920" y="499863"/>
                </a:cubicBezTo>
                <a:cubicBezTo>
                  <a:pt x="2963333" y="589610"/>
                  <a:pt x="2858347" y="510023"/>
                  <a:pt x="2915920" y="540503"/>
                </a:cubicBezTo>
                <a:cubicBezTo>
                  <a:pt x="2973493" y="570983"/>
                  <a:pt x="3261360" y="682743"/>
                  <a:pt x="3261360" y="682743"/>
                </a:cubicBezTo>
                <a:lnTo>
                  <a:pt x="3261360" y="682743"/>
                </a:lnTo>
              </a:path>
            </a:pathLst>
          </a:custGeom>
          <a:noFill/>
          <a:ln w="25400">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7D3F0CAB-F651-F83A-FD30-EFCF9150C09D}"/>
              </a:ext>
            </a:extLst>
          </p:cNvPr>
          <p:cNvGrpSpPr/>
          <p:nvPr/>
        </p:nvGrpSpPr>
        <p:grpSpPr>
          <a:xfrm>
            <a:off x="4821753" y="2489809"/>
            <a:ext cx="5746479" cy="3012634"/>
            <a:chOff x="4821753" y="2489809"/>
            <a:chExt cx="5746479" cy="3012634"/>
          </a:xfrm>
          <a:solidFill>
            <a:schemeClr val="accent2"/>
          </a:solidFill>
        </p:grpSpPr>
        <p:sp>
          <p:nvSpPr>
            <p:cNvPr id="29" name="Oval 28">
              <a:extLst>
                <a:ext uri="{FF2B5EF4-FFF2-40B4-BE49-F238E27FC236}">
                  <a16:creationId xmlns:a16="http://schemas.microsoft.com/office/drawing/2014/main" id="{D9AB8417-F58D-D5B9-0B62-99F231A4E550}"/>
                </a:ext>
              </a:extLst>
            </p:cNvPr>
            <p:cNvSpPr/>
            <p:nvPr/>
          </p:nvSpPr>
          <p:spPr>
            <a:xfrm>
              <a:off x="9463359" y="2489809"/>
              <a:ext cx="170857" cy="170857"/>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33C0345A-A8A2-5412-6976-96BDCE0D2514}"/>
                </a:ext>
              </a:extLst>
            </p:cNvPr>
            <p:cNvSpPr/>
            <p:nvPr/>
          </p:nvSpPr>
          <p:spPr>
            <a:xfrm>
              <a:off x="5169161" y="5331586"/>
              <a:ext cx="170857" cy="170857"/>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0D3E1BE7-FE49-E0E1-A8A7-A255AF19D9EB}"/>
                </a:ext>
              </a:extLst>
            </p:cNvPr>
            <p:cNvSpPr/>
            <p:nvPr/>
          </p:nvSpPr>
          <p:spPr>
            <a:xfrm>
              <a:off x="5340018" y="4738136"/>
              <a:ext cx="170857" cy="170857"/>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A197B709-D824-B73E-43DC-065B8C1A61D3}"/>
                </a:ext>
              </a:extLst>
            </p:cNvPr>
            <p:cNvSpPr/>
            <p:nvPr/>
          </p:nvSpPr>
          <p:spPr>
            <a:xfrm>
              <a:off x="5875369" y="4874822"/>
              <a:ext cx="170857" cy="170857"/>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5FEB5249-ED99-21DA-DBC7-C2A145A9F2F6}"/>
                </a:ext>
              </a:extLst>
            </p:cNvPr>
            <p:cNvSpPr/>
            <p:nvPr/>
          </p:nvSpPr>
          <p:spPr>
            <a:xfrm>
              <a:off x="4821753" y="5137376"/>
              <a:ext cx="170857" cy="170857"/>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7279AEDB-37C8-5FAC-8DDA-468F125A8BAE}"/>
                </a:ext>
              </a:extLst>
            </p:cNvPr>
            <p:cNvSpPr/>
            <p:nvPr/>
          </p:nvSpPr>
          <p:spPr>
            <a:xfrm>
              <a:off x="6524624" y="4397570"/>
              <a:ext cx="170857" cy="170857"/>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076CCCB5-7703-6631-BF6D-46A349A05C6B}"/>
                </a:ext>
              </a:extLst>
            </p:cNvPr>
            <p:cNvSpPr/>
            <p:nvPr/>
          </p:nvSpPr>
          <p:spPr>
            <a:xfrm>
              <a:off x="7048585" y="3624444"/>
              <a:ext cx="170857" cy="170857"/>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ABE57B24-EBBC-E3C2-AE68-6FA7DD60F4F6}"/>
                </a:ext>
              </a:extLst>
            </p:cNvPr>
            <p:cNvSpPr/>
            <p:nvPr/>
          </p:nvSpPr>
          <p:spPr>
            <a:xfrm>
              <a:off x="7897173" y="3453587"/>
              <a:ext cx="170857" cy="170857"/>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6C477B37-A40A-D9A2-3AED-55E902F053F9}"/>
                </a:ext>
              </a:extLst>
            </p:cNvPr>
            <p:cNvSpPr/>
            <p:nvPr/>
          </p:nvSpPr>
          <p:spPr>
            <a:xfrm>
              <a:off x="7583936" y="2876371"/>
              <a:ext cx="170857" cy="170857"/>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5F880A98-FBB0-BF6A-C963-974A26CE6C1B}"/>
                </a:ext>
              </a:extLst>
            </p:cNvPr>
            <p:cNvSpPr/>
            <p:nvPr/>
          </p:nvSpPr>
          <p:spPr>
            <a:xfrm>
              <a:off x="8290145" y="3601662"/>
              <a:ext cx="170857" cy="170857"/>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B7A0DD0C-66E7-A2BD-9C85-4CB6C7DA95E2}"/>
                </a:ext>
              </a:extLst>
            </p:cNvPr>
            <p:cNvSpPr/>
            <p:nvPr/>
          </p:nvSpPr>
          <p:spPr>
            <a:xfrm>
              <a:off x="10397375" y="2575238"/>
              <a:ext cx="170857" cy="170857"/>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07C22D4E-780F-FF71-7956-FE220B49BA74}"/>
                </a:ext>
              </a:extLst>
            </p:cNvPr>
            <p:cNvSpPr/>
            <p:nvPr/>
          </p:nvSpPr>
          <p:spPr>
            <a:xfrm>
              <a:off x="9286807" y="3160847"/>
              <a:ext cx="170857" cy="170857"/>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B65026C2-3D77-0FD3-190D-5BA45DA73D5D}"/>
                </a:ext>
              </a:extLst>
            </p:cNvPr>
            <p:cNvSpPr/>
            <p:nvPr/>
          </p:nvSpPr>
          <p:spPr>
            <a:xfrm>
              <a:off x="8563514" y="2944141"/>
              <a:ext cx="170857" cy="170857"/>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5" name="Freeform 34">
              <a:extLst>
                <a:ext uri="{FF2B5EF4-FFF2-40B4-BE49-F238E27FC236}">
                  <a16:creationId xmlns:a16="http://schemas.microsoft.com/office/drawing/2014/main" id="{077A322A-3630-E59E-9D2F-958764F2F9EE}"/>
                </a:ext>
              </a:extLst>
            </p:cNvPr>
            <p:cNvSpPr/>
            <p:nvPr/>
          </p:nvSpPr>
          <p:spPr>
            <a:xfrm>
              <a:off x="8392657" y="3019326"/>
              <a:ext cx="261980" cy="696489"/>
            </a:xfrm>
            <a:custGeom>
              <a:avLst/>
              <a:gdLst>
                <a:gd name="connsiteX0" fmla="*/ 0 w 233680"/>
                <a:gd name="connsiteY0" fmla="*/ 599440 h 621251"/>
                <a:gd name="connsiteX1" fmla="*/ 111760 w 233680"/>
                <a:gd name="connsiteY1" fmla="*/ 548640 h 621251"/>
                <a:gd name="connsiteX2" fmla="*/ 233680 w 233680"/>
                <a:gd name="connsiteY2" fmla="*/ 0 h 621251"/>
                <a:gd name="connsiteX3" fmla="*/ 233680 w 233680"/>
                <a:gd name="connsiteY3" fmla="*/ 0 h 621251"/>
              </a:gdLst>
              <a:ahLst/>
              <a:cxnLst>
                <a:cxn ang="0">
                  <a:pos x="connsiteX0" y="connsiteY0"/>
                </a:cxn>
                <a:cxn ang="0">
                  <a:pos x="connsiteX1" y="connsiteY1"/>
                </a:cxn>
                <a:cxn ang="0">
                  <a:pos x="connsiteX2" y="connsiteY2"/>
                </a:cxn>
                <a:cxn ang="0">
                  <a:pos x="connsiteX3" y="connsiteY3"/>
                </a:cxn>
              </a:cxnLst>
              <a:rect l="l" t="t" r="r" b="b"/>
              <a:pathLst>
                <a:path w="233680" h="621251">
                  <a:moveTo>
                    <a:pt x="0" y="599440"/>
                  </a:moveTo>
                  <a:cubicBezTo>
                    <a:pt x="36406" y="623993"/>
                    <a:pt x="72813" y="648547"/>
                    <a:pt x="111760" y="548640"/>
                  </a:cubicBezTo>
                  <a:cubicBezTo>
                    <a:pt x="150707" y="448733"/>
                    <a:pt x="233680" y="0"/>
                    <a:pt x="233680" y="0"/>
                  </a:cubicBezTo>
                  <a:lnTo>
                    <a:pt x="233680" y="0"/>
                  </a:lnTo>
                </a:path>
              </a:pathLst>
            </a:cu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36" name="Freeform 35">
            <a:extLst>
              <a:ext uri="{FF2B5EF4-FFF2-40B4-BE49-F238E27FC236}">
                <a16:creationId xmlns:a16="http://schemas.microsoft.com/office/drawing/2014/main" id="{280F93B0-30A4-45C7-7536-5645F23B98AE}"/>
              </a:ext>
            </a:extLst>
          </p:cNvPr>
          <p:cNvSpPr/>
          <p:nvPr/>
        </p:nvSpPr>
        <p:spPr>
          <a:xfrm>
            <a:off x="8426828" y="2165685"/>
            <a:ext cx="2517939" cy="1541881"/>
          </a:xfrm>
          <a:custGeom>
            <a:avLst/>
            <a:gdLst>
              <a:gd name="connsiteX0" fmla="*/ 0 w 2245940"/>
              <a:gd name="connsiteY0" fmla="*/ 1350707 h 1375320"/>
              <a:gd name="connsiteX1" fmla="*/ 91440 w 2245940"/>
              <a:gd name="connsiteY1" fmla="*/ 1310067 h 1375320"/>
              <a:gd name="connsiteX2" fmla="*/ 203200 w 2245940"/>
              <a:gd name="connsiteY2" fmla="*/ 791907 h 1375320"/>
              <a:gd name="connsiteX3" fmla="*/ 833120 w 2245940"/>
              <a:gd name="connsiteY3" fmla="*/ 964627 h 1375320"/>
              <a:gd name="connsiteX4" fmla="*/ 995680 w 2245940"/>
              <a:gd name="connsiteY4" fmla="*/ 415987 h 1375320"/>
              <a:gd name="connsiteX5" fmla="*/ 1859280 w 2245940"/>
              <a:gd name="connsiteY5" fmla="*/ 497267 h 1375320"/>
              <a:gd name="connsiteX6" fmla="*/ 2214880 w 2245940"/>
              <a:gd name="connsiteY6" fmla="*/ 50227 h 1375320"/>
              <a:gd name="connsiteX7" fmla="*/ 2204720 w 2245940"/>
              <a:gd name="connsiteY7" fmla="*/ 29907 h 1375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45940" h="1375320">
                <a:moveTo>
                  <a:pt x="0" y="1350707"/>
                </a:moveTo>
                <a:cubicBezTo>
                  <a:pt x="28786" y="1376953"/>
                  <a:pt x="57573" y="1403200"/>
                  <a:pt x="91440" y="1310067"/>
                </a:cubicBezTo>
                <a:cubicBezTo>
                  <a:pt x="125307" y="1216934"/>
                  <a:pt x="79587" y="849480"/>
                  <a:pt x="203200" y="791907"/>
                </a:cubicBezTo>
                <a:cubicBezTo>
                  <a:pt x="326813" y="734334"/>
                  <a:pt x="701040" y="1027280"/>
                  <a:pt x="833120" y="964627"/>
                </a:cubicBezTo>
                <a:cubicBezTo>
                  <a:pt x="965200" y="901974"/>
                  <a:pt x="824653" y="493880"/>
                  <a:pt x="995680" y="415987"/>
                </a:cubicBezTo>
                <a:cubicBezTo>
                  <a:pt x="1166707" y="338094"/>
                  <a:pt x="1656080" y="558227"/>
                  <a:pt x="1859280" y="497267"/>
                </a:cubicBezTo>
                <a:cubicBezTo>
                  <a:pt x="2062480" y="436307"/>
                  <a:pt x="2157307" y="128120"/>
                  <a:pt x="2214880" y="50227"/>
                </a:cubicBezTo>
                <a:cubicBezTo>
                  <a:pt x="2272453" y="-27666"/>
                  <a:pt x="2238586" y="1120"/>
                  <a:pt x="2204720" y="29907"/>
                </a:cubicBezTo>
              </a:path>
            </a:pathLst>
          </a:custGeom>
          <a:noFill/>
          <a:ln w="25400">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25894A-7791-6EB1-D515-4975677247BE}"/>
              </a:ext>
            </a:extLst>
          </p:cNvPr>
          <p:cNvSpPr>
            <a:spLocks noGrp="1"/>
          </p:cNvSpPr>
          <p:nvPr>
            <p:ph type="title"/>
          </p:nvPr>
        </p:nvSpPr>
        <p:spPr>
          <a:xfrm>
            <a:off x="256032" y="1909011"/>
            <a:ext cx="2834640" cy="1065998"/>
          </a:xfrm>
        </p:spPr>
        <p:txBody>
          <a:bodyPr>
            <a:normAutofit/>
          </a:bodyPr>
          <a:lstStyle/>
          <a:p>
            <a:r>
              <a:rPr lang="en-US" sz="3300" b="1" dirty="0"/>
              <a:t>Variance</a:t>
            </a:r>
            <a:endParaRPr lang="en-US" sz="3300" dirty="0"/>
          </a:p>
        </p:txBody>
      </p:sp>
      <p:sp>
        <p:nvSpPr>
          <p:cNvPr id="21" name="Text Placeholder 20">
            <a:extLst>
              <a:ext uri="{FF2B5EF4-FFF2-40B4-BE49-F238E27FC236}">
                <a16:creationId xmlns:a16="http://schemas.microsoft.com/office/drawing/2014/main" id="{15DB94D2-B5AB-3FAA-0E83-3C5FABD2BAAD}"/>
              </a:ext>
            </a:extLst>
          </p:cNvPr>
          <p:cNvSpPr>
            <a:spLocks noGrp="1"/>
          </p:cNvSpPr>
          <p:nvPr>
            <p:ph type="body" sz="half" idx="2"/>
          </p:nvPr>
        </p:nvSpPr>
        <p:spPr>
          <a:xfrm>
            <a:off x="256032" y="3173335"/>
            <a:ext cx="2834640" cy="2321990"/>
          </a:xfrm>
        </p:spPr>
        <p:txBody>
          <a:bodyPr>
            <a:normAutofit/>
          </a:bodyPr>
          <a:lstStyle/>
          <a:p>
            <a:pPr marL="285750" indent="-285750">
              <a:buClr>
                <a:schemeClr val="bg1"/>
              </a:buClr>
              <a:buFont typeface="Arial" panose="020B0604020202020204" pitchFamily="34" charset="0"/>
              <a:buChar char="•"/>
            </a:pPr>
            <a:r>
              <a:rPr lang="en-US" sz="1600" kern="0" spc="-30" dirty="0">
                <a:cs typeface="Poppins" pitchFamily="2" charset="77"/>
              </a:rPr>
              <a:t>Overfitted</a:t>
            </a:r>
          </a:p>
          <a:p>
            <a:pPr marL="285750" indent="-285750">
              <a:buClr>
                <a:schemeClr val="bg1"/>
              </a:buClr>
              <a:buFont typeface="Arial" panose="020B0604020202020204" pitchFamily="34" charset="0"/>
              <a:buChar char="•"/>
            </a:pPr>
            <a:r>
              <a:rPr lang="en-US" sz="1600" kern="0" spc="-30" dirty="0">
                <a:cs typeface="Poppins" pitchFamily="2" charset="77"/>
              </a:rPr>
              <a:t>Model Contains Noise</a:t>
            </a:r>
          </a:p>
          <a:p>
            <a:pPr marL="285750" indent="-285750">
              <a:buClr>
                <a:schemeClr val="bg1"/>
              </a:buClr>
              <a:buFont typeface="Arial" panose="020B0604020202020204" pitchFamily="34" charset="0"/>
              <a:buChar char="•"/>
            </a:pPr>
            <a:r>
              <a:rPr lang="en-US" sz="1600" kern="0" spc="-30" dirty="0">
                <a:cs typeface="Poppins" pitchFamily="2" charset="77"/>
              </a:rPr>
              <a:t>Model Varies with Training Data</a:t>
            </a:r>
          </a:p>
        </p:txBody>
      </p:sp>
    </p:spTree>
    <p:extLst>
      <p:ext uri="{BB962C8B-B14F-4D97-AF65-F5344CB8AC3E}">
        <p14:creationId xmlns:p14="http://schemas.microsoft.com/office/powerpoint/2010/main" val="27589383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92A47-A641-CE03-8196-19D1A1BC204C}"/>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1EEE12A9-B0BF-325F-C8CA-20D5BEA06098}"/>
              </a:ext>
            </a:extLst>
          </p:cNvPr>
          <p:cNvPicPr>
            <a:picLocks noGrp="1" noRot="1" noChangeAspect="1" noMove="1" noResize="1" noEditPoints="1" noAdjustHandles="1" noChangeArrowheads="1" noChangeShapeType="1" noCrop="1"/>
          </p:cNvPicPr>
          <p:nvPr/>
        </p:nvPicPr>
        <p:blipFill>
          <a:blip r:embed="rId3"/>
          <a:stretch>
            <a:fillRect/>
          </a:stretch>
        </p:blipFill>
        <p:spPr>
          <a:xfrm>
            <a:off x="4210383" y="825072"/>
            <a:ext cx="6618037" cy="5252881"/>
          </a:xfrm>
          <a:prstGeom prst="rect">
            <a:avLst/>
          </a:prstGeom>
        </p:spPr>
      </p:pic>
      <p:grpSp>
        <p:nvGrpSpPr>
          <p:cNvPr id="3" name="Group 2">
            <a:extLst>
              <a:ext uri="{FF2B5EF4-FFF2-40B4-BE49-F238E27FC236}">
                <a16:creationId xmlns:a16="http://schemas.microsoft.com/office/drawing/2014/main" id="{F3B513BA-128E-5D57-FA53-59333D409BD3}"/>
              </a:ext>
            </a:extLst>
          </p:cNvPr>
          <p:cNvGrpSpPr/>
          <p:nvPr/>
        </p:nvGrpSpPr>
        <p:grpSpPr>
          <a:xfrm>
            <a:off x="4682958" y="2271498"/>
            <a:ext cx="6009899" cy="3150733"/>
            <a:chOff x="1955800" y="1580004"/>
            <a:chExt cx="5125720" cy="2687196"/>
          </a:xfrm>
          <a:solidFill>
            <a:schemeClr val="accent2"/>
          </a:solidFill>
        </p:grpSpPr>
        <p:sp>
          <p:nvSpPr>
            <p:cNvPr id="4" name="Oval 3">
              <a:extLst>
                <a:ext uri="{FF2B5EF4-FFF2-40B4-BE49-F238E27FC236}">
                  <a16:creationId xmlns:a16="http://schemas.microsoft.com/office/drawing/2014/main" id="{E991AD5A-3F73-D013-8C44-4C07317B0EEA}"/>
                </a:ext>
              </a:extLst>
            </p:cNvPr>
            <p:cNvSpPr/>
            <p:nvPr/>
          </p:nvSpPr>
          <p:spPr>
            <a:xfrm>
              <a:off x="2265680" y="4114800"/>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1F973B9B-EDA1-4F89-7502-4CDBA9B86C38}"/>
                </a:ext>
              </a:extLst>
            </p:cNvPr>
            <p:cNvSpPr/>
            <p:nvPr/>
          </p:nvSpPr>
          <p:spPr>
            <a:xfrm>
              <a:off x="2418080" y="3585457"/>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225956AD-FEB6-E932-D277-27AA29AF1D3A}"/>
                </a:ext>
              </a:extLst>
            </p:cNvPr>
            <p:cNvSpPr/>
            <p:nvPr/>
          </p:nvSpPr>
          <p:spPr>
            <a:xfrm>
              <a:off x="2895600" y="3707377"/>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06721519-05F1-154C-27C9-1F8216DD29FE}"/>
                </a:ext>
              </a:extLst>
            </p:cNvPr>
            <p:cNvSpPr/>
            <p:nvPr/>
          </p:nvSpPr>
          <p:spPr>
            <a:xfrm>
              <a:off x="1955800" y="3941569"/>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91DFBF98-E3AD-97C6-13B8-8AE6598D0463}"/>
                </a:ext>
              </a:extLst>
            </p:cNvPr>
            <p:cNvSpPr/>
            <p:nvPr/>
          </p:nvSpPr>
          <p:spPr>
            <a:xfrm>
              <a:off x="3474720" y="3281680"/>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62732C91-61B8-EDB9-BA9E-B5D6012CD2F2}"/>
                </a:ext>
              </a:extLst>
            </p:cNvPr>
            <p:cNvSpPr/>
            <p:nvPr/>
          </p:nvSpPr>
          <p:spPr>
            <a:xfrm>
              <a:off x="3942080" y="2592071"/>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9C620E73-002A-3A36-52FB-AD3516BE40C7}"/>
                </a:ext>
              </a:extLst>
            </p:cNvPr>
            <p:cNvSpPr/>
            <p:nvPr/>
          </p:nvSpPr>
          <p:spPr>
            <a:xfrm>
              <a:off x="4699000" y="2439670"/>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0CB9B549-FD0C-63C2-9966-5364A13A8FF1}"/>
                </a:ext>
              </a:extLst>
            </p:cNvPr>
            <p:cNvSpPr/>
            <p:nvPr/>
          </p:nvSpPr>
          <p:spPr>
            <a:xfrm>
              <a:off x="4419600" y="1924808"/>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EB656891-E791-BCFB-0318-9128D2EA2253}"/>
                </a:ext>
              </a:extLst>
            </p:cNvPr>
            <p:cNvSpPr/>
            <p:nvPr/>
          </p:nvSpPr>
          <p:spPr>
            <a:xfrm>
              <a:off x="6096000" y="1580004"/>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A213145B-F6C3-69EA-ED44-DB2DFBD0CF72}"/>
                </a:ext>
              </a:extLst>
            </p:cNvPr>
            <p:cNvSpPr/>
            <p:nvPr/>
          </p:nvSpPr>
          <p:spPr>
            <a:xfrm>
              <a:off x="5049522" y="2571750"/>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C66E6E71-1289-CE4F-4E5F-59AD05D7F76D}"/>
                </a:ext>
              </a:extLst>
            </p:cNvPr>
            <p:cNvSpPr/>
            <p:nvPr/>
          </p:nvSpPr>
          <p:spPr>
            <a:xfrm>
              <a:off x="6929120" y="1656204"/>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2430F359-C104-16A8-6BEB-492D45039DEC}"/>
                </a:ext>
              </a:extLst>
            </p:cNvPr>
            <p:cNvSpPr/>
            <p:nvPr/>
          </p:nvSpPr>
          <p:spPr>
            <a:xfrm>
              <a:off x="5938520" y="2178553"/>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A7CA3B62-0BEF-3298-F746-4B182A072CAB}"/>
                </a:ext>
              </a:extLst>
            </p:cNvPr>
            <p:cNvSpPr/>
            <p:nvPr/>
          </p:nvSpPr>
          <p:spPr>
            <a:xfrm>
              <a:off x="5293360" y="1985257"/>
              <a:ext cx="152400" cy="1524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17" name="Freeform 16">
            <a:extLst>
              <a:ext uri="{FF2B5EF4-FFF2-40B4-BE49-F238E27FC236}">
                <a16:creationId xmlns:a16="http://schemas.microsoft.com/office/drawing/2014/main" id="{33B49520-6C12-132B-22CE-EE2C0411162E}"/>
              </a:ext>
            </a:extLst>
          </p:cNvPr>
          <p:cNvSpPr/>
          <p:nvPr/>
        </p:nvSpPr>
        <p:spPr>
          <a:xfrm>
            <a:off x="4700827" y="2085474"/>
            <a:ext cx="6200276" cy="3277194"/>
          </a:xfrm>
          <a:custGeom>
            <a:avLst/>
            <a:gdLst>
              <a:gd name="connsiteX0" fmla="*/ 0 w 5288089"/>
              <a:gd name="connsiteY0" fmla="*/ 2795052 h 2795052"/>
              <a:gd name="connsiteX1" fmla="*/ 2489200 w 5288089"/>
              <a:gd name="connsiteY1" fmla="*/ 1169452 h 2795052"/>
              <a:gd name="connsiteX2" fmla="*/ 5039360 w 5288089"/>
              <a:gd name="connsiteY2" fmla="*/ 102652 h 2795052"/>
              <a:gd name="connsiteX3" fmla="*/ 5049520 w 5288089"/>
              <a:gd name="connsiteY3" fmla="*/ 102652 h 2795052"/>
            </a:gdLst>
            <a:ahLst/>
            <a:cxnLst>
              <a:cxn ang="0">
                <a:pos x="connsiteX0" y="connsiteY0"/>
              </a:cxn>
              <a:cxn ang="0">
                <a:pos x="connsiteX1" y="connsiteY1"/>
              </a:cxn>
              <a:cxn ang="0">
                <a:pos x="connsiteX2" y="connsiteY2"/>
              </a:cxn>
              <a:cxn ang="0">
                <a:pos x="connsiteX3" y="connsiteY3"/>
              </a:cxn>
            </a:cxnLst>
            <a:rect l="l" t="t" r="r" b="b"/>
            <a:pathLst>
              <a:path w="5288089" h="2795052">
                <a:moveTo>
                  <a:pt x="0" y="2795052"/>
                </a:moveTo>
                <a:cubicBezTo>
                  <a:pt x="824653" y="2206618"/>
                  <a:pt x="1649307" y="1618185"/>
                  <a:pt x="2489200" y="1169452"/>
                </a:cubicBezTo>
                <a:cubicBezTo>
                  <a:pt x="3329093" y="720719"/>
                  <a:pt x="5039360" y="102652"/>
                  <a:pt x="5039360" y="102652"/>
                </a:cubicBezTo>
                <a:cubicBezTo>
                  <a:pt x="5466080" y="-75148"/>
                  <a:pt x="5257800" y="13752"/>
                  <a:pt x="5049520" y="102652"/>
                </a:cubicBezTo>
              </a:path>
            </a:pathLst>
          </a:custGeom>
          <a:noFill/>
          <a:ln w="25400">
            <a:solidFill>
              <a:schemeClr val="tx1"/>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A2327F-C8D6-30AB-AC96-2B4BACB60CCF}"/>
              </a:ext>
            </a:extLst>
          </p:cNvPr>
          <p:cNvSpPr>
            <a:spLocks noGrp="1"/>
          </p:cNvSpPr>
          <p:nvPr>
            <p:ph type="title"/>
          </p:nvPr>
        </p:nvSpPr>
        <p:spPr>
          <a:xfrm>
            <a:off x="256032" y="1716505"/>
            <a:ext cx="2834640" cy="2317283"/>
          </a:xfrm>
        </p:spPr>
        <p:txBody>
          <a:bodyPr>
            <a:normAutofit/>
          </a:bodyPr>
          <a:lstStyle/>
          <a:p>
            <a:r>
              <a:rPr lang="en-US" sz="3100" b="1" dirty="0"/>
              <a:t>Bias vs Variance Tradeoff for Optimal Performance</a:t>
            </a:r>
            <a:endParaRPr lang="en-US" sz="3100" dirty="0"/>
          </a:p>
        </p:txBody>
      </p:sp>
      <p:sp>
        <p:nvSpPr>
          <p:cNvPr id="21" name="Text Placeholder 20">
            <a:extLst>
              <a:ext uri="{FF2B5EF4-FFF2-40B4-BE49-F238E27FC236}">
                <a16:creationId xmlns:a16="http://schemas.microsoft.com/office/drawing/2014/main" id="{AD2CA8E3-5BDD-AB79-C6A6-2387CAC63E9E}"/>
              </a:ext>
            </a:extLst>
          </p:cNvPr>
          <p:cNvSpPr>
            <a:spLocks noGrp="1"/>
          </p:cNvSpPr>
          <p:nvPr>
            <p:ph type="body" sz="half" idx="2"/>
          </p:nvPr>
        </p:nvSpPr>
        <p:spPr>
          <a:xfrm>
            <a:off x="256032" y="4232114"/>
            <a:ext cx="2834640" cy="805107"/>
          </a:xfrm>
        </p:spPr>
        <p:txBody>
          <a:bodyPr>
            <a:normAutofit/>
          </a:bodyPr>
          <a:lstStyle/>
          <a:p>
            <a:r>
              <a:rPr lang="en-US" sz="1600" kern="0" spc="-30" dirty="0">
                <a:latin typeface="Arial"/>
                <a:cs typeface="Arial"/>
              </a:rPr>
              <a:t>Regularization</a:t>
            </a:r>
          </a:p>
          <a:p>
            <a:pPr marL="285750" indent="-285750">
              <a:buClr>
                <a:schemeClr val="bg1"/>
              </a:buClr>
              <a:buFont typeface="Arial" panose="020B0604020202020204" pitchFamily="34" charset="0"/>
              <a:buChar char="•"/>
            </a:pPr>
            <a:r>
              <a:rPr lang="en-US" sz="1600" kern="0" spc="-30" dirty="0">
                <a:latin typeface="Arial"/>
                <a:cs typeface="Arial"/>
              </a:rPr>
              <a:t>Prevent Overfitting</a:t>
            </a:r>
          </a:p>
        </p:txBody>
      </p:sp>
    </p:spTree>
    <p:extLst>
      <p:ext uri="{BB962C8B-B14F-4D97-AF65-F5344CB8AC3E}">
        <p14:creationId xmlns:p14="http://schemas.microsoft.com/office/powerpoint/2010/main" val="20176710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8F324A7-244D-B461-FA33-43538B6DFB1A}"/>
              </a:ext>
            </a:extLst>
          </p:cNvPr>
          <p:cNvSpPr txBox="1"/>
          <p:nvPr/>
        </p:nvSpPr>
        <p:spPr>
          <a:xfrm>
            <a:off x="9448802" y="4974056"/>
            <a:ext cx="2136048" cy="707886"/>
          </a:xfrm>
          <a:prstGeom prst="rect">
            <a:avLst/>
          </a:prstGeom>
          <a:noFill/>
          <a:ln w="12700">
            <a:solidFill>
              <a:schemeClr val="accent1"/>
            </a:solidFill>
          </a:ln>
        </p:spPr>
        <p:txBody>
          <a:bodyPr wrap="square" rtlCol="0">
            <a:spAutoFit/>
          </a:bodyPr>
          <a:lstStyle/>
          <a:p>
            <a:pPr marL="171450" indent="-171450">
              <a:buFont typeface="Arial" panose="020B0604020202020204" pitchFamily="34" charset="0"/>
              <a:buChar char="•"/>
            </a:pPr>
            <a:r>
              <a:rPr lang="en-US" sz="2000" kern="0" spc="-30" dirty="0">
                <a:latin typeface="Poppins" pitchFamily="2" charset="77"/>
                <a:cs typeface="Poppins" pitchFamily="2" charset="77"/>
              </a:rPr>
              <a:t>Training Data</a:t>
            </a:r>
          </a:p>
          <a:p>
            <a:pPr marL="171450" indent="-171450">
              <a:buFont typeface="Arial" panose="020B0604020202020204" pitchFamily="34" charset="0"/>
              <a:buChar char="•"/>
            </a:pPr>
            <a:r>
              <a:rPr lang="en-US" sz="2000" kern="0" spc="-30" dirty="0">
                <a:solidFill>
                  <a:srgbClr val="C00000"/>
                </a:solidFill>
                <a:latin typeface="Poppins" pitchFamily="2" charset="77"/>
                <a:cs typeface="Poppins" pitchFamily="2" charset="77"/>
              </a:rPr>
              <a:t>New Situation</a:t>
            </a:r>
          </a:p>
        </p:txBody>
      </p:sp>
      <p:pic>
        <p:nvPicPr>
          <p:cNvPr id="16" name="Picture 15">
            <a:extLst>
              <a:ext uri="{FF2B5EF4-FFF2-40B4-BE49-F238E27FC236}">
                <a16:creationId xmlns:a16="http://schemas.microsoft.com/office/drawing/2014/main" id="{99EB11EF-4729-D569-6065-D5FA019637D1}"/>
              </a:ext>
            </a:extLst>
          </p:cNvPr>
          <p:cNvPicPr>
            <a:picLocks noChangeAspect="1"/>
          </p:cNvPicPr>
          <p:nvPr/>
        </p:nvPicPr>
        <p:blipFill>
          <a:blip r:embed="rId2"/>
          <a:stretch>
            <a:fillRect/>
          </a:stretch>
        </p:blipFill>
        <p:spPr>
          <a:xfrm>
            <a:off x="2867192" y="835582"/>
            <a:ext cx="6618037" cy="5252881"/>
          </a:xfrm>
          <a:prstGeom prst="rect">
            <a:avLst/>
          </a:prstGeom>
        </p:spPr>
      </p:pic>
      <p:pic>
        <p:nvPicPr>
          <p:cNvPr id="7" name="Picture 6">
            <a:extLst>
              <a:ext uri="{FF2B5EF4-FFF2-40B4-BE49-F238E27FC236}">
                <a16:creationId xmlns:a16="http://schemas.microsoft.com/office/drawing/2014/main" id="{E46121CD-B1A8-6C08-EE36-F9655B9F4E63}"/>
              </a:ext>
            </a:extLst>
          </p:cNvPr>
          <p:cNvPicPr>
            <a:picLocks noChangeAspect="1"/>
          </p:cNvPicPr>
          <p:nvPr/>
        </p:nvPicPr>
        <p:blipFill>
          <a:blip r:embed="rId3"/>
          <a:stretch>
            <a:fillRect/>
          </a:stretch>
        </p:blipFill>
        <p:spPr>
          <a:xfrm>
            <a:off x="4156759" y="1576304"/>
            <a:ext cx="3904375" cy="3549432"/>
          </a:xfrm>
          <a:prstGeom prst="rect">
            <a:avLst/>
          </a:prstGeom>
        </p:spPr>
      </p:pic>
      <p:sp>
        <p:nvSpPr>
          <p:cNvPr id="9" name="Up Arrow 8">
            <a:extLst>
              <a:ext uri="{FF2B5EF4-FFF2-40B4-BE49-F238E27FC236}">
                <a16:creationId xmlns:a16="http://schemas.microsoft.com/office/drawing/2014/main" id="{BE773C8A-1B4B-EFDB-5B77-20F2C351E627}"/>
              </a:ext>
            </a:extLst>
          </p:cNvPr>
          <p:cNvSpPr/>
          <p:nvPr/>
        </p:nvSpPr>
        <p:spPr>
          <a:xfrm>
            <a:off x="5917823" y="3705964"/>
            <a:ext cx="327640" cy="436853"/>
          </a:xfrm>
          <a:prstGeom prst="upArrow">
            <a:avLst/>
          </a:prstGeom>
          <a:solidFill>
            <a:srgbClr val="009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A8D41D89-5D02-E7C2-9851-999E10281055}"/>
              </a:ext>
            </a:extLst>
          </p:cNvPr>
          <p:cNvSpPr txBox="1"/>
          <p:nvPr/>
        </p:nvSpPr>
        <p:spPr>
          <a:xfrm>
            <a:off x="238539" y="262392"/>
            <a:ext cx="2814762" cy="1200329"/>
          </a:xfrm>
          <a:prstGeom prst="rect">
            <a:avLst/>
          </a:prstGeom>
          <a:noFill/>
        </p:spPr>
        <p:txBody>
          <a:bodyPr wrap="square" rtlCol="0">
            <a:spAutoFit/>
          </a:bodyPr>
          <a:lstStyle/>
          <a:p>
            <a:r>
              <a:rPr lang="en-US" sz="3600" b="1" dirty="0">
                <a:solidFill>
                  <a:schemeClr val="accent2"/>
                </a:solidFill>
                <a:latin typeface="Poppins" pitchFamily="2" charset="77"/>
                <a:cs typeface="Poppins" pitchFamily="2" charset="77"/>
              </a:rPr>
              <a:t>Typical –</a:t>
            </a:r>
          </a:p>
          <a:p>
            <a:r>
              <a:rPr lang="en-US" sz="3600" dirty="0">
                <a:solidFill>
                  <a:schemeClr val="accent2"/>
                </a:solidFill>
                <a:latin typeface="Poppins" pitchFamily="2" charset="77"/>
                <a:cs typeface="Poppins" pitchFamily="2" charset="77"/>
              </a:rPr>
              <a:t>Normal</a:t>
            </a:r>
          </a:p>
        </p:txBody>
      </p:sp>
    </p:spTree>
    <p:extLst>
      <p:ext uri="{BB962C8B-B14F-4D97-AF65-F5344CB8AC3E}">
        <p14:creationId xmlns:p14="http://schemas.microsoft.com/office/powerpoint/2010/main" val="2319539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05E2D-BCD3-26DB-4392-932FA21A7F8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88CAF52-BFAE-A7C9-A078-87ACF4FC330E}"/>
              </a:ext>
            </a:extLst>
          </p:cNvPr>
          <p:cNvPicPr>
            <a:picLocks noChangeAspect="1"/>
          </p:cNvPicPr>
          <p:nvPr/>
        </p:nvPicPr>
        <p:blipFill>
          <a:blip r:embed="rId2"/>
          <a:stretch>
            <a:fillRect/>
          </a:stretch>
        </p:blipFill>
        <p:spPr>
          <a:xfrm>
            <a:off x="2867192" y="825072"/>
            <a:ext cx="6618037" cy="5252881"/>
          </a:xfrm>
          <a:prstGeom prst="rect">
            <a:avLst/>
          </a:prstGeom>
        </p:spPr>
      </p:pic>
      <p:pic>
        <p:nvPicPr>
          <p:cNvPr id="3" name="Picture 2">
            <a:extLst>
              <a:ext uri="{FF2B5EF4-FFF2-40B4-BE49-F238E27FC236}">
                <a16:creationId xmlns:a16="http://schemas.microsoft.com/office/drawing/2014/main" id="{8AB17F11-BAAF-4E78-9C4A-4AB8D953C835}"/>
              </a:ext>
            </a:extLst>
          </p:cNvPr>
          <p:cNvPicPr>
            <a:picLocks noChangeAspect="1"/>
          </p:cNvPicPr>
          <p:nvPr/>
        </p:nvPicPr>
        <p:blipFill>
          <a:blip r:embed="rId3"/>
          <a:stretch>
            <a:fillRect/>
          </a:stretch>
        </p:blipFill>
        <p:spPr>
          <a:xfrm>
            <a:off x="3424987" y="1481369"/>
            <a:ext cx="4868779" cy="4500331"/>
          </a:xfrm>
          <a:prstGeom prst="rect">
            <a:avLst/>
          </a:prstGeom>
        </p:spPr>
      </p:pic>
      <p:sp>
        <p:nvSpPr>
          <p:cNvPr id="4" name="Up Arrow 3">
            <a:extLst>
              <a:ext uri="{FF2B5EF4-FFF2-40B4-BE49-F238E27FC236}">
                <a16:creationId xmlns:a16="http://schemas.microsoft.com/office/drawing/2014/main" id="{0807A184-CEA7-F46D-9550-5A50F315FB44}"/>
              </a:ext>
            </a:extLst>
          </p:cNvPr>
          <p:cNvSpPr/>
          <p:nvPr/>
        </p:nvSpPr>
        <p:spPr>
          <a:xfrm>
            <a:off x="4214356" y="2525497"/>
            <a:ext cx="315813" cy="421084"/>
          </a:xfrm>
          <a:prstGeom prst="upArrow">
            <a:avLst/>
          </a:prstGeom>
          <a:solidFill>
            <a:srgbClr val="009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73C42AF-8B79-02BD-9203-687ABC7776AC}"/>
              </a:ext>
            </a:extLst>
          </p:cNvPr>
          <p:cNvSpPr txBox="1"/>
          <p:nvPr/>
        </p:nvSpPr>
        <p:spPr>
          <a:xfrm>
            <a:off x="9448802" y="4974056"/>
            <a:ext cx="2136048" cy="707886"/>
          </a:xfrm>
          <a:prstGeom prst="rect">
            <a:avLst/>
          </a:prstGeom>
          <a:noFill/>
          <a:ln w="12700">
            <a:solidFill>
              <a:schemeClr val="accent1"/>
            </a:solidFill>
          </a:ln>
        </p:spPr>
        <p:txBody>
          <a:bodyPr wrap="square" rtlCol="0">
            <a:spAutoFit/>
          </a:bodyPr>
          <a:lstStyle/>
          <a:p>
            <a:pPr marL="171450" indent="-171450">
              <a:buFont typeface="Arial" panose="020B0604020202020204" pitchFamily="34" charset="0"/>
              <a:buChar char="•"/>
            </a:pPr>
            <a:r>
              <a:rPr lang="en-US" sz="2000" kern="0" spc="-30" dirty="0">
                <a:latin typeface="Poppins" pitchFamily="2" charset="77"/>
                <a:cs typeface="Poppins" pitchFamily="2" charset="77"/>
              </a:rPr>
              <a:t>Training Data</a:t>
            </a:r>
          </a:p>
          <a:p>
            <a:pPr marL="171450" indent="-171450">
              <a:buFont typeface="Arial" panose="020B0604020202020204" pitchFamily="34" charset="0"/>
              <a:buChar char="•"/>
            </a:pPr>
            <a:r>
              <a:rPr lang="en-US" sz="2000" kern="0" spc="-30" dirty="0">
                <a:solidFill>
                  <a:srgbClr val="C00000"/>
                </a:solidFill>
                <a:latin typeface="Poppins" pitchFamily="2" charset="77"/>
                <a:cs typeface="Poppins" pitchFamily="2" charset="77"/>
              </a:rPr>
              <a:t>New Situation</a:t>
            </a:r>
          </a:p>
        </p:txBody>
      </p:sp>
      <p:sp>
        <p:nvSpPr>
          <p:cNvPr id="10" name="TextBox 9">
            <a:extLst>
              <a:ext uri="{FF2B5EF4-FFF2-40B4-BE49-F238E27FC236}">
                <a16:creationId xmlns:a16="http://schemas.microsoft.com/office/drawing/2014/main" id="{B6169261-98E8-D1B1-FC6B-D1B2FECF6FD4}"/>
              </a:ext>
            </a:extLst>
          </p:cNvPr>
          <p:cNvSpPr txBox="1"/>
          <p:nvPr/>
        </p:nvSpPr>
        <p:spPr>
          <a:xfrm>
            <a:off x="238539" y="262392"/>
            <a:ext cx="2814762" cy="1200329"/>
          </a:xfrm>
          <a:prstGeom prst="rect">
            <a:avLst/>
          </a:prstGeom>
          <a:noFill/>
        </p:spPr>
        <p:txBody>
          <a:bodyPr wrap="square" rtlCol="0">
            <a:spAutoFit/>
          </a:bodyPr>
          <a:lstStyle/>
          <a:p>
            <a:r>
              <a:rPr lang="en-US" sz="3600" b="1" dirty="0">
                <a:solidFill>
                  <a:schemeClr val="accent2"/>
                </a:solidFill>
                <a:latin typeface="Poppins" pitchFamily="2" charset="77"/>
                <a:cs typeface="Poppins" pitchFamily="2" charset="77"/>
              </a:rPr>
              <a:t>Typical –</a:t>
            </a:r>
          </a:p>
          <a:p>
            <a:r>
              <a:rPr lang="en-US" sz="3600" dirty="0">
                <a:solidFill>
                  <a:schemeClr val="accent2"/>
                </a:solidFill>
                <a:latin typeface="Poppins" pitchFamily="2" charset="77"/>
                <a:cs typeface="Poppins" pitchFamily="2" charset="77"/>
              </a:rPr>
              <a:t>Abnormal</a:t>
            </a:r>
          </a:p>
        </p:txBody>
      </p:sp>
    </p:spTree>
    <p:extLst>
      <p:ext uri="{BB962C8B-B14F-4D97-AF65-F5344CB8AC3E}">
        <p14:creationId xmlns:p14="http://schemas.microsoft.com/office/powerpoint/2010/main" val="8899700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F332C-B538-F8D7-4D9C-B9BFAF9C7265}"/>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B8C865AA-9229-E4ED-4284-27651713982A}"/>
              </a:ext>
            </a:extLst>
          </p:cNvPr>
          <p:cNvGrpSpPr/>
          <p:nvPr/>
        </p:nvGrpSpPr>
        <p:grpSpPr>
          <a:xfrm>
            <a:off x="3196386" y="1347535"/>
            <a:ext cx="5208309" cy="4732423"/>
            <a:chOff x="2057400" y="1047750"/>
            <a:chExt cx="3752850" cy="3409950"/>
          </a:xfrm>
        </p:grpSpPr>
        <p:pic>
          <p:nvPicPr>
            <p:cNvPr id="5" name="Picture 4">
              <a:extLst>
                <a:ext uri="{FF2B5EF4-FFF2-40B4-BE49-F238E27FC236}">
                  <a16:creationId xmlns:a16="http://schemas.microsoft.com/office/drawing/2014/main" id="{F6564CF0-68EE-90C3-C061-DDF1F8CA2C7A}"/>
                </a:ext>
              </a:extLst>
            </p:cNvPr>
            <p:cNvPicPr>
              <a:picLocks noChangeAspect="1"/>
            </p:cNvPicPr>
            <p:nvPr/>
          </p:nvPicPr>
          <p:blipFill>
            <a:blip r:embed="rId2"/>
            <a:stretch>
              <a:fillRect/>
            </a:stretch>
          </p:blipFill>
          <p:spPr>
            <a:xfrm>
              <a:off x="2057400" y="1047750"/>
              <a:ext cx="3752850" cy="3409950"/>
            </a:xfrm>
            <a:prstGeom prst="rect">
              <a:avLst/>
            </a:prstGeom>
          </p:spPr>
        </p:pic>
        <p:sp>
          <p:nvSpPr>
            <p:cNvPr id="6" name="Up Arrow 5">
              <a:extLst>
                <a:ext uri="{FF2B5EF4-FFF2-40B4-BE49-F238E27FC236}">
                  <a16:creationId xmlns:a16="http://schemas.microsoft.com/office/drawing/2014/main" id="{5DD3C36E-6A2C-BBE8-32DD-A2558EF25315}"/>
                </a:ext>
              </a:extLst>
            </p:cNvPr>
            <p:cNvSpPr/>
            <p:nvPr/>
          </p:nvSpPr>
          <p:spPr>
            <a:xfrm>
              <a:off x="3092817" y="2760000"/>
              <a:ext cx="228600" cy="304800"/>
            </a:xfrm>
            <a:prstGeom prst="upArrow">
              <a:avLst/>
            </a:prstGeom>
            <a:solidFill>
              <a:srgbClr val="009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pic>
        <p:nvPicPr>
          <p:cNvPr id="16" name="Picture 15">
            <a:extLst>
              <a:ext uri="{FF2B5EF4-FFF2-40B4-BE49-F238E27FC236}">
                <a16:creationId xmlns:a16="http://schemas.microsoft.com/office/drawing/2014/main" id="{12FA024E-7DD2-013B-60AF-969A32B2ACFE}"/>
              </a:ext>
            </a:extLst>
          </p:cNvPr>
          <p:cNvPicPr>
            <a:picLocks noChangeAspect="1"/>
          </p:cNvPicPr>
          <p:nvPr/>
        </p:nvPicPr>
        <p:blipFill>
          <a:blip r:embed="rId3"/>
          <a:stretch>
            <a:fillRect/>
          </a:stretch>
        </p:blipFill>
        <p:spPr>
          <a:xfrm>
            <a:off x="2862845" y="825072"/>
            <a:ext cx="6618037" cy="5252881"/>
          </a:xfrm>
          <a:prstGeom prst="rect">
            <a:avLst/>
          </a:prstGeom>
        </p:spPr>
      </p:pic>
      <p:sp>
        <p:nvSpPr>
          <p:cNvPr id="9" name="TextBox 8">
            <a:extLst>
              <a:ext uri="{FF2B5EF4-FFF2-40B4-BE49-F238E27FC236}">
                <a16:creationId xmlns:a16="http://schemas.microsoft.com/office/drawing/2014/main" id="{3A3A506F-20D8-A7CA-DB9F-5D249799D226}"/>
              </a:ext>
            </a:extLst>
          </p:cNvPr>
          <p:cNvSpPr txBox="1"/>
          <p:nvPr/>
        </p:nvSpPr>
        <p:spPr>
          <a:xfrm>
            <a:off x="9448802" y="4974056"/>
            <a:ext cx="2136048" cy="707886"/>
          </a:xfrm>
          <a:prstGeom prst="rect">
            <a:avLst/>
          </a:prstGeom>
          <a:noFill/>
          <a:ln w="12700">
            <a:solidFill>
              <a:schemeClr val="accent1"/>
            </a:solidFill>
          </a:ln>
        </p:spPr>
        <p:txBody>
          <a:bodyPr wrap="square" rtlCol="0">
            <a:spAutoFit/>
          </a:bodyPr>
          <a:lstStyle/>
          <a:p>
            <a:pPr marL="171450" indent="-171450">
              <a:buFont typeface="Arial" panose="020B0604020202020204" pitchFamily="34" charset="0"/>
              <a:buChar char="•"/>
            </a:pPr>
            <a:r>
              <a:rPr lang="en-US" sz="2000" kern="0" spc="-30" dirty="0">
                <a:latin typeface="Poppins" pitchFamily="2" charset="77"/>
                <a:cs typeface="Poppins" pitchFamily="2" charset="77"/>
              </a:rPr>
              <a:t>Training Data</a:t>
            </a:r>
          </a:p>
          <a:p>
            <a:pPr marL="171450" indent="-171450">
              <a:buFont typeface="Arial" panose="020B0604020202020204" pitchFamily="34" charset="0"/>
              <a:buChar char="•"/>
            </a:pPr>
            <a:r>
              <a:rPr lang="en-US" sz="2000" kern="0" spc="-30" dirty="0">
                <a:solidFill>
                  <a:srgbClr val="C00000"/>
                </a:solidFill>
                <a:latin typeface="Poppins" pitchFamily="2" charset="77"/>
                <a:cs typeface="Poppins" pitchFamily="2" charset="77"/>
              </a:rPr>
              <a:t>New Situation</a:t>
            </a:r>
          </a:p>
        </p:txBody>
      </p:sp>
      <p:sp>
        <p:nvSpPr>
          <p:cNvPr id="11" name="TextBox 10">
            <a:extLst>
              <a:ext uri="{FF2B5EF4-FFF2-40B4-BE49-F238E27FC236}">
                <a16:creationId xmlns:a16="http://schemas.microsoft.com/office/drawing/2014/main" id="{3968BDA6-C862-0CD2-B645-8C5E49D5EDDF}"/>
              </a:ext>
            </a:extLst>
          </p:cNvPr>
          <p:cNvSpPr txBox="1"/>
          <p:nvPr/>
        </p:nvSpPr>
        <p:spPr>
          <a:xfrm>
            <a:off x="238539" y="262392"/>
            <a:ext cx="2814762" cy="646331"/>
          </a:xfrm>
          <a:prstGeom prst="rect">
            <a:avLst/>
          </a:prstGeom>
          <a:noFill/>
        </p:spPr>
        <p:txBody>
          <a:bodyPr wrap="square" rtlCol="0">
            <a:spAutoFit/>
          </a:bodyPr>
          <a:lstStyle/>
          <a:p>
            <a:r>
              <a:rPr lang="en-US" sz="3600" b="1" dirty="0">
                <a:solidFill>
                  <a:schemeClr val="accent2"/>
                </a:solidFill>
                <a:latin typeface="Poppins" pitchFamily="2" charset="77"/>
                <a:cs typeface="Poppins" pitchFamily="2" charset="77"/>
              </a:rPr>
              <a:t>Atypical</a:t>
            </a:r>
            <a:endParaRPr lang="en-US" sz="3600" dirty="0">
              <a:solidFill>
                <a:schemeClr val="accent2"/>
              </a:solidFill>
              <a:latin typeface="Poppins" pitchFamily="2" charset="77"/>
              <a:cs typeface="Poppins" pitchFamily="2" charset="77"/>
            </a:endParaRPr>
          </a:p>
        </p:txBody>
      </p:sp>
    </p:spTree>
    <p:extLst>
      <p:ext uri="{BB962C8B-B14F-4D97-AF65-F5344CB8AC3E}">
        <p14:creationId xmlns:p14="http://schemas.microsoft.com/office/powerpoint/2010/main" val="5432298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E8FE7-3DFA-1867-049B-2A2C703C1344}"/>
              </a:ext>
            </a:extLst>
          </p:cNvPr>
          <p:cNvSpPr>
            <a:spLocks noGrp="1"/>
          </p:cNvSpPr>
          <p:nvPr>
            <p:ph type="title"/>
          </p:nvPr>
        </p:nvSpPr>
        <p:spPr/>
        <p:txBody>
          <a:bodyPr/>
          <a:lstStyle/>
          <a:p>
            <a:r>
              <a:rPr lang="en-US" b="1" dirty="0"/>
              <a:t>Precision and Recall</a:t>
            </a:r>
          </a:p>
        </p:txBody>
      </p:sp>
      <p:sp>
        <p:nvSpPr>
          <p:cNvPr id="3" name="Content Placeholder 2">
            <a:extLst>
              <a:ext uri="{FF2B5EF4-FFF2-40B4-BE49-F238E27FC236}">
                <a16:creationId xmlns:a16="http://schemas.microsoft.com/office/drawing/2014/main" id="{2C0864F3-C2EA-E673-7915-75A7C1429F49}"/>
              </a:ext>
            </a:extLst>
          </p:cNvPr>
          <p:cNvSpPr>
            <a:spLocks noGrp="1"/>
          </p:cNvSpPr>
          <p:nvPr>
            <p:ph idx="1"/>
          </p:nvPr>
        </p:nvSpPr>
        <p:spPr/>
        <p:txBody>
          <a:bodyPr/>
          <a:lstStyle/>
          <a:p>
            <a:r>
              <a:rPr lang="en-CA" dirty="0"/>
              <a:t>Accuracy is the number of correctly classified items divided by the total number of items</a:t>
            </a:r>
          </a:p>
          <a:p>
            <a:r>
              <a:rPr lang="en-CA" dirty="0"/>
              <a:t>When one outcome is far more common than the other, precision and recall are better than accuracy to measure model performance</a:t>
            </a:r>
          </a:p>
          <a:p>
            <a:r>
              <a:rPr lang="en-CA" dirty="0"/>
              <a:t>Precision is the number of items correctly classified into a category, divided by the total number of items classified into in the category</a:t>
            </a:r>
          </a:p>
          <a:p>
            <a:r>
              <a:rPr lang="en-CA" dirty="0"/>
              <a:t>Recall is the number of items correctly classified into a category divided by the total in the category</a:t>
            </a:r>
          </a:p>
        </p:txBody>
      </p:sp>
    </p:spTree>
    <p:extLst>
      <p:ext uri="{BB962C8B-B14F-4D97-AF65-F5344CB8AC3E}">
        <p14:creationId xmlns:p14="http://schemas.microsoft.com/office/powerpoint/2010/main" val="33042210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3EFC23D5-2A22-8919-CB68-75688C1502A2}"/>
              </a:ext>
            </a:extLst>
          </p:cNvPr>
          <p:cNvSpPr txBox="1"/>
          <p:nvPr/>
        </p:nvSpPr>
        <p:spPr>
          <a:xfrm>
            <a:off x="4572000" y="850230"/>
            <a:ext cx="6464968" cy="369332"/>
          </a:xfrm>
          <a:prstGeom prst="rect">
            <a:avLst/>
          </a:prstGeom>
          <a:noFill/>
        </p:spPr>
        <p:txBody>
          <a:bodyPr wrap="square" rtlCol="0">
            <a:spAutoFit/>
          </a:bodyPr>
          <a:lstStyle/>
          <a:p>
            <a:pPr algn="ctr"/>
            <a:r>
              <a:rPr lang="en-US" b="1" dirty="0">
                <a:solidFill>
                  <a:schemeClr val="accent1"/>
                </a:solidFill>
                <a:latin typeface="Poppins" pitchFamily="2" charset="77"/>
                <a:cs typeface="Poppins" pitchFamily="2" charset="77"/>
              </a:rPr>
              <a:t>Classification at Different Thresholds</a:t>
            </a:r>
          </a:p>
        </p:txBody>
      </p:sp>
      <p:pic>
        <p:nvPicPr>
          <p:cNvPr id="24" name="Picture 23" descr="slide58_precision_recall.png"/>
          <p:cNvPicPr>
            <a:picLocks noChangeAspect="1"/>
          </p:cNvPicPr>
          <p:nvPr/>
        </p:nvPicPr>
        <p:blipFill>
          <a:blip r:embed="rId3"/>
          <a:stretch>
            <a:fillRect/>
          </a:stretch>
        </p:blipFill>
        <p:spPr>
          <a:xfrm>
            <a:off x="4347843" y="1506917"/>
            <a:ext cx="6472874" cy="4533598"/>
          </a:xfrm>
          <a:prstGeom prst="rect">
            <a:avLst/>
          </a:prstGeom>
        </p:spPr>
      </p:pic>
      <p:sp>
        <p:nvSpPr>
          <p:cNvPr id="20" name="Title 19">
            <a:extLst>
              <a:ext uri="{FF2B5EF4-FFF2-40B4-BE49-F238E27FC236}">
                <a16:creationId xmlns:a16="http://schemas.microsoft.com/office/drawing/2014/main" id="{7B806D70-34A2-BC41-5E6E-7E2960FF5511}"/>
              </a:ext>
            </a:extLst>
          </p:cNvPr>
          <p:cNvSpPr>
            <a:spLocks noGrp="1"/>
          </p:cNvSpPr>
          <p:nvPr>
            <p:ph type="title"/>
          </p:nvPr>
        </p:nvSpPr>
        <p:spPr/>
        <p:txBody>
          <a:bodyPr/>
          <a:lstStyle/>
          <a:p>
            <a:r>
              <a:rPr lang="en-US" b="1" dirty="0"/>
              <a:t>Precision </a:t>
            </a:r>
            <a:br>
              <a:rPr lang="en-US" b="1" dirty="0"/>
            </a:br>
            <a:r>
              <a:rPr lang="en-US" b="1" dirty="0"/>
              <a:t>vs Recall Trade-off</a:t>
            </a:r>
          </a:p>
        </p:txBody>
      </p:sp>
    </p:spTree>
    <p:extLst>
      <p:ext uri="{BB962C8B-B14F-4D97-AF65-F5344CB8AC3E}">
        <p14:creationId xmlns:p14="http://schemas.microsoft.com/office/powerpoint/2010/main" val="1763243676"/>
      </p:ext>
    </p:extLst>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Calibration: Is 30% Really 30%?</a:t>
            </a:r>
          </a:p>
        </p:txBody>
      </p:sp>
      <p:sp>
        <p:nvSpPr>
          <p:cNvPr id="3" name="Content Placeholder 2"/>
          <p:cNvSpPr>
            <a:spLocks noGrp="1"/>
          </p:cNvSpPr>
          <p:nvPr>
            <p:ph idx="1"/>
          </p:nvPr>
        </p:nvSpPr>
        <p:spPr/>
        <p:txBody>
          <a:bodyPr/>
          <a:lstStyle/>
          <a:p>
            <a:pPr/>
            <a:r>
              <a:t>Discrimination asks whether the model ranks patients in the right order. That is what AUC measures.</a:t>
            </a:r>
          </a:p>
          <a:p>
            <a:pPr/>
            <a:r>
              <a:t>Calibration asks something different: when the model says 30%, does the event happen about 30% of the time?</a:t>
            </a:r>
          </a:p>
          <a:p>
            <a:pPr/>
            <a:r>
              <a:t>A model can rank perfectly and still be badly calibrated.</a:t>
            </a:r>
          </a:p>
          <a:p>
            <a:pPr/>
            <a:r>
              <a:t>This matters because clinicians act on thresholds. If the numbers are wrong, the threshold is wrong.</a:t>
            </a:r>
          </a:p>
          <a:p>
            <a:pPr/>
            <a:r>
              <a:t>Check it with a calibration plot: predicted risk against observed rate, compared with the diagonal.</a:t>
            </a:r>
          </a:p>
          <a:p>
            <a:pPr/>
            <a:r>
              <a:t>Calibration usually degrades when a model moves to a new site, a new case mix, or a later year.</a:t>
            </a:r>
          </a:p>
          <a:p>
            <a:pPr lvl="1"/>
            <a:r>
              <a:t>Recalibration is often enough to fix it, and is far cheaper than retraining.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Counts as Validation</a:t>
            </a:r>
          </a:p>
        </p:txBody>
      </p:sp>
      <p:sp>
        <p:nvSpPr>
          <p:cNvPr id="3" name="Content Placeholder 2"/>
          <p:cNvSpPr>
            <a:spLocks noGrp="1"/>
          </p:cNvSpPr>
          <p:nvPr>
            <p:ph idx="1"/>
          </p:nvPr>
        </p:nvSpPr>
        <p:spPr/>
        <p:txBody>
          <a:bodyPr/>
          <a:lstStyle/>
          <a:p>
            <a:pPr/>
            <a:r>
              <a:t>Internal validation: held-out data from the same source. The weakest claim, and the most commonly reported.</a:t>
            </a:r>
          </a:p>
          <a:p>
            <a:pPr/>
            <a:r>
              <a:t>External validation: a different hospital, population or era. This is where most published models fail.</a:t>
            </a:r>
          </a:p>
          <a:p>
            <a:pPr/>
            <a:r>
              <a:t>Prospective validation: run silently alongside usual care and compare. The first real test.</a:t>
            </a:r>
          </a:p>
          <a:p>
            <a:pPr/>
            <a:r>
              <a:t>Impact study: does using it change outcomes? Rarely done, and the only question that ultimately matters.</a:t>
            </a:r>
          </a:p>
          <a:p>
            <a:pPr/>
            <a:r>
              <a:t>Split by patient, never by row. The same patient on both sides inflates every number you report.</a:t>
            </a:r>
          </a:p>
          <a:p>
            <a:pPr/>
            <a:r>
              <a:t>TRIPOD+AI (2024) sets out what a clinical prediction model should report. Use it as a checklist when reading a paper or a vendor claim.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Equity: Who Does the Model Fail?</a:t>
            </a:r>
          </a:p>
        </p:txBody>
      </p:sp>
      <p:sp>
        <p:nvSpPr>
          <p:cNvPr id="3" name="Content Placeholder 2"/>
          <p:cNvSpPr>
            <a:spLocks noGrp="1"/>
          </p:cNvSpPr>
          <p:nvPr>
            <p:ph idx="1"/>
          </p:nvPr>
        </p:nvSpPr>
        <p:spPr/>
        <p:txBody>
          <a:bodyPr/>
          <a:lstStyle/>
          <a:p>
            <a:pPr/>
            <a:r>
              <a:t>A model trained on historical care learns historical inequity alongside clinical signal.</a:t>
            </a:r>
          </a:p>
          <a:p>
            <a:pPr/>
            <a:r>
              <a:t>Obermeyer and colleagues (Science, 2019) examined a widely used US population-health algorithm:</a:t>
            </a:r>
          </a:p>
          <a:p>
            <a:pPr lvl="1"/>
            <a:r>
              <a:t>It used past healthcare cost as a proxy for health need</a:t>
            </a:r>
          </a:p>
          <a:p>
            <a:pPr lvl="1"/>
            <a:r>
              <a:t>Less had historically been spent on Black patients at the same level of illness</a:t>
            </a:r>
          </a:p>
          <a:p>
            <a:pPr lvl="1"/>
            <a:r>
              <a:t>So those patients had to be sicker to reach the same risk score</a:t>
            </a:r>
          </a:p>
          <a:p>
            <a:pPr/>
            <a:r>
              <a:t>The algorithm was never given race. The proxy carried it.</a:t>
            </a:r>
          </a:p>
          <a:p>
            <a:pPr/>
            <a:r>
              <a:t>Changing the target to a direct measure of illness substantially increased the proportion of Black patients identified for extra care.</a:t>
            </a:r>
          </a:p>
          <a:p>
            <a:pPr/>
            <a:r>
              <a:t>Report performance separately by age, sex, ethnicity, language and deprivation, before deployment and after.</a:t>
            </a:r>
          </a:p>
          <a:p>
            <a:pPr/>
            <a:r>
              <a:t>Ask what the label actually measures. Cost, referral and coded diagnosis are decisions, not conditions.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Cautionary Case</a:t>
            </a:r>
          </a:p>
        </p:txBody>
      </p:sp>
      <p:sp>
        <p:nvSpPr>
          <p:cNvPr id="3" name="Content Placeholder 2"/>
          <p:cNvSpPr>
            <a:spLocks noGrp="1"/>
          </p:cNvSpPr>
          <p:nvPr>
            <p:ph idx="1"/>
          </p:nvPr>
        </p:nvSpPr>
        <p:spPr/>
        <p:txBody>
          <a:bodyPr/>
          <a:lstStyle/>
          <a:p>
            <a:pPr/>
            <a:r>
              <a:t>A widely deployed proprietary sepsis prediction model was independently validated at an academic health system (Wong et al., JAMA Internal Medicine, 2021).</a:t>
            </a:r>
          </a:p>
          <a:p>
            <a:pPr/>
            <a:r>
              <a:t>Measured discrimination was substantially below the figures the vendor had reported.</a:t>
            </a:r>
          </a:p>
          <a:p>
            <a:pPr/>
            <a:r>
              <a:t>It missed a large share of sepsis cases, while generating alerts on a substantial fraction of all admissions.</a:t>
            </a:r>
          </a:p>
          <a:p>
            <a:pPr/>
            <a:r>
              <a:t>Two failures compounding: the model underperformed, and the alert burden made the output hard to act on.</a:t>
            </a:r>
          </a:p>
          <a:p>
            <a:pPr/>
            <a:r>
              <a:t>It had been in wide clinical use before this independent evaluation was published.</a:t>
            </a:r>
          </a:p>
          <a:p>
            <a:pPr/>
          </a:p>
          <a:p>
            <a:pPr/>
            <a:r>
              <a:t>The lesson is not that the technique is flawed. It is that a vendor's performance figures are not evidence of performance in your hospital.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Session 2 — What to Take Away</a:t>
            </a:r>
          </a:p>
        </p:txBody>
      </p:sp>
      <p:sp>
        <p:nvSpPr>
          <p:cNvPr id="3" name="Content Placeholder 2"/>
          <p:cNvSpPr>
            <a:spLocks noGrp="1"/>
          </p:cNvSpPr>
          <p:nvPr>
            <p:ph idx="1"/>
          </p:nvPr>
        </p:nvSpPr>
        <p:spPr/>
        <p:txBody>
          <a:bodyPr/>
          <a:lstStyle/>
          <a:p>
            <a:pPr/>
            <a:r>
              <a:t>Tree ensembles remain the workhorse for tabular clinical data. Start there.</a:t>
            </a:r>
          </a:p>
          <a:p>
            <a:pPr/>
            <a:r>
              <a:t>Interpretability and accuracy trade off. Choose deliberately, and bring SHAP if you give up readability.</a:t>
            </a:r>
          </a:p>
          <a:p>
            <a:pPr/>
            <a:r>
              <a:t>Accuracy misleads whenever the outcome is rare. Use precision, recall and calibration together.</a:t>
            </a:r>
          </a:p>
          <a:p>
            <a:pPr/>
            <a:r>
              <a:t>The validation that counts is the one done somewhere else, prospectively.</a:t>
            </a:r>
          </a:p>
          <a:p>
            <a:pPr/>
            <a:r>
              <a:t>Check who the model fails, not only how often it fails.</a:t>
            </a:r>
          </a:p>
          <a:p>
            <a:pPr/>
            <a:r>
              <a:t>Most of the work is in the data, and most of the risk is in the label.</a:t>
            </a:r>
          </a:p>
          <a:p>
            <a:pPr/>
          </a:p>
          <a:p>
            <a:pPr/>
            <a:r>
              <a:t>Next session: deep learning, large language models, and what deployment actually demands.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D6436-EA90-A59E-517F-4DB0E96400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825FF3-299B-E3B9-E257-2FEA6B5CF995}"/>
              </a:ext>
            </a:extLst>
          </p:cNvPr>
          <p:cNvSpPr>
            <a:spLocks noGrp="1"/>
          </p:cNvSpPr>
          <p:nvPr>
            <p:ph type="title"/>
          </p:nvPr>
        </p:nvSpPr>
        <p:spPr/>
        <p:txBody>
          <a:bodyPr/>
          <a:lstStyle/>
          <a:p>
            <a:r>
              <a:rPr lang="en-US" sz="3200" b="1" dirty="0"/>
              <a:t>Questions?</a:t>
            </a:r>
          </a:p>
        </p:txBody>
      </p:sp>
      <p:pic>
        <p:nvPicPr>
          <p:cNvPr id="3" name="Picture 2">
            <a:extLst>
              <a:ext uri="{FF2B5EF4-FFF2-40B4-BE49-F238E27FC236}">
                <a16:creationId xmlns:a16="http://schemas.microsoft.com/office/drawing/2014/main" id="{5BE779F4-E0F1-5BC6-2417-93E6D6C2C83C}"/>
              </a:ext>
            </a:extLst>
          </p:cNvPr>
          <p:cNvPicPr>
            <a:picLocks noChangeAspect="1"/>
          </p:cNvPicPr>
          <p:nvPr/>
        </p:nvPicPr>
        <p:blipFill>
          <a:blip r:embed="rId2"/>
          <a:stretch>
            <a:fillRect/>
          </a:stretch>
        </p:blipFill>
        <p:spPr>
          <a:xfrm>
            <a:off x="5153919" y="759103"/>
            <a:ext cx="5117422" cy="5330650"/>
          </a:xfrm>
          <a:prstGeom prst="rect">
            <a:avLst/>
          </a:prstGeom>
        </p:spPr>
      </p:pic>
    </p:spTree>
    <p:extLst>
      <p:ext uri="{BB962C8B-B14F-4D97-AF65-F5344CB8AC3E}">
        <p14:creationId xmlns:p14="http://schemas.microsoft.com/office/powerpoint/2010/main" val="2997766625"/>
      </p:ext>
    </p:extLst>
  </p:cSld>
  <p:clrMapOvr>
    <a:masterClrMapping/>
  </p:clrMapOvr>
</p:sld>
</file>

<file path=ppt/theme/theme1.xml><?xml version="1.0" encoding="utf-8"?>
<a:theme xmlns:a="http://schemas.openxmlformats.org/drawingml/2006/main" name="Healthcare Neutral">
  <a:themeElements>
    <a:clrScheme name="Healthcare Neutral">
      <a:dk1>
        <a:srgbClr val="1A1D1F"/>
      </a:dk1>
      <a:lt1>
        <a:srgbClr val="FFFFFF"/>
      </a:lt1>
      <a:dk2>
        <a:srgbClr val="3B4650"/>
      </a:dk2>
      <a:lt2>
        <a:srgbClr val="EDF1F2"/>
      </a:lt2>
      <a:accent1>
        <a:srgbClr val="2E6E80"/>
      </a:accent1>
      <a:accent2>
        <a:srgbClr val="C0603C"/>
      </a:accent2>
      <a:accent3>
        <a:srgbClr val="5C8A6B"/>
      </a:accent3>
      <a:accent4>
        <a:srgbClr val="86739E"/>
      </a:accent4>
      <a:accent5>
        <a:srgbClr val="D2A044"/>
      </a:accent5>
      <a:accent6>
        <a:srgbClr val="6C7A85"/>
      </a:accent6>
      <a:hlink>
        <a:srgbClr val="2E6E80"/>
      </a:hlink>
      <a:folHlink>
        <a:srgbClr val="6C5B87"/>
      </a:folHlink>
    </a:clrScheme>
    <a:fontScheme name="Healthcare Neutral">
      <a:majorFont>
        <a:latin typeface="Calibri Light"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13110</TotalTime>
  <Words>3138</Words>
  <Application>Microsoft Macintosh PowerPoint</Application>
  <PresentationFormat>Widescreen</PresentationFormat>
  <Paragraphs>609</Paragraphs>
  <Slides>96</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96</vt:i4>
      </vt:variant>
    </vt:vector>
  </HeadingPairs>
  <TitlesOfParts>
    <vt:vector size="104" baseType="lpstr">
      <vt:lpstr>Aptos</vt:lpstr>
      <vt:lpstr>Arial</vt:lpstr>
      <vt:lpstr>Corbel</vt:lpstr>
      <vt:lpstr>Courier New</vt:lpstr>
      <vt:lpstr>Poppins</vt:lpstr>
      <vt:lpstr>Poppins Medium</vt:lpstr>
      <vt:lpstr>Wingdings 2</vt:lpstr>
      <vt:lpstr>Frame</vt:lpstr>
      <vt:lpstr>PowerPoint Presentation</vt:lpstr>
      <vt:lpstr>Overview of AI and Related Technologies</vt:lpstr>
      <vt:lpstr>Goal</vt:lpstr>
      <vt:lpstr>PowerPoint Presentation</vt:lpstr>
      <vt:lpstr>PowerPoint Presentation</vt:lpstr>
      <vt:lpstr>PowerPoint Presentation</vt:lpstr>
      <vt:lpstr>PowerPoint Presentation</vt:lpstr>
      <vt:lpstr>Traditional Information Technology</vt:lpstr>
      <vt:lpstr>PowerPoint Presentation</vt:lpstr>
      <vt:lpstr>PowerPoint Presentation</vt:lpstr>
      <vt:lpstr>PowerPoint Presentation</vt:lpstr>
      <vt:lpstr>Limits of Traditional Information Technology</vt:lpstr>
      <vt:lpstr>PowerPoint Presentation</vt:lpstr>
      <vt:lpstr>Foundations of Machine Learning</vt:lpstr>
      <vt:lpstr>Data – Common Crawl  https://commoncrawl.org/ </vt:lpstr>
      <vt:lpstr>Compute – Graphical Processing Unit (GPU) </vt:lpstr>
      <vt:lpstr>Foundations of Machine Learning – ex. Large Language Model</vt:lpstr>
      <vt:lpstr>PowerPoint Presentation</vt:lpstr>
      <vt:lpstr>PowerPoint Presentation</vt:lpstr>
      <vt:lpstr>PowerPoint Presentation</vt:lpstr>
      <vt:lpstr>PowerPoint Presentation</vt:lpstr>
      <vt:lpstr>PowerPoint Presentation</vt:lpstr>
      <vt:lpstr>Training</vt:lpstr>
      <vt:lpstr>Optimization – Reduce  the Loss</vt:lpstr>
      <vt:lpstr>Complex Cost Functions</vt:lpstr>
      <vt:lpstr>PowerPoint Presentation</vt:lpstr>
      <vt:lpstr>PowerPoint Presentation</vt:lpstr>
      <vt:lpstr>PowerPoint Presentation</vt:lpstr>
      <vt:lpstr>Deep Learning</vt:lpstr>
      <vt:lpstr>PowerPoint Presentation</vt:lpstr>
      <vt:lpstr>PowerPoint Presentation</vt:lpstr>
      <vt:lpstr>Types of Machine Learning</vt:lpstr>
      <vt:lpstr>Linear Regression</vt:lpstr>
      <vt:lpstr>PowerPoint Presentation</vt:lpstr>
      <vt:lpstr>PowerPoint Presentation</vt:lpstr>
      <vt:lpstr>PowerPoint Presentation</vt:lpstr>
      <vt:lpstr>Random Forest  (of Decision Trees)</vt:lpstr>
      <vt:lpstr>Gradient Boosting</vt:lpstr>
      <vt:lpstr>PowerPoint Presentation</vt:lpstr>
      <vt:lpstr>Improvement in Accuracy</vt:lpstr>
      <vt:lpstr>K-Nearest Neighbours (KNN)</vt:lpstr>
      <vt:lpstr>Support Vector Machines (SVM)</vt:lpstr>
      <vt:lpstr>Principal Component Analysis</vt:lpstr>
      <vt:lpstr>Questions?</vt:lpstr>
      <vt:lpstr>PowerPoint Presentation</vt:lpstr>
      <vt:lpstr>PowerPoint Presentation</vt:lpstr>
      <vt:lpstr>PowerPoint Presentation</vt:lpstr>
      <vt:lpstr>PowerPoint Presentation</vt:lpstr>
      <vt:lpstr>Overfitting vs Underfitting</vt:lpstr>
      <vt:lpstr>Regularization</vt:lpstr>
      <vt:lpstr>Quality Data</vt:lpstr>
      <vt:lpstr>Data Availability</vt:lpstr>
      <vt:lpstr>Data Pipelines</vt:lpstr>
      <vt:lpstr>PowerPoint Presentation</vt:lpstr>
      <vt:lpstr>Analytic Data Model</vt:lpstr>
      <vt:lpstr>Entity  and Event Profiles</vt:lpstr>
      <vt:lpstr>Precision and Recall</vt:lpstr>
      <vt:lpstr>Precision  vs Recall Trade-off</vt:lpstr>
      <vt:lpstr>PowerPoint Presentation</vt:lpstr>
      <vt:lpstr>PowerPoint Presentation</vt:lpstr>
      <vt:lpstr>PowerPoint Presentation</vt:lpstr>
      <vt:lpstr>Bias (inaccuracy)</vt:lpstr>
      <vt:lpstr>Variance</vt:lpstr>
      <vt:lpstr>Bias vs Variance Tradeoff for Optimal Performance</vt:lpstr>
      <vt:lpstr>Drift</vt:lpstr>
      <vt:lpstr>AIS (Automatic Identification System)</vt:lpstr>
      <vt:lpstr>Classical Machine Learning  - Extreme Gradient Boosting</vt:lpstr>
      <vt:lpstr>Deep Learning</vt:lpstr>
      <vt:lpstr>Explainability</vt:lpstr>
      <vt:lpstr>PowerPoint Presentation</vt:lpstr>
      <vt:lpstr>Convolutional Neural Networks (CNN)</vt:lpstr>
      <vt:lpstr>Convolutional Neural Networks (CNN)</vt:lpstr>
      <vt:lpstr>Recurrent Neural Networks (RNN)</vt:lpstr>
      <vt:lpstr>Long  Short-Term Memory Networks (LSTMs)</vt:lpstr>
      <vt:lpstr>Auto-Encoders</vt:lpstr>
      <vt:lpstr>Large Language Models</vt:lpstr>
      <vt:lpstr>PowerPoint Presentation</vt:lpstr>
      <vt:lpstr>PowerPoint Presentation</vt:lpstr>
      <vt:lpstr>Word Embeddings</vt:lpstr>
      <vt:lpstr>Simple Word Embedding</vt:lpstr>
      <vt:lpstr>PowerPoint Presentation</vt:lpstr>
      <vt:lpstr>PowerPoint Presentation</vt:lpstr>
      <vt:lpstr>LLM – Predicting the next most probable word (token)</vt:lpstr>
      <vt:lpstr>PowerPoint Presentation</vt:lpstr>
      <vt:lpstr>PowerPoint Presentation</vt:lpstr>
      <vt:lpstr>Self Attention</vt:lpstr>
      <vt:lpstr>Multiple Layers of Transformers</vt:lpstr>
      <vt:lpstr>Larger Models  are more accurate </vt:lpstr>
      <vt:lpstr>Deep Learning –  Faster Training using a GPU</vt:lpstr>
      <vt:lpstr>Gemma3 on  4 GPU node</vt:lpstr>
      <vt:lpstr>Customizing Responses</vt:lpstr>
      <vt:lpstr>Large Language Models</vt:lpstr>
      <vt:lpstr>Change Management</vt:lpstr>
      <vt:lpstr>Comparison of Classical Machine Learning and Deep Learning</vt:lpstr>
      <vt:lpstr>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Fundamentals for Healthcare — Session 2: Classical Machine Learning</dc:title>
  <dc:creator>Randy Giffen</dc:creator>
  <cp:lastModifiedBy>Randy Giffen</cp:lastModifiedBy>
  <cp:revision>23</cp:revision>
  <dcterms:created xsi:type="dcterms:W3CDTF">2025-06-12T12:34:10Z</dcterms:created>
  <dcterms:modified xsi:type="dcterms:W3CDTF">2026-03-14T13:17:02Z</dcterms:modified>
  <dc:subject>Machine learning and AI for clinical and health-system professionals</dc:subject>
  <cp:keywords/>
  <cp:category/>
  <dc:description/>
</cp:coreProperties>
</file>